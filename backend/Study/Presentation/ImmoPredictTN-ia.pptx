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1" r:id="rId18"/>
    <p:sldId id="263" r:id="rId19"/>
    <p:sldId id="264" r:id="rId20"/>
    <p:sldId id="266" r:id="rId21"/>
    <p:sldId id="267" r:id="rId22"/>
    <p:sldId id="269" r:id="rId23"/>
  </p:sldIdLst>
  <p:sldSz cx="16256000" cy="9144000"/>
  <p:notesSz cx="9144000" cy="16256000"/>
  <p:embeddedFontLst>
    <p:embeddedFont>
      <p:font typeface="微软雅黑" panose="020B0503020204020204" pitchFamily="34" charset="-122"/>
      <p:regular r:id="rId25"/>
      <p:bold r:id="rId26"/>
    </p:embeddedFont>
    <p:embeddedFont>
      <p:font typeface="Hedvig Letters Sans" panose="020B0604020202020204" charset="0"/>
      <p:regular r:id="rId27"/>
    </p:embeddedFont>
    <p:embeddedFont>
      <p:font typeface="Liter" panose="020B0604020202020204" charset="0"/>
      <p:regular r:id="rId28"/>
    </p:embeddedFont>
    <p:embeddedFont>
      <p:font typeface="Quattrocento Sans" panose="020F0502020204030204" pitchFamily="34" charset="0"/>
      <p:regular r:id="rId2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65" autoAdjust="0"/>
    <p:restoredTop sz="89689" autoAdjust="0"/>
  </p:normalViewPr>
  <p:slideViewPr>
    <p:cSldViewPr snapToGrid="0" snapToObjects="1">
      <p:cViewPr>
        <p:scale>
          <a:sx n="50" d="100"/>
          <a:sy n="50" d="100"/>
        </p:scale>
        <p:origin x="58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29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"Bonjour à tous. Aujourd'hui je vous présente </a:t>
            </a:r>
            <a:r>
              <a:rPr lang="fr-FR" dirty="0" err="1"/>
              <a:t>ImmoPredictTN</a:t>
            </a:r>
            <a:r>
              <a:rPr lang="fr-FR" dirty="0"/>
              <a:t>, un système d'intelligence artificielle que j'ai développé pour prédire les prix immobiliers en Tunisie. Présenté par Omar Abdallah, groupe G5."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"Le marché immobilier tunisien présente une variabilité extrême : 1200 TND/m² à La Marsa contre 300 TND/m² en banlieue, soit 300% d'écart. </a:t>
            </a:r>
          </a:p>
          <a:p>
            <a:endParaRPr lang="fr-FR" dirty="0"/>
          </a:p>
          <a:p>
            <a:r>
              <a:rPr lang="fr-FR" dirty="0"/>
              <a:t>L'estimation manuelle actuelle est chronophage, subjective et source d'erreurs importantes. </a:t>
            </a:r>
          </a:p>
          <a:p>
            <a:endParaRPr lang="fr-FR" dirty="0"/>
          </a:p>
          <a:p>
            <a:r>
              <a:rPr lang="fr-FR" dirty="0"/>
              <a:t>Mon objectif : développer un système automatisé, rapide et précis pour révolutionner l'évaluation immobilière en Tunisie."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"Voici le </a:t>
            </a:r>
            <a:r>
              <a:rPr lang="fr-FR" dirty="0" err="1"/>
              <a:t>dataset</a:t>
            </a:r>
            <a:r>
              <a:rPr lang="fr-FR" dirty="0"/>
              <a:t> Property_Prices_in_Tunisia.csv : 12 728 biens réels tunisiens, 9 variables.</a:t>
            </a:r>
          </a:p>
          <a:p>
            <a:endParaRPr lang="fr-FR" dirty="0"/>
          </a:p>
          <a:p>
            <a:r>
              <a:rPr lang="fr-FR" dirty="0"/>
              <a:t>Regardez cette table des 5 premières lignes : on voit clairement le problème des 'Terrains et Fermes' avec toutes les </a:t>
            </a:r>
            <a:r>
              <a:rPr lang="fr-FR" dirty="0" err="1"/>
              <a:t>features</a:t>
            </a:r>
            <a:r>
              <a:rPr lang="fr-FR" dirty="0"/>
              <a:t> à -1.0, ce qui représente 14.4% des données.</a:t>
            </a:r>
          </a:p>
          <a:p>
            <a:endParaRPr lang="fr-FR" dirty="0"/>
          </a:p>
          <a:p>
            <a:r>
              <a:rPr lang="fr-FR" dirty="0"/>
              <a:t>9 variables incluant 24 villes et plusieurs régions, parfait pour un modèle localisé."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"Quatre défis majeurs :</a:t>
            </a:r>
          </a:p>
          <a:p>
            <a:r>
              <a:rPr lang="fr-FR" dirty="0"/>
              <a:t>1. 14.4% des terrains inutilisables (1823 lignes)</a:t>
            </a:r>
          </a:p>
          <a:p>
            <a:r>
              <a:rPr lang="fr-FR" dirty="0"/>
              <a:t>2. 2.2% de doublons (245)</a:t>
            </a:r>
          </a:p>
          <a:p>
            <a:r>
              <a:rPr lang="fr-FR" dirty="0"/>
              <a:t>3. Distribution des prix extrêmement asymétrique, </a:t>
            </a:r>
            <a:r>
              <a:rPr lang="fr-FR" dirty="0" err="1"/>
              <a:t>skewness</a:t>
            </a:r>
            <a:r>
              <a:rPr lang="fr-FR" dirty="0"/>
              <a:t>=5.2</a:t>
            </a:r>
          </a:p>
          <a:p>
            <a:r>
              <a:rPr lang="fr-FR" dirty="0"/>
              <a:t>4. 24 villes créant une explosion dimensionnelle </a:t>
            </a:r>
          </a:p>
          <a:p>
            <a:endParaRPr lang="fr-FR" dirty="0"/>
          </a:p>
          <a:p>
            <a:r>
              <a:rPr lang="fr-FR" dirty="0"/>
              <a:t>Ces problèmes nécessitaient un pipeline de prétraitement rigoureux."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"Voici mon pipeline complet : </a:t>
            </a:r>
          </a:p>
          <a:p>
            <a:endParaRPr lang="fr-FR" dirty="0"/>
          </a:p>
          <a:p>
            <a:r>
              <a:rPr lang="fr-FR" dirty="0"/>
              <a:t>12 728 lignes brutes → suppression des 1823 terrains → 245 doublons → IQR pour </a:t>
            </a:r>
            <a:r>
              <a:rPr lang="fr-FR" dirty="0" err="1"/>
              <a:t>outliers</a:t>
            </a:r>
            <a:r>
              <a:rPr lang="fr-FR" dirty="0"/>
              <a:t> → transformation log du prix → </a:t>
            </a:r>
            <a:r>
              <a:rPr lang="fr-FR" dirty="0" err="1"/>
              <a:t>encoding</a:t>
            </a:r>
            <a:r>
              <a:rPr lang="fr-FR" dirty="0"/>
              <a:t> → final 6992 échantillons avec 28 </a:t>
            </a:r>
            <a:r>
              <a:rPr lang="fr-FR" dirty="0" err="1"/>
              <a:t>features</a:t>
            </a:r>
            <a:r>
              <a:rPr lang="fr-FR" dirty="0"/>
              <a:t> optimisées.</a:t>
            </a:r>
          </a:p>
          <a:p>
            <a:endParaRPr lang="fr-FR" dirty="0"/>
          </a:p>
          <a:p>
            <a:r>
              <a:rPr lang="fr-FR" dirty="0"/>
              <a:t>Important : pas d'imputation des -1.0, suppression directe selon les best practices ML."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" y="0"/>
            <a:ext cx="167259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08378" y="0"/>
                </a:moveTo>
                <a:lnTo>
                  <a:pt x="16147622" y="0"/>
                </a:lnTo>
                <a:cubicBezTo>
                  <a:pt x="16207477" y="0"/>
                  <a:pt x="16256000" y="214070"/>
                  <a:pt x="16256000" y="478140"/>
                </a:cubicBezTo>
                <a:lnTo>
                  <a:pt x="16256000" y="8665860"/>
                </a:lnTo>
                <a:cubicBezTo>
                  <a:pt x="16256000" y="8929930"/>
                  <a:pt x="16207477" y="9144000"/>
                  <a:pt x="16147622" y="9144000"/>
                </a:cubicBezTo>
                <a:lnTo>
                  <a:pt x="108378" y="9144000"/>
                </a:lnTo>
                <a:cubicBezTo>
                  <a:pt x="48523" y="9144000"/>
                  <a:pt x="0" y="8929930"/>
                  <a:pt x="0" y="8665860"/>
                </a:cubicBezTo>
                <a:lnTo>
                  <a:pt x="0" y="478140"/>
                </a:lnTo>
                <a:cubicBezTo>
                  <a:pt x="0" y="214247"/>
                  <a:pt x="48563" y="0"/>
                  <a:pt x="108378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6013450" y="536510"/>
            <a:ext cx="4229100" cy="660400"/>
          </a:xfrm>
          <a:custGeom>
            <a:avLst/>
            <a:gdLst/>
            <a:ahLst/>
            <a:cxnLst/>
            <a:rect l="l" t="t" r="r" b="b"/>
            <a:pathLst>
              <a:path w="4229100" h="660400">
                <a:moveTo>
                  <a:pt x="50798" y="0"/>
                </a:moveTo>
                <a:lnTo>
                  <a:pt x="4178302" y="0"/>
                </a:lnTo>
                <a:cubicBezTo>
                  <a:pt x="4206357" y="0"/>
                  <a:pt x="4229100" y="22743"/>
                  <a:pt x="4229100" y="50798"/>
                </a:cubicBezTo>
                <a:lnTo>
                  <a:pt x="4229100" y="609602"/>
                </a:lnTo>
                <a:cubicBezTo>
                  <a:pt x="4229100" y="637657"/>
                  <a:pt x="4206357" y="660400"/>
                  <a:pt x="4178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56300" y="536510"/>
            <a:ext cx="4343400" cy="660400"/>
          </a:xfrm>
          <a:prstGeom prst="rect">
            <a:avLst/>
          </a:prstGeom>
          <a:noFill/>
          <a:ln/>
        </p:spPr>
        <p:txBody>
          <a:bodyPr wrap="square" lIns="406400" tIns="152400" rIns="4064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PROJET MACHINE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47757" y="2555551"/>
            <a:ext cx="657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kern="0" spc="-180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ImmoPredictTN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07614" y="4064843"/>
            <a:ext cx="3058886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4269" y="5079157"/>
            <a:ext cx="7105577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Système IA de Prédiction des Prix Immobiliers en Tunisie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860764" y="7901991"/>
            <a:ext cx="401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Présenté par :</a:t>
            </a:r>
            <a:r>
              <a:rPr lang="en-US" sz="24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Omar Abdallah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769601" y="8319795"/>
            <a:ext cx="401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Groupe :</a:t>
            </a:r>
            <a:r>
              <a:rPr lang="en-US" sz="24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G5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2" name="Image 11" descr="Une image contenant capture d’écran, palmier, arbre, ciel&#10;&#10;Le contenu généré par l’IA peut être incorrect.">
            <a:extLst>
              <a:ext uri="{FF2B5EF4-FFF2-40B4-BE49-F238E27FC236}">
                <a16:creationId xmlns:a16="http://schemas.microsoft.com/office/drawing/2014/main" id="{E556AADC-6C72-C058-2B23-4F650C429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19" y="1658775"/>
            <a:ext cx="8539835" cy="62590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Image 13" descr="Une image contenant Graphique, capture d’écran, Police, graphisme&#10;&#10;Le contenu généré par l’IA peut être incorrect.">
            <a:extLst>
              <a:ext uri="{FF2B5EF4-FFF2-40B4-BE49-F238E27FC236}">
                <a16:creationId xmlns:a16="http://schemas.microsoft.com/office/drawing/2014/main" id="{37E966AD-2FF2-D23D-1F5C-02BE6CFA4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3700" y="189885"/>
            <a:ext cx="1641626" cy="8208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des Matières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320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08000" y="179188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33400" y="17780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128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301" y="20320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25600" y="2032000"/>
            <a:ext cx="535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</a:t>
            </a:r>
            <a:r>
              <a:rPr lang="en-US" sz="2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&amp; </a:t>
            </a:r>
            <a:r>
              <a:rPr lang="en-US" sz="2000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25600" y="24384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 du marché immobilier tunisien et défis spécifiques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56600" y="17780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8356600" y="17780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6360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572501" y="20320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48800" y="2438400"/>
            <a:ext cx="500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Stratégie de comparaison de trois familles d'algorithmes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2512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33400" y="32512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12800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49301" y="35052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48800" y="2082800"/>
            <a:ext cx="528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25600" y="391160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Fonctionnement, intérêt et limites dans le contexte tunisien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56600" y="32512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8356600" y="32512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636000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572501" y="35052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48800" y="3505200"/>
            <a:ext cx="554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</a:t>
            </a:r>
            <a:r>
              <a:rPr lang="en-US" sz="2000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Prétraitement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48801" y="3911600"/>
            <a:ext cx="552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Adaptation aux données immobilières et avantages clés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47244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33400" y="47244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12800" y="4978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36600" y="4973735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25601" y="4978400"/>
            <a:ext cx="491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</a:t>
            </a:r>
            <a:r>
              <a:rPr lang="en-US" sz="2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Exploratoire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25600" y="5384800"/>
            <a:ext cx="488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du gradient boosting et performance optimale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56600" y="47244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8356600" y="47244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8636000" y="4978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8572501" y="49784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8800" y="4978400"/>
            <a:ext cx="646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</a:t>
            </a:r>
            <a:r>
              <a:rPr lang="en-US" sz="2000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Modéles</a:t>
            </a:r>
            <a:r>
              <a:rPr lang="en-US" sz="2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 Machine Learning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8800" y="5384800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comparative et justification du modèle final retenu</a:t>
            </a:r>
            <a:endParaRPr lang="en-US" sz="1600" dirty="0"/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9336894D-5DA5-E10C-E7B0-7513D7CEDAEE}"/>
              </a:ext>
            </a:extLst>
          </p:cNvPr>
          <p:cNvSpPr/>
          <p:nvPr/>
        </p:nvSpPr>
        <p:spPr>
          <a:xfrm>
            <a:off x="660400" y="6196563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76C3FABF-CCF6-AEF1-7D2A-9804CFBAB182}"/>
              </a:ext>
            </a:extLst>
          </p:cNvPr>
          <p:cNvSpPr/>
          <p:nvPr/>
        </p:nvSpPr>
        <p:spPr>
          <a:xfrm>
            <a:off x="876301" y="6450563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5943E18B-686F-F55B-13A5-B33FC4F91DB7}"/>
              </a:ext>
            </a:extLst>
          </p:cNvPr>
          <p:cNvSpPr/>
          <p:nvPr/>
        </p:nvSpPr>
        <p:spPr>
          <a:xfrm>
            <a:off x="1727201" y="6577563"/>
            <a:ext cx="491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Déploiement</a:t>
            </a:r>
            <a:r>
              <a:rPr lang="en-US" sz="2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Production</a:t>
            </a:r>
            <a:endParaRPr lang="en-US" sz="1600" dirty="0"/>
          </a:p>
        </p:txBody>
      </p:sp>
      <p:sp>
        <p:nvSpPr>
          <p:cNvPr id="44" name="Shape 28">
            <a:extLst>
              <a:ext uri="{FF2B5EF4-FFF2-40B4-BE49-F238E27FC236}">
                <a16:creationId xmlns:a16="http://schemas.microsoft.com/office/drawing/2014/main" id="{D0E10DBD-4E0F-23EA-A208-2BEF727C8AC1}"/>
              </a:ext>
            </a:extLst>
          </p:cNvPr>
          <p:cNvSpPr/>
          <p:nvPr/>
        </p:nvSpPr>
        <p:spPr>
          <a:xfrm>
            <a:off x="825500" y="645522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CD01471B-DAEE-939D-45A3-2C258DFD646F}"/>
              </a:ext>
            </a:extLst>
          </p:cNvPr>
          <p:cNvSpPr/>
          <p:nvPr/>
        </p:nvSpPr>
        <p:spPr>
          <a:xfrm>
            <a:off x="749301" y="6450563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Shape 27">
            <a:extLst>
              <a:ext uri="{FF2B5EF4-FFF2-40B4-BE49-F238E27FC236}">
                <a16:creationId xmlns:a16="http://schemas.microsoft.com/office/drawing/2014/main" id="{D14BEE7B-C075-CF26-6401-669438F23897}"/>
              </a:ext>
            </a:extLst>
          </p:cNvPr>
          <p:cNvSpPr/>
          <p:nvPr/>
        </p:nvSpPr>
        <p:spPr>
          <a:xfrm>
            <a:off x="555301" y="6196563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12"/>
          <p:cNvSpPr/>
          <p:nvPr/>
        </p:nvSpPr>
        <p:spPr>
          <a:xfrm>
            <a:off x="1612900" y="3446337"/>
            <a:ext cx="502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Défis</a:t>
            </a:r>
            <a:r>
              <a:rPr lang="en-US" sz="2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Techniques </a:t>
            </a:r>
            <a:endParaRPr lang="en-US" sz="1600" dirty="0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FD64F393-C981-3362-F7A3-26E4F0F7645F}"/>
              </a:ext>
            </a:extLst>
          </p:cNvPr>
          <p:cNvSpPr/>
          <p:nvPr/>
        </p:nvSpPr>
        <p:spPr>
          <a:xfrm>
            <a:off x="8461699" y="6196563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BA2C7CC6-DFA7-2F9C-822A-6D33ECDF9430}"/>
              </a:ext>
            </a:extLst>
          </p:cNvPr>
          <p:cNvSpPr/>
          <p:nvPr/>
        </p:nvSpPr>
        <p:spPr>
          <a:xfrm>
            <a:off x="9528499" y="6577563"/>
            <a:ext cx="491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Liter" pitchFamily="34" charset="0"/>
              </a:rPr>
              <a:t>Conclusion</a:t>
            </a:r>
            <a:endParaRPr lang="en-US" sz="1600" dirty="0"/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D0459E2B-9793-1118-24F4-C97A123629C2}"/>
              </a:ext>
            </a:extLst>
          </p:cNvPr>
          <p:cNvSpPr/>
          <p:nvPr/>
        </p:nvSpPr>
        <p:spPr>
          <a:xfrm>
            <a:off x="8550600" y="6450563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7A9223EC-3CBC-6476-46ED-8C094CEF44FD}"/>
              </a:ext>
            </a:extLst>
          </p:cNvPr>
          <p:cNvSpPr/>
          <p:nvPr/>
        </p:nvSpPr>
        <p:spPr>
          <a:xfrm>
            <a:off x="8356600" y="6196563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57569888-DF40-277E-05BF-4D73690EA387}"/>
              </a:ext>
            </a:extLst>
          </p:cNvPr>
          <p:cNvSpPr/>
          <p:nvPr/>
        </p:nvSpPr>
        <p:spPr>
          <a:xfrm>
            <a:off x="8677599" y="64505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0D3E1BD0-C1BC-2D82-E217-1AF0151130D5}"/>
              </a:ext>
            </a:extLst>
          </p:cNvPr>
          <p:cNvSpPr/>
          <p:nvPr/>
        </p:nvSpPr>
        <p:spPr>
          <a:xfrm>
            <a:off x="8614099" y="6450563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609600"/>
          </a:xfrm>
          <a:custGeom>
            <a:avLst/>
            <a:gdLst/>
            <a:ahLst/>
            <a:cxnLst/>
            <a:rect l="l" t="t" r="r" b="b"/>
            <a:pathLst>
              <a:path w="101600" h="609600">
                <a:moveTo>
                  <a:pt x="0" y="0"/>
                </a:moveTo>
                <a:lnTo>
                  <a:pt x="101600" y="0"/>
                </a:lnTo>
                <a:lnTo>
                  <a:pt x="101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40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&amp; 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2192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marché immobilier tunisien : défis et opportunités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7442200" cy="2125306"/>
          </a:xfrm>
          <a:custGeom>
            <a:avLst/>
            <a:gdLst/>
            <a:ahLst/>
            <a:cxnLst/>
            <a:rect l="l" t="t" r="r" b="b"/>
            <a:pathLst>
              <a:path w="7442200" h="43180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4216397"/>
                </a:lnTo>
                <a:cubicBezTo>
                  <a:pt x="7442200" y="4272511"/>
                  <a:pt x="7396711" y="4318000"/>
                  <a:pt x="7340597" y="4318000"/>
                </a:cubicBezTo>
                <a:lnTo>
                  <a:pt x="50800" y="4318000"/>
                </a:lnTo>
                <a:cubicBezTo>
                  <a:pt x="22763" y="4318000"/>
                  <a:pt x="0" y="4295237"/>
                  <a:pt x="0" y="426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33400" y="1828800"/>
            <a:ext cx="69850" cy="2125306"/>
          </a:xfrm>
          <a:custGeom>
            <a:avLst/>
            <a:gdLst/>
            <a:ahLst/>
            <a:cxnLst/>
            <a:rect l="l" t="t" r="r" b="b"/>
            <a:pathLst>
              <a:path w="50800" h="4318000">
                <a:moveTo>
                  <a:pt x="50800" y="0"/>
                </a:moveTo>
                <a:lnTo>
                  <a:pt x="50800" y="0"/>
                </a:lnTo>
                <a:lnTo>
                  <a:pt x="50800" y="4318000"/>
                </a:lnTo>
                <a:lnTo>
                  <a:pt x="50800" y="4318000"/>
                </a:lnTo>
                <a:cubicBezTo>
                  <a:pt x="22763" y="4318000"/>
                  <a:pt x="0" y="4295237"/>
                  <a:pt x="0" y="426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20750" y="213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587500" y="2159000"/>
            <a:ext cx="237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Marché Tunisien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2794000"/>
            <a:ext cx="6921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marché immobilier tunisien caractérisé par une forte hétérogénéité des prix selon les localisations géographiques.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" y="5118100"/>
            <a:ext cx="6400800" cy="12700"/>
          </a:xfrm>
          <a:custGeom>
            <a:avLst/>
            <a:gdLst/>
            <a:ahLst/>
            <a:cxnLst/>
            <a:rect l="l" t="t" r="r" b="b"/>
            <a:pathLst>
              <a:path w="6400800" h="12700">
                <a:moveTo>
                  <a:pt x="0" y="0"/>
                </a:moveTo>
                <a:lnTo>
                  <a:pt x="6400800" y="0"/>
                </a:lnTo>
                <a:lnTo>
                  <a:pt x="6400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1F497D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7A91F9F2-F869-06D3-C051-9245CF8CE7B2}"/>
              </a:ext>
            </a:extLst>
          </p:cNvPr>
          <p:cNvSpPr/>
          <p:nvPr/>
        </p:nvSpPr>
        <p:spPr>
          <a:xfrm>
            <a:off x="8229602" y="1828800"/>
            <a:ext cx="7598833" cy="5122333"/>
          </a:xfrm>
          <a:custGeom>
            <a:avLst/>
            <a:gdLst/>
            <a:ahLst/>
            <a:cxnLst/>
            <a:rect l="l" t="t" r="r" b="b"/>
            <a:pathLst>
              <a:path w="7598833" h="5122333">
                <a:moveTo>
                  <a:pt x="84672" y="0"/>
                </a:moveTo>
                <a:lnTo>
                  <a:pt x="7514161" y="0"/>
                </a:lnTo>
                <a:cubicBezTo>
                  <a:pt x="7560924" y="0"/>
                  <a:pt x="7598833" y="37909"/>
                  <a:pt x="7598833" y="84672"/>
                </a:cubicBezTo>
                <a:lnTo>
                  <a:pt x="7598833" y="5037661"/>
                </a:lnTo>
                <a:cubicBezTo>
                  <a:pt x="7598833" y="5084424"/>
                  <a:pt x="7560924" y="5122333"/>
                  <a:pt x="7514161" y="5122333"/>
                </a:cubicBezTo>
                <a:lnTo>
                  <a:pt x="84672" y="5122333"/>
                </a:lnTo>
                <a:cubicBezTo>
                  <a:pt x="37909" y="5122333"/>
                  <a:pt x="0" y="5084424"/>
                  <a:pt x="0" y="5037661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495E"/>
              </a:gs>
            </a:gsLst>
            <a:lin ang="2700000" scaled="1"/>
          </a:gra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66C4D53A-715D-6220-00D8-C1D694689C73}"/>
              </a:ext>
            </a:extLst>
          </p:cNvPr>
          <p:cNvSpPr/>
          <p:nvPr/>
        </p:nvSpPr>
        <p:spPr>
          <a:xfrm>
            <a:off x="8441269" y="2082800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238125" y="19844"/>
                </a:moveTo>
                <a:cubicBezTo>
                  <a:pt x="238125" y="15255"/>
                  <a:pt x="235769" y="10997"/>
                  <a:pt x="231841" y="8599"/>
                </a:cubicBezTo>
                <a:cubicBezTo>
                  <a:pt x="227914" y="6201"/>
                  <a:pt x="223077" y="5953"/>
                  <a:pt x="218984" y="8020"/>
                </a:cubicBezTo>
                <a:lnTo>
                  <a:pt x="170946" y="32039"/>
                </a:lnTo>
                <a:lnTo>
                  <a:pt x="96780" y="7276"/>
                </a:lnTo>
                <a:cubicBezTo>
                  <a:pt x="93431" y="6160"/>
                  <a:pt x="89834" y="6408"/>
                  <a:pt x="86692" y="7979"/>
                </a:cubicBezTo>
                <a:lnTo>
                  <a:pt x="33776" y="34437"/>
                </a:lnTo>
                <a:cubicBezTo>
                  <a:pt x="29270" y="36711"/>
                  <a:pt x="26458" y="41300"/>
                  <a:pt x="26458" y="46302"/>
                </a:cubicBezTo>
                <a:lnTo>
                  <a:pt x="26458" y="191823"/>
                </a:lnTo>
                <a:cubicBezTo>
                  <a:pt x="26458" y="196412"/>
                  <a:pt x="28815" y="200670"/>
                  <a:pt x="32742" y="203068"/>
                </a:cubicBezTo>
                <a:cubicBezTo>
                  <a:pt x="36670" y="205465"/>
                  <a:pt x="41507" y="205714"/>
                  <a:pt x="45599" y="203646"/>
                </a:cubicBezTo>
                <a:lnTo>
                  <a:pt x="93596" y="179627"/>
                </a:lnTo>
                <a:lnTo>
                  <a:pt x="165241" y="203522"/>
                </a:lnTo>
                <a:cubicBezTo>
                  <a:pt x="163463" y="200877"/>
                  <a:pt x="161727" y="198107"/>
                  <a:pt x="160032" y="195296"/>
                </a:cubicBezTo>
                <a:cubicBezTo>
                  <a:pt x="155484" y="187730"/>
                  <a:pt x="150978" y="179049"/>
                  <a:pt x="147629" y="169747"/>
                </a:cubicBezTo>
                <a:lnTo>
                  <a:pt x="105792" y="155815"/>
                </a:lnTo>
                <a:lnTo>
                  <a:pt x="105792" y="38199"/>
                </a:lnTo>
                <a:lnTo>
                  <a:pt x="158709" y="55852"/>
                </a:lnTo>
                <a:lnTo>
                  <a:pt x="158709" y="96904"/>
                </a:lnTo>
                <a:cubicBezTo>
                  <a:pt x="171524" y="82104"/>
                  <a:pt x="190541" y="72760"/>
                  <a:pt x="211625" y="72760"/>
                </a:cubicBezTo>
                <a:cubicBezTo>
                  <a:pt x="220968" y="72760"/>
                  <a:pt x="229898" y="74579"/>
                  <a:pt x="238084" y="77928"/>
                </a:cubicBezTo>
                <a:lnTo>
                  <a:pt x="238125" y="19844"/>
                </a:lnTo>
                <a:close/>
                <a:moveTo>
                  <a:pt x="211667" y="92604"/>
                </a:moveTo>
                <a:cubicBezTo>
                  <a:pt x="184257" y="92604"/>
                  <a:pt x="162057" y="114432"/>
                  <a:pt x="162057" y="141345"/>
                </a:cubicBezTo>
                <a:cubicBezTo>
                  <a:pt x="162057" y="169829"/>
                  <a:pt x="188557" y="203522"/>
                  <a:pt x="202820" y="219604"/>
                </a:cubicBezTo>
                <a:cubicBezTo>
                  <a:pt x="207615" y="224979"/>
                  <a:pt x="215759" y="224979"/>
                  <a:pt x="220555" y="219604"/>
                </a:cubicBezTo>
                <a:cubicBezTo>
                  <a:pt x="234818" y="203522"/>
                  <a:pt x="261317" y="169829"/>
                  <a:pt x="261317" y="141345"/>
                </a:cubicBezTo>
                <a:cubicBezTo>
                  <a:pt x="261317" y="114432"/>
                  <a:pt x="239117" y="92604"/>
                  <a:pt x="211708" y="92604"/>
                </a:cubicBezTo>
                <a:close/>
                <a:moveTo>
                  <a:pt x="195130" y="142214"/>
                </a:moveTo>
                <a:cubicBezTo>
                  <a:pt x="195130" y="133087"/>
                  <a:pt x="202540" y="125677"/>
                  <a:pt x="211667" y="125677"/>
                </a:cubicBezTo>
                <a:cubicBezTo>
                  <a:pt x="220793" y="125677"/>
                  <a:pt x="228203" y="133087"/>
                  <a:pt x="228203" y="142214"/>
                </a:cubicBezTo>
                <a:cubicBezTo>
                  <a:pt x="228203" y="151340"/>
                  <a:pt x="220793" y="158750"/>
                  <a:pt x="211667" y="158750"/>
                </a:cubicBezTo>
                <a:cubicBezTo>
                  <a:pt x="202540" y="158750"/>
                  <a:pt x="195130" y="151340"/>
                  <a:pt x="195130" y="142214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4D24C1DF-E769-6505-F7AE-B7F31E355206}"/>
              </a:ext>
            </a:extLst>
          </p:cNvPr>
          <p:cNvSpPr/>
          <p:nvPr/>
        </p:nvSpPr>
        <p:spPr>
          <a:xfrm>
            <a:off x="8705852" y="2040466"/>
            <a:ext cx="701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Variabilité des Prix selon Localisation</a:t>
            </a:r>
            <a:endParaRPr lang="en-US" sz="1600" dirty="0"/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901BCFB7-51B5-2CD3-F213-84670CD9E6AE}"/>
              </a:ext>
            </a:extLst>
          </p:cNvPr>
          <p:cNvSpPr/>
          <p:nvPr/>
        </p:nvSpPr>
        <p:spPr>
          <a:xfrm>
            <a:off x="8441269" y="2506133"/>
            <a:ext cx="7175500" cy="889000"/>
          </a:xfrm>
          <a:custGeom>
            <a:avLst/>
            <a:gdLst/>
            <a:ahLst/>
            <a:cxnLst/>
            <a:rect l="l" t="t" r="r" b="b"/>
            <a:pathLst>
              <a:path w="7175500" h="889000">
                <a:moveTo>
                  <a:pt x="84668" y="0"/>
                </a:moveTo>
                <a:lnTo>
                  <a:pt x="7090832" y="0"/>
                </a:lnTo>
                <a:cubicBezTo>
                  <a:pt x="7137593" y="0"/>
                  <a:pt x="7175500" y="37907"/>
                  <a:pt x="7175500" y="84668"/>
                </a:cubicBezTo>
                <a:lnTo>
                  <a:pt x="7175500" y="804332"/>
                </a:lnTo>
                <a:cubicBezTo>
                  <a:pt x="7175500" y="851093"/>
                  <a:pt x="7137593" y="889000"/>
                  <a:pt x="709083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C2C5FC67-5B8E-8564-ECC7-93223EF295A3}"/>
              </a:ext>
            </a:extLst>
          </p:cNvPr>
          <p:cNvSpPr/>
          <p:nvPr/>
        </p:nvSpPr>
        <p:spPr>
          <a:xfrm>
            <a:off x="8568269" y="2675466"/>
            <a:ext cx="1312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Jardins de Carthage</a:t>
            </a:r>
            <a:endParaRPr lang="en-US" sz="1600" dirty="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1405DE7-5A7A-77AC-1242-21C542BED547}"/>
              </a:ext>
            </a:extLst>
          </p:cNvPr>
          <p:cNvSpPr/>
          <p:nvPr/>
        </p:nvSpPr>
        <p:spPr>
          <a:xfrm>
            <a:off x="14328248" y="2633133"/>
            <a:ext cx="1259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4850 TND/m²</a:t>
            </a:r>
            <a:endParaRPr lang="en-US" sz="1600" dirty="0"/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DD8B43DE-15D3-7325-5A76-EB2A095D73D4}"/>
              </a:ext>
            </a:extLst>
          </p:cNvPr>
          <p:cNvSpPr/>
          <p:nvPr/>
        </p:nvSpPr>
        <p:spPr>
          <a:xfrm>
            <a:off x="8568269" y="2971800"/>
            <a:ext cx="6921500" cy="84667"/>
          </a:xfrm>
          <a:custGeom>
            <a:avLst/>
            <a:gdLst/>
            <a:ahLst/>
            <a:cxnLst/>
            <a:rect l="l" t="t" r="r" b="b"/>
            <a:pathLst>
              <a:path w="6921500" h="84667">
                <a:moveTo>
                  <a:pt x="42333" y="0"/>
                </a:moveTo>
                <a:lnTo>
                  <a:pt x="6879167" y="0"/>
                </a:lnTo>
                <a:cubicBezTo>
                  <a:pt x="6902547" y="0"/>
                  <a:pt x="6921500" y="18953"/>
                  <a:pt x="6921500" y="42333"/>
                </a:cubicBezTo>
                <a:lnTo>
                  <a:pt x="6921500" y="42333"/>
                </a:lnTo>
                <a:cubicBezTo>
                  <a:pt x="6921500" y="65713"/>
                  <a:pt x="6902547" y="84667"/>
                  <a:pt x="6879167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834D68B6-75B5-BDB4-46BE-859E87986A64}"/>
              </a:ext>
            </a:extLst>
          </p:cNvPr>
          <p:cNvSpPr/>
          <p:nvPr/>
        </p:nvSpPr>
        <p:spPr>
          <a:xfrm>
            <a:off x="8568269" y="3098800"/>
            <a:ext cx="6985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haut de gamme - Grand Tunis</a:t>
            </a:r>
            <a:endParaRPr lang="en-US" sz="1600" dirty="0"/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89167E7A-452B-8505-3331-269B0BDBE1CE}"/>
              </a:ext>
            </a:extLst>
          </p:cNvPr>
          <p:cNvSpPr/>
          <p:nvPr/>
        </p:nvSpPr>
        <p:spPr>
          <a:xfrm>
            <a:off x="8441269" y="3522133"/>
            <a:ext cx="7175500" cy="889000"/>
          </a:xfrm>
          <a:custGeom>
            <a:avLst/>
            <a:gdLst/>
            <a:ahLst/>
            <a:cxnLst/>
            <a:rect l="l" t="t" r="r" b="b"/>
            <a:pathLst>
              <a:path w="7175500" h="889000">
                <a:moveTo>
                  <a:pt x="84668" y="0"/>
                </a:moveTo>
                <a:lnTo>
                  <a:pt x="7090832" y="0"/>
                </a:lnTo>
                <a:cubicBezTo>
                  <a:pt x="7137593" y="0"/>
                  <a:pt x="7175500" y="37907"/>
                  <a:pt x="7175500" y="84668"/>
                </a:cubicBezTo>
                <a:lnTo>
                  <a:pt x="7175500" y="804332"/>
                </a:lnTo>
                <a:cubicBezTo>
                  <a:pt x="7175500" y="851093"/>
                  <a:pt x="7137593" y="889000"/>
                  <a:pt x="709083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3">
            <a:extLst>
              <a:ext uri="{FF2B5EF4-FFF2-40B4-BE49-F238E27FC236}">
                <a16:creationId xmlns:a16="http://schemas.microsoft.com/office/drawing/2014/main" id="{7DD5F6DB-5222-51C1-0D56-CEE053627E7C}"/>
              </a:ext>
            </a:extLst>
          </p:cNvPr>
          <p:cNvSpPr/>
          <p:nvPr/>
        </p:nvSpPr>
        <p:spPr>
          <a:xfrm>
            <a:off x="8568269" y="3691466"/>
            <a:ext cx="1312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Ain Zaghouan Nord</a:t>
            </a:r>
            <a:endParaRPr lang="en-US" sz="1600" dirty="0"/>
          </a:p>
        </p:txBody>
      </p:sp>
      <p:sp>
        <p:nvSpPr>
          <p:cNvPr id="43" name="Text 44">
            <a:extLst>
              <a:ext uri="{FF2B5EF4-FFF2-40B4-BE49-F238E27FC236}">
                <a16:creationId xmlns:a16="http://schemas.microsoft.com/office/drawing/2014/main" id="{3AB794AD-46AF-8EF6-647B-AE6ECD529EF5}"/>
              </a:ext>
            </a:extLst>
          </p:cNvPr>
          <p:cNvSpPr/>
          <p:nvPr/>
        </p:nvSpPr>
        <p:spPr>
          <a:xfrm>
            <a:off x="14321137" y="3649133"/>
            <a:ext cx="1259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3700 TND/m²</a:t>
            </a:r>
            <a:endParaRPr lang="en-US" sz="1600" dirty="0"/>
          </a:p>
        </p:txBody>
      </p:sp>
      <p:sp>
        <p:nvSpPr>
          <p:cNvPr id="44" name="Shape 46">
            <a:extLst>
              <a:ext uri="{FF2B5EF4-FFF2-40B4-BE49-F238E27FC236}">
                <a16:creationId xmlns:a16="http://schemas.microsoft.com/office/drawing/2014/main" id="{FE94A987-F368-4245-44CD-45F0B0521A28}"/>
              </a:ext>
            </a:extLst>
          </p:cNvPr>
          <p:cNvSpPr/>
          <p:nvPr/>
        </p:nvSpPr>
        <p:spPr>
          <a:xfrm>
            <a:off x="8568269" y="3987800"/>
            <a:ext cx="5259917" cy="84667"/>
          </a:xfrm>
          <a:custGeom>
            <a:avLst/>
            <a:gdLst/>
            <a:ahLst/>
            <a:cxnLst/>
            <a:rect l="l" t="t" r="r" b="b"/>
            <a:pathLst>
              <a:path w="5259917" h="84667">
                <a:moveTo>
                  <a:pt x="42333" y="0"/>
                </a:moveTo>
                <a:lnTo>
                  <a:pt x="5217583" y="0"/>
                </a:lnTo>
                <a:cubicBezTo>
                  <a:pt x="5240963" y="0"/>
                  <a:pt x="5259917" y="18953"/>
                  <a:pt x="5259917" y="42333"/>
                </a:cubicBezTo>
                <a:lnTo>
                  <a:pt x="5259917" y="42333"/>
                </a:lnTo>
                <a:cubicBezTo>
                  <a:pt x="5259917" y="65713"/>
                  <a:pt x="5240963" y="84667"/>
                  <a:pt x="521758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B38527D1-8B9C-6921-2D75-F7A0BCE7C04F}"/>
              </a:ext>
            </a:extLst>
          </p:cNvPr>
          <p:cNvSpPr/>
          <p:nvPr/>
        </p:nvSpPr>
        <p:spPr>
          <a:xfrm>
            <a:off x="8568269" y="4114800"/>
            <a:ext cx="6985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Banlieue nord - Grand Tunis</a:t>
            </a:r>
            <a:endParaRPr lang="en-US" sz="1600" dirty="0"/>
          </a:p>
        </p:txBody>
      </p:sp>
      <p:sp>
        <p:nvSpPr>
          <p:cNvPr id="46" name="Shape 48">
            <a:extLst>
              <a:ext uri="{FF2B5EF4-FFF2-40B4-BE49-F238E27FC236}">
                <a16:creationId xmlns:a16="http://schemas.microsoft.com/office/drawing/2014/main" id="{C6971784-5B22-7B85-C7CD-F97DFDC56F8E}"/>
              </a:ext>
            </a:extLst>
          </p:cNvPr>
          <p:cNvSpPr/>
          <p:nvPr/>
        </p:nvSpPr>
        <p:spPr>
          <a:xfrm>
            <a:off x="8441269" y="4538133"/>
            <a:ext cx="7175500" cy="889000"/>
          </a:xfrm>
          <a:custGeom>
            <a:avLst/>
            <a:gdLst/>
            <a:ahLst/>
            <a:cxnLst/>
            <a:rect l="l" t="t" r="r" b="b"/>
            <a:pathLst>
              <a:path w="7175500" h="889000">
                <a:moveTo>
                  <a:pt x="84668" y="0"/>
                </a:moveTo>
                <a:lnTo>
                  <a:pt x="7090832" y="0"/>
                </a:lnTo>
                <a:cubicBezTo>
                  <a:pt x="7137593" y="0"/>
                  <a:pt x="7175500" y="37907"/>
                  <a:pt x="7175500" y="84668"/>
                </a:cubicBezTo>
                <a:lnTo>
                  <a:pt x="7175500" y="804332"/>
                </a:lnTo>
                <a:cubicBezTo>
                  <a:pt x="7175500" y="851093"/>
                  <a:pt x="7137593" y="889000"/>
                  <a:pt x="709083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157CA723-82CE-E603-EF1D-7B60D4973C48}"/>
              </a:ext>
            </a:extLst>
          </p:cNvPr>
          <p:cNvSpPr/>
          <p:nvPr/>
        </p:nvSpPr>
        <p:spPr>
          <a:xfrm>
            <a:off x="8568269" y="4707466"/>
            <a:ext cx="1121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Sahloul (Sousse)</a:t>
            </a:r>
            <a:endParaRPr lang="en-US" sz="1600" dirty="0"/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9E30160C-6891-82B3-7558-BCDE8564920D}"/>
              </a:ext>
            </a:extLst>
          </p:cNvPr>
          <p:cNvSpPr/>
          <p:nvPr/>
        </p:nvSpPr>
        <p:spPr>
          <a:xfrm>
            <a:off x="14368928" y="4665133"/>
            <a:ext cx="1217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3150 TND/m²</a:t>
            </a:r>
            <a:endParaRPr lang="en-US" sz="1600" dirty="0"/>
          </a:p>
        </p:txBody>
      </p:sp>
      <p:sp>
        <p:nvSpPr>
          <p:cNvPr id="49" name="Shape 52">
            <a:extLst>
              <a:ext uri="{FF2B5EF4-FFF2-40B4-BE49-F238E27FC236}">
                <a16:creationId xmlns:a16="http://schemas.microsoft.com/office/drawing/2014/main" id="{C9F30118-0A45-1765-2862-33CC6C0DCC83}"/>
              </a:ext>
            </a:extLst>
          </p:cNvPr>
          <p:cNvSpPr/>
          <p:nvPr/>
        </p:nvSpPr>
        <p:spPr>
          <a:xfrm>
            <a:off x="8568269" y="5003800"/>
            <a:ext cx="4497917" cy="84667"/>
          </a:xfrm>
          <a:custGeom>
            <a:avLst/>
            <a:gdLst/>
            <a:ahLst/>
            <a:cxnLst/>
            <a:rect l="l" t="t" r="r" b="b"/>
            <a:pathLst>
              <a:path w="4497917" h="84667">
                <a:moveTo>
                  <a:pt x="42333" y="0"/>
                </a:moveTo>
                <a:lnTo>
                  <a:pt x="4455583" y="0"/>
                </a:lnTo>
                <a:cubicBezTo>
                  <a:pt x="4478963" y="0"/>
                  <a:pt x="4497917" y="18953"/>
                  <a:pt x="4497917" y="42333"/>
                </a:cubicBezTo>
                <a:lnTo>
                  <a:pt x="4497917" y="42333"/>
                </a:lnTo>
                <a:cubicBezTo>
                  <a:pt x="4497917" y="65713"/>
                  <a:pt x="4478963" y="84667"/>
                  <a:pt x="445558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53">
            <a:extLst>
              <a:ext uri="{FF2B5EF4-FFF2-40B4-BE49-F238E27FC236}">
                <a16:creationId xmlns:a16="http://schemas.microsoft.com/office/drawing/2014/main" id="{40F3A4A5-E56B-2EF1-7A28-DA80E8A633F3}"/>
              </a:ext>
            </a:extLst>
          </p:cNvPr>
          <p:cNvSpPr/>
          <p:nvPr/>
        </p:nvSpPr>
        <p:spPr>
          <a:xfrm>
            <a:off x="8568269" y="5130800"/>
            <a:ext cx="6985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touristique - Sahel</a:t>
            </a:r>
            <a:endParaRPr lang="en-US" sz="1600" dirty="0"/>
          </a:p>
        </p:txBody>
      </p:sp>
      <p:sp>
        <p:nvSpPr>
          <p:cNvPr id="51" name="Shape 54">
            <a:extLst>
              <a:ext uri="{FF2B5EF4-FFF2-40B4-BE49-F238E27FC236}">
                <a16:creationId xmlns:a16="http://schemas.microsoft.com/office/drawing/2014/main" id="{524C39F9-6CA4-F4E6-2FA3-7548985C8CE7}"/>
              </a:ext>
            </a:extLst>
          </p:cNvPr>
          <p:cNvSpPr/>
          <p:nvPr/>
        </p:nvSpPr>
        <p:spPr>
          <a:xfrm>
            <a:off x="8441269" y="5554133"/>
            <a:ext cx="7175500" cy="889000"/>
          </a:xfrm>
          <a:custGeom>
            <a:avLst/>
            <a:gdLst/>
            <a:ahLst/>
            <a:cxnLst/>
            <a:rect l="l" t="t" r="r" b="b"/>
            <a:pathLst>
              <a:path w="7175500" h="889000">
                <a:moveTo>
                  <a:pt x="84668" y="0"/>
                </a:moveTo>
                <a:lnTo>
                  <a:pt x="7090832" y="0"/>
                </a:lnTo>
                <a:cubicBezTo>
                  <a:pt x="7137593" y="0"/>
                  <a:pt x="7175500" y="37907"/>
                  <a:pt x="7175500" y="84668"/>
                </a:cubicBezTo>
                <a:lnTo>
                  <a:pt x="7175500" y="804332"/>
                </a:lnTo>
                <a:cubicBezTo>
                  <a:pt x="7175500" y="851093"/>
                  <a:pt x="7137593" y="889000"/>
                  <a:pt x="709083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5">
            <a:extLst>
              <a:ext uri="{FF2B5EF4-FFF2-40B4-BE49-F238E27FC236}">
                <a16:creationId xmlns:a16="http://schemas.microsoft.com/office/drawing/2014/main" id="{FCA4E2C7-9106-2111-B6C2-A165693A5C66}"/>
              </a:ext>
            </a:extLst>
          </p:cNvPr>
          <p:cNvSpPr/>
          <p:nvPr/>
        </p:nvSpPr>
        <p:spPr>
          <a:xfrm>
            <a:off x="8568269" y="5723466"/>
            <a:ext cx="952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Monastir Ville</a:t>
            </a:r>
            <a:endParaRPr lang="en-US" sz="1600" dirty="0"/>
          </a:p>
        </p:txBody>
      </p:sp>
      <p:sp>
        <p:nvSpPr>
          <p:cNvPr id="53" name="Text 56">
            <a:extLst>
              <a:ext uri="{FF2B5EF4-FFF2-40B4-BE49-F238E27FC236}">
                <a16:creationId xmlns:a16="http://schemas.microsoft.com/office/drawing/2014/main" id="{3CD141C0-4CD7-157E-59E7-E265DA58FE74}"/>
              </a:ext>
            </a:extLst>
          </p:cNvPr>
          <p:cNvSpPr/>
          <p:nvPr/>
        </p:nvSpPr>
        <p:spPr>
          <a:xfrm>
            <a:off x="14444169" y="5681133"/>
            <a:ext cx="1143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750 TND/m²</a:t>
            </a:r>
            <a:endParaRPr lang="en-US" sz="1600" dirty="0"/>
          </a:p>
        </p:txBody>
      </p:sp>
      <p:sp>
        <p:nvSpPr>
          <p:cNvPr id="55" name="Shape 58">
            <a:extLst>
              <a:ext uri="{FF2B5EF4-FFF2-40B4-BE49-F238E27FC236}">
                <a16:creationId xmlns:a16="http://schemas.microsoft.com/office/drawing/2014/main" id="{1AB8E955-796E-2C54-D2A1-2F2072CB20E7}"/>
              </a:ext>
            </a:extLst>
          </p:cNvPr>
          <p:cNvSpPr/>
          <p:nvPr/>
        </p:nvSpPr>
        <p:spPr>
          <a:xfrm>
            <a:off x="8568269" y="6019800"/>
            <a:ext cx="1037167" cy="84667"/>
          </a:xfrm>
          <a:custGeom>
            <a:avLst/>
            <a:gdLst/>
            <a:ahLst/>
            <a:cxnLst/>
            <a:rect l="l" t="t" r="r" b="b"/>
            <a:pathLst>
              <a:path w="1037167" h="84667">
                <a:moveTo>
                  <a:pt x="42333" y="0"/>
                </a:moveTo>
                <a:lnTo>
                  <a:pt x="994833" y="0"/>
                </a:lnTo>
                <a:cubicBezTo>
                  <a:pt x="1018213" y="0"/>
                  <a:pt x="1037167" y="18953"/>
                  <a:pt x="1037167" y="42333"/>
                </a:cubicBezTo>
                <a:lnTo>
                  <a:pt x="1037167" y="42333"/>
                </a:lnTo>
                <a:cubicBezTo>
                  <a:pt x="1037167" y="65713"/>
                  <a:pt x="1018213" y="84667"/>
                  <a:pt x="9948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9">
            <a:extLst>
              <a:ext uri="{FF2B5EF4-FFF2-40B4-BE49-F238E27FC236}">
                <a16:creationId xmlns:a16="http://schemas.microsoft.com/office/drawing/2014/main" id="{FEE317C6-3824-5FF9-4026-802925917230}"/>
              </a:ext>
            </a:extLst>
          </p:cNvPr>
          <p:cNvSpPr/>
          <p:nvPr/>
        </p:nvSpPr>
        <p:spPr>
          <a:xfrm>
            <a:off x="8568269" y="6146800"/>
            <a:ext cx="6985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économique - Sahel</a:t>
            </a:r>
            <a:endParaRPr lang="en-US" sz="1600" dirty="0"/>
          </a:p>
        </p:txBody>
      </p:sp>
      <p:sp>
        <p:nvSpPr>
          <p:cNvPr id="57" name="Text 61">
            <a:extLst>
              <a:ext uri="{FF2B5EF4-FFF2-40B4-BE49-F238E27FC236}">
                <a16:creationId xmlns:a16="http://schemas.microsoft.com/office/drawing/2014/main" id="{691072BE-9B23-5A5A-726B-725FA9E0FD04}"/>
              </a:ext>
            </a:extLst>
          </p:cNvPr>
          <p:cNvSpPr/>
          <p:nvPr/>
        </p:nvSpPr>
        <p:spPr>
          <a:xfrm>
            <a:off x="8600019" y="6570133"/>
            <a:ext cx="70802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Mubawab, Bilan du marché immobilier tunisien 2023</a:t>
            </a:r>
            <a:endParaRPr lang="en-US" sz="160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EB1B452C-EB61-EEA8-C885-F8B19358F791}"/>
              </a:ext>
            </a:extLst>
          </p:cNvPr>
          <p:cNvSpPr/>
          <p:nvPr/>
        </p:nvSpPr>
        <p:spPr>
          <a:xfrm>
            <a:off x="584200" y="4425950"/>
            <a:ext cx="7442200" cy="4318000"/>
          </a:xfrm>
          <a:custGeom>
            <a:avLst/>
            <a:gdLst/>
            <a:ahLst/>
            <a:cxnLst/>
            <a:rect l="l" t="t" r="r" b="b"/>
            <a:pathLst>
              <a:path w="7442200" h="43180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4216397"/>
                </a:lnTo>
                <a:cubicBezTo>
                  <a:pt x="7442200" y="4272511"/>
                  <a:pt x="7396711" y="4318000"/>
                  <a:pt x="7340597" y="4318000"/>
                </a:cubicBezTo>
                <a:lnTo>
                  <a:pt x="50800" y="4318000"/>
                </a:lnTo>
                <a:cubicBezTo>
                  <a:pt x="22763" y="4318000"/>
                  <a:pt x="0" y="4295237"/>
                  <a:pt x="0" y="426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9" name="Shape 16">
            <a:extLst>
              <a:ext uri="{FF2B5EF4-FFF2-40B4-BE49-F238E27FC236}">
                <a16:creationId xmlns:a16="http://schemas.microsoft.com/office/drawing/2014/main" id="{C467B9BE-8258-236B-ED5E-07BAFCBAAC67}"/>
              </a:ext>
            </a:extLst>
          </p:cNvPr>
          <p:cNvSpPr/>
          <p:nvPr/>
        </p:nvSpPr>
        <p:spPr>
          <a:xfrm>
            <a:off x="584200" y="4425950"/>
            <a:ext cx="50800" cy="4318000"/>
          </a:xfrm>
          <a:custGeom>
            <a:avLst/>
            <a:gdLst/>
            <a:ahLst/>
            <a:cxnLst/>
            <a:rect l="l" t="t" r="r" b="b"/>
            <a:pathLst>
              <a:path w="50800" h="4318000">
                <a:moveTo>
                  <a:pt x="50800" y="0"/>
                </a:moveTo>
                <a:lnTo>
                  <a:pt x="50800" y="0"/>
                </a:lnTo>
                <a:lnTo>
                  <a:pt x="50800" y="4318000"/>
                </a:lnTo>
                <a:lnTo>
                  <a:pt x="50800" y="4318000"/>
                </a:lnTo>
                <a:cubicBezTo>
                  <a:pt x="22763" y="4318000"/>
                  <a:pt x="0" y="4295237"/>
                  <a:pt x="0" y="426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17">
            <a:extLst>
              <a:ext uri="{FF2B5EF4-FFF2-40B4-BE49-F238E27FC236}">
                <a16:creationId xmlns:a16="http://schemas.microsoft.com/office/drawing/2014/main" id="{4727E925-090A-E105-CDFA-11019A7F85E4}"/>
              </a:ext>
            </a:extLst>
          </p:cNvPr>
          <p:cNvSpPr/>
          <p:nvPr/>
        </p:nvSpPr>
        <p:spPr>
          <a:xfrm>
            <a:off x="914400" y="473075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28689" y="221456"/>
                </a:moveTo>
                <a:cubicBezTo>
                  <a:pt x="287830" y="221456"/>
                  <a:pt x="335846" y="173441"/>
                  <a:pt x="335846" y="114300"/>
                </a:cubicBezTo>
                <a:cubicBezTo>
                  <a:pt x="335846" y="55159"/>
                  <a:pt x="287830" y="7144"/>
                  <a:pt x="228689" y="7144"/>
                </a:cubicBezTo>
                <a:cubicBezTo>
                  <a:pt x="169548" y="7144"/>
                  <a:pt x="121533" y="55159"/>
                  <a:pt x="121533" y="114300"/>
                </a:cubicBezTo>
                <a:cubicBezTo>
                  <a:pt x="121533" y="173441"/>
                  <a:pt x="169548" y="221456"/>
                  <a:pt x="228689" y="221456"/>
                </a:cubicBezTo>
                <a:close/>
                <a:moveTo>
                  <a:pt x="202168" y="271463"/>
                </a:moveTo>
                <a:cubicBezTo>
                  <a:pt x="114211" y="271463"/>
                  <a:pt x="42952" y="342721"/>
                  <a:pt x="42952" y="430679"/>
                </a:cubicBezTo>
                <a:cubicBezTo>
                  <a:pt x="42952" y="445324"/>
                  <a:pt x="54828" y="457200"/>
                  <a:pt x="69473" y="457200"/>
                </a:cubicBezTo>
                <a:lnTo>
                  <a:pt x="244941" y="457200"/>
                </a:lnTo>
                <a:lnTo>
                  <a:pt x="254675" y="408533"/>
                </a:lnTo>
                <a:cubicBezTo>
                  <a:pt x="258514" y="389156"/>
                  <a:pt x="268069" y="371386"/>
                  <a:pt x="282000" y="357455"/>
                </a:cubicBezTo>
                <a:lnTo>
                  <a:pt x="342096" y="297359"/>
                </a:lnTo>
                <a:cubicBezTo>
                  <a:pt x="317093" y="281017"/>
                  <a:pt x="287268" y="271552"/>
                  <a:pt x="255121" y="271552"/>
                </a:cubicBezTo>
                <a:lnTo>
                  <a:pt x="202079" y="271552"/>
                </a:lnTo>
                <a:close/>
                <a:moveTo>
                  <a:pt x="296734" y="416927"/>
                </a:moveTo>
                <a:lnTo>
                  <a:pt x="286107" y="470148"/>
                </a:lnTo>
                <a:cubicBezTo>
                  <a:pt x="285929" y="470952"/>
                  <a:pt x="285839" y="471845"/>
                  <a:pt x="285839" y="472738"/>
                </a:cubicBezTo>
                <a:cubicBezTo>
                  <a:pt x="285839" y="479881"/>
                  <a:pt x="291644" y="485775"/>
                  <a:pt x="298877" y="485775"/>
                </a:cubicBezTo>
                <a:cubicBezTo>
                  <a:pt x="299770" y="485775"/>
                  <a:pt x="300573" y="485686"/>
                  <a:pt x="301466" y="485507"/>
                </a:cubicBezTo>
                <a:lnTo>
                  <a:pt x="354687" y="474881"/>
                </a:lnTo>
                <a:cubicBezTo>
                  <a:pt x="365760" y="472648"/>
                  <a:pt x="375940" y="467201"/>
                  <a:pt x="383887" y="459254"/>
                </a:cubicBezTo>
                <a:lnTo>
                  <a:pt x="490061" y="353080"/>
                </a:lnTo>
                <a:lnTo>
                  <a:pt x="418624" y="281642"/>
                </a:lnTo>
                <a:lnTo>
                  <a:pt x="312450" y="387816"/>
                </a:lnTo>
                <a:cubicBezTo>
                  <a:pt x="304502" y="395764"/>
                  <a:pt x="299055" y="405944"/>
                  <a:pt x="296823" y="417016"/>
                </a:cubicBezTo>
                <a:close/>
                <a:moveTo>
                  <a:pt x="535871" y="307092"/>
                </a:moveTo>
                <a:cubicBezTo>
                  <a:pt x="555605" y="287357"/>
                  <a:pt x="555605" y="255389"/>
                  <a:pt x="535871" y="235654"/>
                </a:cubicBezTo>
                <a:cubicBezTo>
                  <a:pt x="516136" y="215920"/>
                  <a:pt x="484168" y="215920"/>
                  <a:pt x="464433" y="235654"/>
                </a:cubicBezTo>
                <a:lnTo>
                  <a:pt x="438716" y="261372"/>
                </a:lnTo>
                <a:lnTo>
                  <a:pt x="510153" y="332809"/>
                </a:lnTo>
                <a:lnTo>
                  <a:pt x="535871" y="307092"/>
                </a:ln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0D4406BD-F0FF-DFE6-F6FA-CD7C1BD4681A}"/>
              </a:ext>
            </a:extLst>
          </p:cNvPr>
          <p:cNvSpPr/>
          <p:nvPr/>
        </p:nvSpPr>
        <p:spPr>
          <a:xfrm>
            <a:off x="1638300" y="4756150"/>
            <a:ext cx="288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Estimation Manuelle</a:t>
            </a:r>
            <a:endParaRPr lang="en-US" sz="16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A9448D74-463E-5787-8587-CD38530944D8}"/>
              </a:ext>
            </a:extLst>
          </p:cNvPr>
          <p:cNvSpPr/>
          <p:nvPr/>
        </p:nvSpPr>
        <p:spPr>
          <a:xfrm>
            <a:off x="914400" y="5391150"/>
            <a:ext cx="6921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L'estimation traditionnelle souffre de plusieurs limitations qui impactent la précision et l'efficacité.</a:t>
            </a:r>
            <a:endParaRPr lang="en-US" sz="1600" dirty="0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72E3ABBD-BD17-C3F8-A7FA-6B2B0737F384}"/>
              </a:ext>
            </a:extLst>
          </p:cNvPr>
          <p:cNvSpPr/>
          <p:nvPr/>
        </p:nvSpPr>
        <p:spPr>
          <a:xfrm>
            <a:off x="1447800" y="6337300"/>
            <a:ext cx="436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Chronophage:</a:t>
            </a:r>
            <a:r>
              <a:rPr lang="en-US" sz="18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Analyse subjective et longue</a:t>
            </a:r>
            <a:endParaRPr lang="en-US" sz="1600" dirty="0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9D599FDC-257D-0E18-4DC2-2103AB02A695}"/>
              </a:ext>
            </a:extLst>
          </p:cNvPr>
          <p:cNvSpPr/>
          <p:nvPr/>
        </p:nvSpPr>
        <p:spPr>
          <a:xfrm>
            <a:off x="952500" y="6870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2D3AF7AC-2034-A6CF-7A6A-3B06CCF8AC04}"/>
              </a:ext>
            </a:extLst>
          </p:cNvPr>
          <p:cNvSpPr/>
          <p:nvPr/>
        </p:nvSpPr>
        <p:spPr>
          <a:xfrm>
            <a:off x="1447800" y="6845300"/>
            <a:ext cx="491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Subjectivité:</a:t>
            </a:r>
            <a:r>
              <a:rPr lang="en-US" sz="18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Forte variabilité d'un expert à l'autre</a:t>
            </a:r>
            <a:endParaRPr lang="en-US" sz="1600" dirty="0"/>
          </a:p>
        </p:txBody>
      </p:sp>
      <p:sp>
        <p:nvSpPr>
          <p:cNvPr id="76" name="Shape 24">
            <a:extLst>
              <a:ext uri="{FF2B5EF4-FFF2-40B4-BE49-F238E27FC236}">
                <a16:creationId xmlns:a16="http://schemas.microsoft.com/office/drawing/2014/main" id="{DD9DD7DF-4609-C22F-35EB-53274829172E}"/>
              </a:ext>
            </a:extLst>
          </p:cNvPr>
          <p:cNvSpPr/>
          <p:nvPr/>
        </p:nvSpPr>
        <p:spPr>
          <a:xfrm>
            <a:off x="952500" y="7378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090804B1-DA44-4F8A-1C66-BED75CB80F02}"/>
              </a:ext>
            </a:extLst>
          </p:cNvPr>
          <p:cNvSpPr/>
          <p:nvPr/>
        </p:nvSpPr>
        <p:spPr>
          <a:xfrm>
            <a:off x="1447800" y="7353300"/>
            <a:ext cx="392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Erreurs:</a:t>
            </a:r>
            <a:r>
              <a:rPr lang="en-US" sz="18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Prone to human error and bias</a:t>
            </a:r>
            <a:endParaRPr lang="en-US" sz="1600" dirty="0"/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99E60665-138A-8353-3DF2-5FBA9E65E791}"/>
              </a:ext>
            </a:extLst>
          </p:cNvPr>
          <p:cNvSpPr/>
          <p:nvPr/>
        </p:nvSpPr>
        <p:spPr>
          <a:xfrm>
            <a:off x="952500" y="638239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26">
            <a:extLst>
              <a:ext uri="{FF2B5EF4-FFF2-40B4-BE49-F238E27FC236}">
                <a16:creationId xmlns:a16="http://schemas.microsoft.com/office/drawing/2014/main" id="{F0B8CA80-50EA-F2F3-2B7D-8090678D7EA7}"/>
              </a:ext>
            </a:extLst>
          </p:cNvPr>
          <p:cNvSpPr/>
          <p:nvPr/>
        </p:nvSpPr>
        <p:spPr>
          <a:xfrm>
            <a:off x="8275737" y="7103534"/>
            <a:ext cx="7552698" cy="1640416"/>
          </a:xfrm>
          <a:custGeom>
            <a:avLst/>
            <a:gdLst/>
            <a:ahLst/>
            <a:cxnLst/>
            <a:rect l="l" t="t" r="r" b="b"/>
            <a:pathLst>
              <a:path w="15240000" h="1943100">
                <a:moveTo>
                  <a:pt x="101605" y="0"/>
                </a:moveTo>
                <a:lnTo>
                  <a:pt x="15138395" y="0"/>
                </a:lnTo>
                <a:cubicBezTo>
                  <a:pt x="15194510" y="0"/>
                  <a:pt x="15240000" y="45490"/>
                  <a:pt x="15240000" y="101605"/>
                </a:cubicBezTo>
                <a:lnTo>
                  <a:pt x="15240000" y="1841495"/>
                </a:lnTo>
                <a:cubicBezTo>
                  <a:pt x="15240000" y="1897610"/>
                  <a:pt x="15194510" y="1943100"/>
                  <a:pt x="15138395" y="1943100"/>
                </a:cubicBezTo>
                <a:lnTo>
                  <a:pt x="101605" y="1943100"/>
                </a:lnTo>
                <a:cubicBezTo>
                  <a:pt x="45490" y="1943100"/>
                  <a:pt x="0" y="1897610"/>
                  <a:pt x="0" y="1841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27">
            <a:extLst>
              <a:ext uri="{FF2B5EF4-FFF2-40B4-BE49-F238E27FC236}">
                <a16:creationId xmlns:a16="http://schemas.microsoft.com/office/drawing/2014/main" id="{5F751313-5305-F0EA-BD2D-2F7667AFCC07}"/>
              </a:ext>
            </a:extLst>
          </p:cNvPr>
          <p:cNvSpPr/>
          <p:nvPr/>
        </p:nvSpPr>
        <p:spPr>
          <a:xfrm>
            <a:off x="1254082" y="7687831"/>
            <a:ext cx="396917" cy="72306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28">
            <a:extLst>
              <a:ext uri="{FF2B5EF4-FFF2-40B4-BE49-F238E27FC236}">
                <a16:creationId xmlns:a16="http://schemas.microsoft.com/office/drawing/2014/main" id="{072B1AF7-4E9B-28BB-8064-44DEDAA72AA4}"/>
              </a:ext>
            </a:extLst>
          </p:cNvPr>
          <p:cNvSpPr/>
          <p:nvPr/>
        </p:nvSpPr>
        <p:spPr>
          <a:xfrm>
            <a:off x="1252219" y="7856061"/>
            <a:ext cx="186055" cy="338938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33375" y="190500"/>
                </a:moveTo>
                <a:cubicBezTo>
                  <a:pt x="333375" y="111645"/>
                  <a:pt x="269355" y="47625"/>
                  <a:pt x="190500" y="47625"/>
                </a:cubicBezTo>
                <a:cubicBezTo>
                  <a:pt x="111645" y="47625"/>
                  <a:pt x="47625" y="111645"/>
                  <a:pt x="47625" y="190500"/>
                </a:cubicBezTo>
                <a:cubicBezTo>
                  <a:pt x="47625" y="269355"/>
                  <a:pt x="111645" y="333375"/>
                  <a:pt x="190500" y="333375"/>
                </a:cubicBezTo>
                <a:cubicBezTo>
                  <a:pt x="269355" y="333375"/>
                  <a:pt x="333375" y="269355"/>
                  <a:pt x="333375" y="190500"/>
                </a:cubicBez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90500" y="250031"/>
                </a:moveTo>
                <a:cubicBezTo>
                  <a:pt x="223356" y="250031"/>
                  <a:pt x="250031" y="223356"/>
                  <a:pt x="250031" y="190500"/>
                </a:cubicBezTo>
                <a:cubicBezTo>
                  <a:pt x="250031" y="157644"/>
                  <a:pt x="223356" y="130969"/>
                  <a:pt x="190500" y="130969"/>
                </a:cubicBezTo>
                <a:cubicBezTo>
                  <a:pt x="157644" y="130969"/>
                  <a:pt x="130969" y="157644"/>
                  <a:pt x="130969" y="190500"/>
                </a:cubicBezTo>
                <a:cubicBezTo>
                  <a:pt x="130969" y="223356"/>
                  <a:pt x="157644" y="250031"/>
                  <a:pt x="190500" y="250031"/>
                </a:cubicBezTo>
                <a:close/>
                <a:moveTo>
                  <a:pt x="190500" y="83344"/>
                </a:moveTo>
                <a:cubicBezTo>
                  <a:pt x="249641" y="83344"/>
                  <a:pt x="297656" y="131359"/>
                  <a:pt x="297656" y="190500"/>
                </a:cubicBezTo>
                <a:cubicBezTo>
                  <a:pt x="297656" y="249641"/>
                  <a:pt x="249641" y="297656"/>
                  <a:pt x="190500" y="297656"/>
                </a:cubicBezTo>
                <a:cubicBezTo>
                  <a:pt x="131359" y="297656"/>
                  <a:pt x="83344" y="249641"/>
                  <a:pt x="83344" y="190500"/>
                </a:cubicBezTo>
                <a:cubicBezTo>
                  <a:pt x="83344" y="131359"/>
                  <a:pt x="131359" y="83344"/>
                  <a:pt x="190500" y="83344"/>
                </a:cubicBezTo>
                <a:close/>
                <a:moveTo>
                  <a:pt x="166688" y="190500"/>
                </a:moveTo>
                <a:cubicBezTo>
                  <a:pt x="166688" y="177358"/>
                  <a:pt x="177358" y="166688"/>
                  <a:pt x="190500" y="166688"/>
                </a:cubicBezTo>
                <a:cubicBezTo>
                  <a:pt x="203642" y="166688"/>
                  <a:pt x="214313" y="177358"/>
                  <a:pt x="214313" y="190500"/>
                </a:cubicBezTo>
                <a:cubicBezTo>
                  <a:pt x="214313" y="203642"/>
                  <a:pt x="203642" y="214313"/>
                  <a:pt x="190500" y="214313"/>
                </a:cubicBezTo>
                <a:cubicBezTo>
                  <a:pt x="177358" y="214313"/>
                  <a:pt x="166688" y="203642"/>
                  <a:pt x="166688" y="1905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29">
            <a:extLst>
              <a:ext uri="{FF2B5EF4-FFF2-40B4-BE49-F238E27FC236}">
                <a16:creationId xmlns:a16="http://schemas.microsoft.com/office/drawing/2014/main" id="{B5F1A3DF-071B-EC05-2253-E030F489137A}"/>
              </a:ext>
            </a:extLst>
          </p:cNvPr>
          <p:cNvSpPr/>
          <p:nvPr/>
        </p:nvSpPr>
        <p:spPr>
          <a:xfrm>
            <a:off x="9237344" y="7254983"/>
            <a:ext cx="6722787" cy="361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du Projet</a:t>
            </a:r>
            <a:endParaRPr lang="en-US" sz="1600" dirty="0"/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2E4909BF-A045-2CCB-49FB-7C5FB98E7023}"/>
              </a:ext>
            </a:extLst>
          </p:cNvPr>
          <p:cNvSpPr/>
          <p:nvPr/>
        </p:nvSpPr>
        <p:spPr>
          <a:xfrm>
            <a:off x="9337126" y="7789506"/>
            <a:ext cx="6710384" cy="73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b="1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Développer un système intelligent de prédiction automatique</a:t>
            </a:r>
            <a:r>
              <a:rPr lang="en-US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prix immobiliers, combinant rapidité, fiabilité et précision pour révolutionner l'estimation de biens en Tunisie.</a:t>
            </a:r>
            <a:endParaRPr lang="en-US" sz="1400" dirty="0"/>
          </a:p>
        </p:txBody>
      </p:sp>
      <p:sp>
        <p:nvSpPr>
          <p:cNvPr id="84" name="Shape 27">
            <a:extLst>
              <a:ext uri="{FF2B5EF4-FFF2-40B4-BE49-F238E27FC236}">
                <a16:creationId xmlns:a16="http://schemas.microsoft.com/office/drawing/2014/main" id="{867F280F-DC11-4E8A-2259-EBA394E63D37}"/>
              </a:ext>
            </a:extLst>
          </p:cNvPr>
          <p:cNvSpPr/>
          <p:nvPr/>
        </p:nvSpPr>
        <p:spPr>
          <a:xfrm>
            <a:off x="8400032" y="746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28">
            <a:extLst>
              <a:ext uri="{FF2B5EF4-FFF2-40B4-BE49-F238E27FC236}">
                <a16:creationId xmlns:a16="http://schemas.microsoft.com/office/drawing/2014/main" id="{D3C5D53B-C716-5F04-1D90-8C32C0EBC5AB}"/>
              </a:ext>
            </a:extLst>
          </p:cNvPr>
          <p:cNvSpPr/>
          <p:nvPr/>
        </p:nvSpPr>
        <p:spPr>
          <a:xfrm>
            <a:off x="8619107" y="768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33375" y="190500"/>
                </a:moveTo>
                <a:cubicBezTo>
                  <a:pt x="333375" y="111645"/>
                  <a:pt x="269355" y="47625"/>
                  <a:pt x="190500" y="47625"/>
                </a:cubicBezTo>
                <a:cubicBezTo>
                  <a:pt x="111645" y="47625"/>
                  <a:pt x="47625" y="111645"/>
                  <a:pt x="47625" y="190500"/>
                </a:cubicBezTo>
                <a:cubicBezTo>
                  <a:pt x="47625" y="269355"/>
                  <a:pt x="111645" y="333375"/>
                  <a:pt x="190500" y="333375"/>
                </a:cubicBezTo>
                <a:cubicBezTo>
                  <a:pt x="269355" y="333375"/>
                  <a:pt x="333375" y="269355"/>
                  <a:pt x="333375" y="190500"/>
                </a:cubicBez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90500" y="250031"/>
                </a:moveTo>
                <a:cubicBezTo>
                  <a:pt x="223356" y="250031"/>
                  <a:pt x="250031" y="223356"/>
                  <a:pt x="250031" y="190500"/>
                </a:cubicBezTo>
                <a:cubicBezTo>
                  <a:pt x="250031" y="157644"/>
                  <a:pt x="223356" y="130969"/>
                  <a:pt x="190500" y="130969"/>
                </a:cubicBezTo>
                <a:cubicBezTo>
                  <a:pt x="157644" y="130969"/>
                  <a:pt x="130969" y="157644"/>
                  <a:pt x="130969" y="190500"/>
                </a:cubicBezTo>
                <a:cubicBezTo>
                  <a:pt x="130969" y="223356"/>
                  <a:pt x="157644" y="250031"/>
                  <a:pt x="190500" y="250031"/>
                </a:cubicBezTo>
                <a:close/>
                <a:moveTo>
                  <a:pt x="190500" y="83344"/>
                </a:moveTo>
                <a:cubicBezTo>
                  <a:pt x="249641" y="83344"/>
                  <a:pt x="297656" y="131359"/>
                  <a:pt x="297656" y="190500"/>
                </a:cubicBezTo>
                <a:cubicBezTo>
                  <a:pt x="297656" y="249641"/>
                  <a:pt x="249641" y="297656"/>
                  <a:pt x="190500" y="297656"/>
                </a:cubicBezTo>
                <a:cubicBezTo>
                  <a:pt x="131359" y="297656"/>
                  <a:pt x="83344" y="249641"/>
                  <a:pt x="83344" y="190500"/>
                </a:cubicBezTo>
                <a:cubicBezTo>
                  <a:pt x="83344" y="131359"/>
                  <a:pt x="131359" y="83344"/>
                  <a:pt x="190500" y="83344"/>
                </a:cubicBezTo>
                <a:close/>
                <a:moveTo>
                  <a:pt x="166688" y="190500"/>
                </a:moveTo>
                <a:cubicBezTo>
                  <a:pt x="166688" y="177358"/>
                  <a:pt x="177358" y="166688"/>
                  <a:pt x="190500" y="166688"/>
                </a:cubicBezTo>
                <a:cubicBezTo>
                  <a:pt x="203642" y="166688"/>
                  <a:pt x="214313" y="177358"/>
                  <a:pt x="214313" y="190500"/>
                </a:cubicBezTo>
                <a:cubicBezTo>
                  <a:pt x="214313" y="203642"/>
                  <a:pt x="203642" y="214313"/>
                  <a:pt x="190500" y="214313"/>
                </a:cubicBezTo>
                <a:cubicBezTo>
                  <a:pt x="177358" y="214313"/>
                  <a:pt x="166688" y="203642"/>
                  <a:pt x="166688" y="1905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609600"/>
          </a:xfrm>
          <a:custGeom>
            <a:avLst/>
            <a:gdLst/>
            <a:ahLst/>
            <a:cxnLst/>
            <a:rect l="l" t="t" r="r" b="b"/>
            <a:pathLst>
              <a:path w="101600" h="609600">
                <a:moveTo>
                  <a:pt x="0" y="0"/>
                </a:moveTo>
                <a:lnTo>
                  <a:pt x="101600" y="0"/>
                </a:lnTo>
                <a:lnTo>
                  <a:pt x="101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492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2192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Property_Prices_in_Tunisia.csv - 12,728 propriétés réelles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2590799"/>
            <a:ext cx="15240000" cy="3833845"/>
          </a:xfrm>
          <a:custGeom>
            <a:avLst/>
            <a:gdLst/>
            <a:ahLst/>
            <a:cxnLst/>
            <a:rect l="l" t="t" r="r" b="b"/>
            <a:pathLst>
              <a:path w="15240000" h="4216400">
                <a:moveTo>
                  <a:pt x="101615" y="0"/>
                </a:moveTo>
                <a:lnTo>
                  <a:pt x="15138385" y="0"/>
                </a:lnTo>
                <a:cubicBezTo>
                  <a:pt x="15194505" y="0"/>
                  <a:pt x="15240000" y="45495"/>
                  <a:pt x="15240000" y="101615"/>
                </a:cubicBezTo>
                <a:lnTo>
                  <a:pt x="15240000" y="4114785"/>
                </a:lnTo>
                <a:cubicBezTo>
                  <a:pt x="15240000" y="4170905"/>
                  <a:pt x="15194505" y="4216400"/>
                  <a:pt x="15138385" y="4216400"/>
                </a:cubicBezTo>
                <a:lnTo>
                  <a:pt x="101615" y="4216400"/>
                </a:lnTo>
                <a:cubicBezTo>
                  <a:pt x="45495" y="4216400"/>
                  <a:pt x="0" y="4170905"/>
                  <a:pt x="0" y="411478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08000" y="1777999"/>
            <a:ext cx="15240000" cy="1041397"/>
          </a:xfrm>
          <a:custGeom>
            <a:avLst/>
            <a:gdLst/>
            <a:ahLst/>
            <a:cxnLst/>
            <a:rect l="l" t="t" r="r" b="b"/>
            <a:pathLst>
              <a:path w="15240000" h="812800">
                <a:moveTo>
                  <a:pt x="0" y="0"/>
                </a:moveTo>
                <a:lnTo>
                  <a:pt x="15240000" y="0"/>
                </a:lnTo>
                <a:lnTo>
                  <a:pt x="152400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B5D79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3317" y="2095497"/>
            <a:ext cx="1478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Aperçu du Dataset (5 premières lignes)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519043"/>
              </p:ext>
            </p:extLst>
          </p:nvPr>
        </p:nvGraphicFramePr>
        <p:xfrm>
          <a:off x="540288" y="3022597"/>
          <a:ext cx="15240000" cy="3403602"/>
        </p:xfrm>
        <a:graphic>
          <a:graphicData uri="http://schemas.openxmlformats.org/drawingml/2006/table">
            <a:tbl>
              <a:tblPr/>
              <a:tblGrid>
                <a:gridCol w="2497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6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82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1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50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72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72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category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room_count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bathroom_count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size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city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region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log_price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Terrains et Fermes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0504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0504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0504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À Vendre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100,000.0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Ariana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Raoued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5.000000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Terrains et Fermes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0504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0504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0504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À Vendre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316,000.0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Ariana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Autres villes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5.499687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Appartements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À Louer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380.0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Ariana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Autres villes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2.579784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Locations vacances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À Louer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70.0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Ariana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Autres villes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1.845098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Appartements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113.0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À Vendre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1F497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170,000.0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Ariana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Ariana Ville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E2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5.230449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497D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10183" y="6908800"/>
            <a:ext cx="4940300" cy="1320800"/>
          </a:xfrm>
          <a:custGeom>
            <a:avLst/>
            <a:gdLst/>
            <a:ahLst/>
            <a:cxnLst/>
            <a:rect l="l" t="t" r="r" b="b"/>
            <a:pathLst>
              <a:path w="4940300" h="1320800">
                <a:moveTo>
                  <a:pt x="101596" y="0"/>
                </a:moveTo>
                <a:lnTo>
                  <a:pt x="4838704" y="0"/>
                </a:lnTo>
                <a:cubicBezTo>
                  <a:pt x="4894814" y="0"/>
                  <a:pt x="4940300" y="45486"/>
                  <a:pt x="4940300" y="101596"/>
                </a:cubicBezTo>
                <a:lnTo>
                  <a:pt x="4940300" y="1219204"/>
                </a:lnTo>
                <a:cubicBezTo>
                  <a:pt x="4940300" y="1275314"/>
                  <a:pt x="4894814" y="1320800"/>
                  <a:pt x="48387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49883" y="7112000"/>
            <a:ext cx="466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12,728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7033" y="7670800"/>
            <a:ext cx="454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Propriétés totales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57850" y="6908800"/>
            <a:ext cx="4940300" cy="1320800"/>
          </a:xfrm>
          <a:custGeom>
            <a:avLst/>
            <a:gdLst/>
            <a:ahLst/>
            <a:cxnLst/>
            <a:rect l="l" t="t" r="r" b="b"/>
            <a:pathLst>
              <a:path w="4940300" h="1320800">
                <a:moveTo>
                  <a:pt x="101596" y="0"/>
                </a:moveTo>
                <a:lnTo>
                  <a:pt x="4838704" y="0"/>
                </a:lnTo>
                <a:cubicBezTo>
                  <a:pt x="4894814" y="0"/>
                  <a:pt x="4940300" y="45486"/>
                  <a:pt x="4940300" y="101596"/>
                </a:cubicBezTo>
                <a:lnTo>
                  <a:pt x="4940300" y="1219204"/>
                </a:lnTo>
                <a:cubicBezTo>
                  <a:pt x="4940300" y="1275314"/>
                  <a:pt x="4894814" y="1320800"/>
                  <a:pt x="48387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797550" y="7112000"/>
            <a:ext cx="466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54700" y="7670800"/>
            <a:ext cx="454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05517" y="6908800"/>
            <a:ext cx="4940300" cy="1320800"/>
          </a:xfrm>
          <a:custGeom>
            <a:avLst/>
            <a:gdLst/>
            <a:ahLst/>
            <a:cxnLst/>
            <a:rect l="l" t="t" r="r" b="b"/>
            <a:pathLst>
              <a:path w="4940300" h="1320800">
                <a:moveTo>
                  <a:pt x="101596" y="0"/>
                </a:moveTo>
                <a:lnTo>
                  <a:pt x="4838704" y="0"/>
                </a:lnTo>
                <a:cubicBezTo>
                  <a:pt x="4894814" y="0"/>
                  <a:pt x="4940300" y="45486"/>
                  <a:pt x="4940300" y="101596"/>
                </a:cubicBezTo>
                <a:lnTo>
                  <a:pt x="4940300" y="1219204"/>
                </a:lnTo>
                <a:cubicBezTo>
                  <a:pt x="4940300" y="1275314"/>
                  <a:pt x="4894814" y="1320800"/>
                  <a:pt x="48387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10945217" y="7112000"/>
            <a:ext cx="466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002367" y="7670800"/>
            <a:ext cx="454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Villes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609600"/>
          </a:xfrm>
          <a:custGeom>
            <a:avLst/>
            <a:gdLst/>
            <a:ahLst/>
            <a:cxnLst/>
            <a:rect l="l" t="t" r="r" b="b"/>
            <a:pathLst>
              <a:path w="101600" h="609600">
                <a:moveTo>
                  <a:pt x="0" y="0"/>
                </a:moveTo>
                <a:lnTo>
                  <a:pt x="101600" y="0"/>
                </a:lnTo>
                <a:lnTo>
                  <a:pt x="101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497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Défis Techniques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2192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Problèmes de qualité et de dimensionnalité des données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803400"/>
            <a:ext cx="7467600" cy="3200400"/>
          </a:xfrm>
          <a:custGeom>
            <a:avLst/>
            <a:gdLst/>
            <a:ahLst/>
            <a:cxnLst/>
            <a:rect l="l" t="t" r="r" b="b"/>
            <a:pathLst>
              <a:path w="7467600" h="3200400">
                <a:moveTo>
                  <a:pt x="50800" y="0"/>
                </a:moveTo>
                <a:lnTo>
                  <a:pt x="7416800" y="0"/>
                </a:lnTo>
                <a:cubicBezTo>
                  <a:pt x="7444837" y="0"/>
                  <a:pt x="7467600" y="22763"/>
                  <a:pt x="7467600" y="50800"/>
                </a:cubicBezTo>
                <a:lnTo>
                  <a:pt x="7467600" y="3098787"/>
                </a:lnTo>
                <a:cubicBezTo>
                  <a:pt x="7467600" y="3154906"/>
                  <a:pt x="7422106" y="3200400"/>
                  <a:pt x="7365987" y="3200400"/>
                </a:cubicBezTo>
                <a:lnTo>
                  <a:pt x="101613" y="3200400"/>
                </a:lnTo>
                <a:cubicBezTo>
                  <a:pt x="45494" y="3200400"/>
                  <a:pt x="0" y="3154906"/>
                  <a:pt x="0" y="3098787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08000" y="1803400"/>
            <a:ext cx="7467600" cy="50800"/>
          </a:xfrm>
          <a:custGeom>
            <a:avLst/>
            <a:gdLst/>
            <a:ahLst/>
            <a:cxnLst/>
            <a:rect l="l" t="t" r="r" b="b"/>
            <a:pathLst>
              <a:path w="7467600" h="50800">
                <a:moveTo>
                  <a:pt x="50800" y="0"/>
                </a:moveTo>
                <a:lnTo>
                  <a:pt x="7416800" y="0"/>
                </a:lnTo>
                <a:cubicBezTo>
                  <a:pt x="7444837" y="0"/>
                  <a:pt x="7467600" y="22763"/>
                  <a:pt x="7467600" y="50800"/>
                </a:cubicBezTo>
                <a:lnTo>
                  <a:pt x="74676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62000" y="2082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85800" y="20828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25600" y="2082800"/>
            <a:ext cx="2908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Valeurs Manquantes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25600" y="24892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Terrains et Fermes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997200"/>
            <a:ext cx="6959600" cy="1270000"/>
          </a:xfrm>
          <a:custGeom>
            <a:avLst/>
            <a:gdLst/>
            <a:ahLst/>
            <a:cxnLst/>
            <a:rect l="l" t="t" r="r" b="b"/>
            <a:pathLst>
              <a:path w="6959600" h="1270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1168400"/>
                </a:lnTo>
                <a:cubicBezTo>
                  <a:pt x="6959600" y="1224475"/>
                  <a:pt x="6914075" y="1270000"/>
                  <a:pt x="685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0504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65200" y="32512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Pourcentage: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9159" y="3200400"/>
            <a:ext cx="110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14.4%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5200" y="3759200"/>
            <a:ext cx="665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1,823 propriétés avec features = -1.0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419600"/>
            <a:ext cx="706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Valeurs sentinelles invalides nécessitant une stratégie de suppression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0400" y="1803400"/>
            <a:ext cx="7467600" cy="3200400"/>
          </a:xfrm>
          <a:custGeom>
            <a:avLst/>
            <a:gdLst/>
            <a:ahLst/>
            <a:cxnLst/>
            <a:rect l="l" t="t" r="r" b="b"/>
            <a:pathLst>
              <a:path w="7467600" h="3200400">
                <a:moveTo>
                  <a:pt x="50800" y="0"/>
                </a:moveTo>
                <a:lnTo>
                  <a:pt x="7416800" y="0"/>
                </a:lnTo>
                <a:cubicBezTo>
                  <a:pt x="7444837" y="0"/>
                  <a:pt x="7467600" y="22763"/>
                  <a:pt x="7467600" y="50800"/>
                </a:cubicBezTo>
                <a:lnTo>
                  <a:pt x="7467600" y="3098787"/>
                </a:lnTo>
                <a:cubicBezTo>
                  <a:pt x="7467600" y="3154906"/>
                  <a:pt x="7422106" y="3200400"/>
                  <a:pt x="7365987" y="3200400"/>
                </a:cubicBezTo>
                <a:lnTo>
                  <a:pt x="101613" y="3200400"/>
                </a:lnTo>
                <a:cubicBezTo>
                  <a:pt x="45494" y="3200400"/>
                  <a:pt x="0" y="3154906"/>
                  <a:pt x="0" y="3098787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280400" y="1803400"/>
            <a:ext cx="7467600" cy="50800"/>
          </a:xfrm>
          <a:custGeom>
            <a:avLst/>
            <a:gdLst/>
            <a:ahLst/>
            <a:cxnLst/>
            <a:rect l="l" t="t" r="r" b="b"/>
            <a:pathLst>
              <a:path w="7467600" h="50800">
                <a:moveTo>
                  <a:pt x="50800" y="0"/>
                </a:moveTo>
                <a:lnTo>
                  <a:pt x="7416800" y="0"/>
                </a:lnTo>
                <a:cubicBezTo>
                  <a:pt x="7444837" y="0"/>
                  <a:pt x="7467600" y="22763"/>
                  <a:pt x="7467600" y="50800"/>
                </a:cubicBezTo>
                <a:lnTo>
                  <a:pt x="74676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534400" y="2082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458200" y="20828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98000" y="2082800"/>
            <a:ext cx="2908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98000" y="24892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Redondances dans les données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34400" y="2997200"/>
            <a:ext cx="6959600" cy="1270000"/>
          </a:xfrm>
          <a:custGeom>
            <a:avLst/>
            <a:gdLst/>
            <a:ahLst/>
            <a:cxnLst/>
            <a:rect l="l" t="t" r="r" b="b"/>
            <a:pathLst>
              <a:path w="6959600" h="1270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1168400"/>
                </a:lnTo>
                <a:cubicBezTo>
                  <a:pt x="6959600" y="1224475"/>
                  <a:pt x="6914075" y="1270000"/>
                  <a:pt x="685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A1B3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737600" y="32512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Pourcentage: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501614" y="3200400"/>
            <a:ext cx="97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2.2%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37600" y="3759200"/>
            <a:ext cx="665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245 entrées dupliquées identifiées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34400" y="4419600"/>
            <a:ext cx="706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Biais d'entraînement et surapprentissage potentiel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8000" y="5232400"/>
            <a:ext cx="7467600" cy="3200400"/>
          </a:xfrm>
          <a:custGeom>
            <a:avLst/>
            <a:gdLst/>
            <a:ahLst/>
            <a:cxnLst/>
            <a:rect l="l" t="t" r="r" b="b"/>
            <a:pathLst>
              <a:path w="7467600" h="3200400">
                <a:moveTo>
                  <a:pt x="50800" y="0"/>
                </a:moveTo>
                <a:lnTo>
                  <a:pt x="7416800" y="0"/>
                </a:lnTo>
                <a:cubicBezTo>
                  <a:pt x="7444837" y="0"/>
                  <a:pt x="7467600" y="22763"/>
                  <a:pt x="7467600" y="50800"/>
                </a:cubicBezTo>
                <a:lnTo>
                  <a:pt x="7467600" y="3098787"/>
                </a:lnTo>
                <a:cubicBezTo>
                  <a:pt x="7467600" y="3154906"/>
                  <a:pt x="7422106" y="3200400"/>
                  <a:pt x="7365987" y="3200400"/>
                </a:cubicBezTo>
                <a:lnTo>
                  <a:pt x="101613" y="3200400"/>
                </a:lnTo>
                <a:cubicBezTo>
                  <a:pt x="45494" y="3200400"/>
                  <a:pt x="0" y="3154906"/>
                  <a:pt x="0" y="3098787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08000" y="5232400"/>
            <a:ext cx="7467600" cy="50800"/>
          </a:xfrm>
          <a:custGeom>
            <a:avLst/>
            <a:gdLst/>
            <a:ahLst/>
            <a:cxnLst/>
            <a:rect l="l" t="t" r="r" b="b"/>
            <a:pathLst>
              <a:path w="7467600" h="50800">
                <a:moveTo>
                  <a:pt x="50800" y="0"/>
                </a:moveTo>
                <a:lnTo>
                  <a:pt x="7416800" y="0"/>
                </a:lnTo>
                <a:cubicBezTo>
                  <a:pt x="7444837" y="0"/>
                  <a:pt x="7467600" y="22763"/>
                  <a:pt x="7467600" y="50800"/>
                </a:cubicBezTo>
                <a:lnTo>
                  <a:pt x="74676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62000" y="5511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85800" y="55118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25600" y="5511800"/>
            <a:ext cx="350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 Asymétrique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25600" y="5918200"/>
            <a:ext cx="345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Skewness extrême des prix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426200"/>
            <a:ext cx="6959600" cy="1270000"/>
          </a:xfrm>
          <a:custGeom>
            <a:avLst/>
            <a:gdLst/>
            <a:ahLst/>
            <a:cxnLst/>
            <a:rect l="l" t="t" r="r" b="b"/>
            <a:pathLst>
              <a:path w="6959600" h="1270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1168400"/>
                </a:lnTo>
                <a:cubicBezTo>
                  <a:pt x="6959600" y="1224475"/>
                  <a:pt x="6914075" y="1270000"/>
                  <a:pt x="685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965200" y="6680200"/>
            <a:ext cx="115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Skewness: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29847" y="6629400"/>
            <a:ext cx="67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5200" y="7188200"/>
            <a:ext cx="665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 extrêmes à droite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2000" y="7848600"/>
            <a:ext cx="706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Transformation logarithmique nécessaire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0400" y="5232400"/>
            <a:ext cx="7467600" cy="3200400"/>
          </a:xfrm>
          <a:custGeom>
            <a:avLst/>
            <a:gdLst/>
            <a:ahLst/>
            <a:cxnLst/>
            <a:rect l="l" t="t" r="r" b="b"/>
            <a:pathLst>
              <a:path w="7467600" h="3200400">
                <a:moveTo>
                  <a:pt x="50800" y="0"/>
                </a:moveTo>
                <a:lnTo>
                  <a:pt x="7416800" y="0"/>
                </a:lnTo>
                <a:cubicBezTo>
                  <a:pt x="7444837" y="0"/>
                  <a:pt x="7467600" y="22763"/>
                  <a:pt x="7467600" y="50800"/>
                </a:cubicBezTo>
                <a:lnTo>
                  <a:pt x="7467600" y="3098787"/>
                </a:lnTo>
                <a:cubicBezTo>
                  <a:pt x="7467600" y="3154906"/>
                  <a:pt x="7422106" y="3200400"/>
                  <a:pt x="7365987" y="3200400"/>
                </a:cubicBezTo>
                <a:lnTo>
                  <a:pt x="101613" y="3200400"/>
                </a:lnTo>
                <a:cubicBezTo>
                  <a:pt x="45494" y="3200400"/>
                  <a:pt x="0" y="3154906"/>
                  <a:pt x="0" y="3098787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8280400" y="5232400"/>
            <a:ext cx="7467600" cy="50800"/>
          </a:xfrm>
          <a:custGeom>
            <a:avLst/>
            <a:gdLst/>
            <a:ahLst/>
            <a:cxnLst/>
            <a:rect l="l" t="t" r="r" b="b"/>
            <a:pathLst>
              <a:path w="7467600" h="50800">
                <a:moveTo>
                  <a:pt x="50800" y="0"/>
                </a:moveTo>
                <a:lnTo>
                  <a:pt x="7416800" y="0"/>
                </a:lnTo>
                <a:cubicBezTo>
                  <a:pt x="7444837" y="0"/>
                  <a:pt x="7467600" y="22763"/>
                  <a:pt x="7467600" y="50800"/>
                </a:cubicBezTo>
                <a:lnTo>
                  <a:pt x="74676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8534400" y="5511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8458200" y="55118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398000" y="5511800"/>
            <a:ext cx="304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Dimensionnalité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98000" y="5918200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Explosion du nombre de features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34400" y="6426200"/>
            <a:ext cx="6959600" cy="1270000"/>
          </a:xfrm>
          <a:custGeom>
            <a:avLst/>
            <a:gdLst/>
            <a:ahLst/>
            <a:cxnLst/>
            <a:rect l="l" t="t" r="r" b="b"/>
            <a:pathLst>
              <a:path w="6959600" h="1270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1168400"/>
                </a:lnTo>
                <a:cubicBezTo>
                  <a:pt x="6959600" y="1224475"/>
                  <a:pt x="6914075" y="1270000"/>
                  <a:pt x="685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0504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8737600" y="6680200"/>
            <a:ext cx="69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Villes: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903252" y="66294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37600" y="7188200"/>
            <a:ext cx="665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One-hot encoding requis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34400" y="7848600"/>
            <a:ext cx="706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Augmentation significative des features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609600"/>
          </a:xfrm>
          <a:custGeom>
            <a:avLst/>
            <a:gdLst/>
            <a:ahLst/>
            <a:cxnLst/>
            <a:rect l="l" t="t" r="r" b="b"/>
            <a:pathLst>
              <a:path w="101600" h="609600">
                <a:moveTo>
                  <a:pt x="0" y="0"/>
                </a:moveTo>
                <a:lnTo>
                  <a:pt x="101600" y="0"/>
                </a:lnTo>
                <a:lnTo>
                  <a:pt x="101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06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Prétraitement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2192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Chaîne de transformation des données (NO imputation -1.0)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778000"/>
            <a:ext cx="15240000" cy="2743200"/>
          </a:xfrm>
          <a:custGeom>
            <a:avLst/>
            <a:gdLst/>
            <a:ahLst/>
            <a:cxnLst/>
            <a:rect l="l" t="t" r="r" b="b"/>
            <a:pathLst>
              <a:path w="15240000" h="2743200">
                <a:moveTo>
                  <a:pt x="101608" y="0"/>
                </a:moveTo>
                <a:lnTo>
                  <a:pt x="15138392" y="0"/>
                </a:lnTo>
                <a:cubicBezTo>
                  <a:pt x="15194508" y="0"/>
                  <a:pt x="15240000" y="45492"/>
                  <a:pt x="15240000" y="101608"/>
                </a:cubicBezTo>
                <a:lnTo>
                  <a:pt x="15240000" y="2641592"/>
                </a:lnTo>
                <a:cubicBezTo>
                  <a:pt x="15240000" y="2697708"/>
                  <a:pt x="15194508" y="2743200"/>
                  <a:pt x="151383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5500" y="2120900"/>
            <a:ext cx="1460500" cy="2057400"/>
          </a:xfrm>
          <a:custGeom>
            <a:avLst/>
            <a:gdLst/>
            <a:ahLst/>
            <a:cxnLst/>
            <a:rect l="l" t="t" r="r" b="b"/>
            <a:pathLst>
              <a:path w="1460500" h="2057400">
                <a:moveTo>
                  <a:pt x="101607" y="0"/>
                </a:moveTo>
                <a:lnTo>
                  <a:pt x="1358893" y="0"/>
                </a:lnTo>
                <a:cubicBezTo>
                  <a:pt x="1415009" y="0"/>
                  <a:pt x="1460500" y="45491"/>
                  <a:pt x="1460500" y="101607"/>
                </a:cubicBezTo>
                <a:lnTo>
                  <a:pt x="1460500" y="1955793"/>
                </a:lnTo>
                <a:cubicBezTo>
                  <a:pt x="1460500" y="2011909"/>
                  <a:pt x="1415009" y="2057400"/>
                  <a:pt x="1358893" y="2057400"/>
                </a:cubicBezTo>
                <a:lnTo>
                  <a:pt x="101607" y="2057400"/>
                </a:lnTo>
                <a:cubicBezTo>
                  <a:pt x="45491" y="2057400"/>
                  <a:pt x="0" y="2011909"/>
                  <a:pt x="0" y="19557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 w="25400">
            <a:solidFill>
              <a:srgbClr val="1F49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46150" y="23368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12,728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2844800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6950" y="3200400"/>
            <a:ext cx="111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brutes initiales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52688" y="295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992438" y="2095500"/>
            <a:ext cx="1460500" cy="2108200"/>
          </a:xfrm>
          <a:custGeom>
            <a:avLst/>
            <a:gdLst/>
            <a:ahLst/>
            <a:cxnLst/>
            <a:rect l="l" t="t" r="r" b="b"/>
            <a:pathLst>
              <a:path w="1460500" h="2108200">
                <a:moveTo>
                  <a:pt x="101607" y="0"/>
                </a:moveTo>
                <a:lnTo>
                  <a:pt x="1358893" y="0"/>
                </a:lnTo>
                <a:cubicBezTo>
                  <a:pt x="1415009" y="0"/>
                  <a:pt x="1460500" y="45491"/>
                  <a:pt x="1460500" y="101607"/>
                </a:cubicBezTo>
                <a:lnTo>
                  <a:pt x="1460500" y="2006593"/>
                </a:lnTo>
                <a:cubicBezTo>
                  <a:pt x="1460500" y="2062709"/>
                  <a:pt x="1415009" y="2108200"/>
                  <a:pt x="1358893" y="2108200"/>
                </a:cubicBezTo>
                <a:lnTo>
                  <a:pt x="101607" y="2108200"/>
                </a:lnTo>
                <a:cubicBezTo>
                  <a:pt x="45491" y="2108200"/>
                  <a:pt x="0" y="2062709"/>
                  <a:pt x="0" y="20065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C0504D">
              <a:alpha val="10196"/>
            </a:srgbClr>
          </a:solidFill>
          <a:ln w="25400">
            <a:solidFill>
              <a:srgbClr val="C0504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113088" y="23114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-1,823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57538" y="2819400"/>
            <a:ext cx="1130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Terrains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63888" y="3479800"/>
            <a:ext cx="111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Suppression valeurs -1.0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19625" y="295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159375" y="2095500"/>
            <a:ext cx="1460500" cy="2108200"/>
          </a:xfrm>
          <a:custGeom>
            <a:avLst/>
            <a:gdLst/>
            <a:ahLst/>
            <a:cxnLst/>
            <a:rect l="l" t="t" r="r" b="b"/>
            <a:pathLst>
              <a:path w="1460500" h="2108200">
                <a:moveTo>
                  <a:pt x="101607" y="0"/>
                </a:moveTo>
                <a:lnTo>
                  <a:pt x="1358893" y="0"/>
                </a:lnTo>
                <a:cubicBezTo>
                  <a:pt x="1415009" y="0"/>
                  <a:pt x="1460500" y="45491"/>
                  <a:pt x="1460500" y="101607"/>
                </a:cubicBezTo>
                <a:lnTo>
                  <a:pt x="1460500" y="2006593"/>
                </a:lnTo>
                <a:cubicBezTo>
                  <a:pt x="1460500" y="2062709"/>
                  <a:pt x="1415009" y="2108200"/>
                  <a:pt x="1358893" y="2108200"/>
                </a:cubicBezTo>
                <a:lnTo>
                  <a:pt x="101607" y="2108200"/>
                </a:lnTo>
                <a:cubicBezTo>
                  <a:pt x="45491" y="2108200"/>
                  <a:pt x="0" y="2062709"/>
                  <a:pt x="0" y="20065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C0504D">
              <a:alpha val="10196"/>
            </a:srgbClr>
          </a:solidFill>
          <a:ln w="25400">
            <a:solidFill>
              <a:srgbClr val="C0504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280025" y="23114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-245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24475" y="2819400"/>
            <a:ext cx="1130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Duplicates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30825" y="3479800"/>
            <a:ext cx="111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Élimination doublons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86563" y="295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326313" y="2247900"/>
            <a:ext cx="1460500" cy="1803400"/>
          </a:xfrm>
          <a:custGeom>
            <a:avLst/>
            <a:gdLst/>
            <a:ahLst/>
            <a:cxnLst/>
            <a:rect l="l" t="t" r="r" b="b"/>
            <a:pathLst>
              <a:path w="1460500" h="1803400">
                <a:moveTo>
                  <a:pt x="101607" y="0"/>
                </a:moveTo>
                <a:lnTo>
                  <a:pt x="1358893" y="0"/>
                </a:lnTo>
                <a:cubicBezTo>
                  <a:pt x="1415009" y="0"/>
                  <a:pt x="1460500" y="45491"/>
                  <a:pt x="1460500" y="101607"/>
                </a:cubicBezTo>
                <a:lnTo>
                  <a:pt x="1460500" y="1701793"/>
                </a:lnTo>
                <a:cubicBezTo>
                  <a:pt x="1460500" y="1757909"/>
                  <a:pt x="1415009" y="1803400"/>
                  <a:pt x="1358893" y="1803400"/>
                </a:cubicBezTo>
                <a:lnTo>
                  <a:pt x="101607" y="1803400"/>
                </a:lnTo>
                <a:cubicBezTo>
                  <a:pt x="45491" y="1803400"/>
                  <a:pt x="0" y="1757909"/>
                  <a:pt x="0" y="17017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8FA1B3">
              <a:alpha val="10196"/>
            </a:srgbClr>
          </a:solidFill>
          <a:ln w="25400">
            <a:solidFill>
              <a:srgbClr val="8FA1B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446962" y="24638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1413" y="2971800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7763" y="3327400"/>
            <a:ext cx="111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Suppression outliers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53500" y="295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9493250" y="2374900"/>
            <a:ext cx="1600200" cy="1549400"/>
          </a:xfrm>
          <a:custGeom>
            <a:avLst/>
            <a:gdLst/>
            <a:ahLst/>
            <a:cxnLst/>
            <a:rect l="l" t="t" r="r" b="b"/>
            <a:pathLst>
              <a:path w="1600200" h="1549400">
                <a:moveTo>
                  <a:pt x="101594" y="0"/>
                </a:moveTo>
                <a:lnTo>
                  <a:pt x="1498606" y="0"/>
                </a:lnTo>
                <a:cubicBezTo>
                  <a:pt x="1554715" y="0"/>
                  <a:pt x="1600200" y="45485"/>
                  <a:pt x="1600200" y="101594"/>
                </a:cubicBezTo>
                <a:lnTo>
                  <a:pt x="1600200" y="1447806"/>
                </a:lnTo>
                <a:cubicBezTo>
                  <a:pt x="1600200" y="1503915"/>
                  <a:pt x="1554715" y="1549400"/>
                  <a:pt x="1498606" y="1549400"/>
                </a:cubicBezTo>
                <a:lnTo>
                  <a:pt x="101594" y="1549400"/>
                </a:lnTo>
                <a:cubicBezTo>
                  <a:pt x="45485" y="1549400"/>
                  <a:pt x="0" y="1503915"/>
                  <a:pt x="0" y="14478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 w="25400">
            <a:solidFill>
              <a:srgbClr val="1F49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9613900" y="2590800"/>
            <a:ext cx="135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log()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58350" y="309880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Price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64700" y="3454400"/>
            <a:ext cx="125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262320" y="295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1802070" y="2247900"/>
            <a:ext cx="1460500" cy="1803400"/>
          </a:xfrm>
          <a:custGeom>
            <a:avLst/>
            <a:gdLst/>
            <a:ahLst/>
            <a:cxnLst/>
            <a:rect l="l" t="t" r="r" b="b"/>
            <a:pathLst>
              <a:path w="1460500" h="1803400">
                <a:moveTo>
                  <a:pt x="101607" y="0"/>
                </a:moveTo>
                <a:lnTo>
                  <a:pt x="1358893" y="0"/>
                </a:lnTo>
                <a:cubicBezTo>
                  <a:pt x="1415009" y="0"/>
                  <a:pt x="1460500" y="45491"/>
                  <a:pt x="1460500" y="101607"/>
                </a:cubicBezTo>
                <a:lnTo>
                  <a:pt x="1460500" y="1701793"/>
                </a:lnTo>
                <a:cubicBezTo>
                  <a:pt x="1460500" y="1757909"/>
                  <a:pt x="1415009" y="1803400"/>
                  <a:pt x="1358893" y="1803400"/>
                </a:cubicBezTo>
                <a:lnTo>
                  <a:pt x="101607" y="1803400"/>
                </a:lnTo>
                <a:cubicBezTo>
                  <a:pt x="45491" y="1803400"/>
                  <a:pt x="0" y="1757909"/>
                  <a:pt x="0" y="17017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8FA1B3">
              <a:alpha val="10196"/>
            </a:srgbClr>
          </a:solidFill>
          <a:ln w="25400">
            <a:solidFill>
              <a:srgbClr val="8FA1B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1922720" y="24638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967170" y="2971800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973520" y="3327400"/>
            <a:ext cx="111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 + One-Hot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429258" y="295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3969008" y="2222500"/>
            <a:ext cx="1460500" cy="1854200"/>
          </a:xfrm>
          <a:custGeom>
            <a:avLst/>
            <a:gdLst/>
            <a:ahLst/>
            <a:cxnLst/>
            <a:rect l="l" t="t" r="r" b="b"/>
            <a:pathLst>
              <a:path w="1460500" h="1854200">
                <a:moveTo>
                  <a:pt x="101607" y="0"/>
                </a:moveTo>
                <a:lnTo>
                  <a:pt x="1358893" y="0"/>
                </a:lnTo>
                <a:cubicBezTo>
                  <a:pt x="1415009" y="0"/>
                  <a:pt x="1460500" y="45491"/>
                  <a:pt x="1460500" y="101607"/>
                </a:cubicBezTo>
                <a:lnTo>
                  <a:pt x="1460500" y="1752593"/>
                </a:lnTo>
                <a:cubicBezTo>
                  <a:pt x="1460500" y="1808709"/>
                  <a:pt x="1415009" y="1854200"/>
                  <a:pt x="1358893" y="1854200"/>
                </a:cubicBezTo>
                <a:lnTo>
                  <a:pt x="101607" y="1854200"/>
                </a:lnTo>
                <a:cubicBezTo>
                  <a:pt x="45491" y="1854200"/>
                  <a:pt x="0" y="1808709"/>
                  <a:pt x="0" y="17525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1F497D"/>
          </a:solidFill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4089658" y="24384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6,992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134108" y="2946400"/>
            <a:ext cx="1130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Dataset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140458" y="36068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 features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3400" y="4724400"/>
            <a:ext cx="4914900" cy="2438400"/>
          </a:xfrm>
          <a:custGeom>
            <a:avLst/>
            <a:gdLst/>
            <a:ahLst/>
            <a:cxnLst/>
            <a:rect l="l" t="t" r="r" b="b"/>
            <a:pathLst>
              <a:path w="4914900" h="2438400">
                <a:moveTo>
                  <a:pt x="50800" y="0"/>
                </a:moveTo>
                <a:lnTo>
                  <a:pt x="4813292" y="0"/>
                </a:lnTo>
                <a:cubicBezTo>
                  <a:pt x="4869408" y="0"/>
                  <a:pt x="4914900" y="45492"/>
                  <a:pt x="4914900" y="101608"/>
                </a:cubicBezTo>
                <a:lnTo>
                  <a:pt x="4914900" y="2336792"/>
                </a:lnTo>
                <a:cubicBezTo>
                  <a:pt x="4914900" y="2392908"/>
                  <a:pt x="4869408" y="2438400"/>
                  <a:pt x="4813292" y="2438400"/>
                </a:cubicBezTo>
                <a:lnTo>
                  <a:pt x="50800" y="2438400"/>
                </a:lnTo>
                <a:cubicBezTo>
                  <a:pt x="22744" y="2438400"/>
                  <a:pt x="0" y="2415656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533400" y="4724400"/>
            <a:ext cx="50800" cy="2438400"/>
          </a:xfrm>
          <a:custGeom>
            <a:avLst/>
            <a:gdLst/>
            <a:ahLst/>
            <a:cxnLst/>
            <a:rect l="l" t="t" r="r" b="b"/>
            <a:pathLst>
              <a:path w="50800" h="2438400">
                <a:moveTo>
                  <a:pt x="50800" y="0"/>
                </a:moveTo>
                <a:lnTo>
                  <a:pt x="50800" y="0"/>
                </a:lnTo>
                <a:lnTo>
                  <a:pt x="50800" y="2438400"/>
                </a:ln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844550" y="5029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130300" y="49784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Suppression Terrains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2800" y="548640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Retrait des propriétés sans caractéristiques (100% valeurs -1.0).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800" y="62484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C0504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965200" y="6451600"/>
            <a:ext cx="22201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1,823 lignes éliminées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681067" y="4724400"/>
            <a:ext cx="4914900" cy="2438400"/>
          </a:xfrm>
          <a:custGeom>
            <a:avLst/>
            <a:gdLst/>
            <a:ahLst/>
            <a:cxnLst/>
            <a:rect l="l" t="t" r="r" b="b"/>
            <a:pathLst>
              <a:path w="4914900" h="2438400">
                <a:moveTo>
                  <a:pt x="50800" y="0"/>
                </a:moveTo>
                <a:lnTo>
                  <a:pt x="4813292" y="0"/>
                </a:lnTo>
                <a:cubicBezTo>
                  <a:pt x="4869408" y="0"/>
                  <a:pt x="4914900" y="45492"/>
                  <a:pt x="4914900" y="101608"/>
                </a:cubicBezTo>
                <a:lnTo>
                  <a:pt x="4914900" y="2336792"/>
                </a:lnTo>
                <a:cubicBezTo>
                  <a:pt x="4914900" y="2392908"/>
                  <a:pt x="4869408" y="2438400"/>
                  <a:pt x="4813292" y="2438400"/>
                </a:cubicBezTo>
                <a:lnTo>
                  <a:pt x="50800" y="2438400"/>
                </a:lnTo>
                <a:cubicBezTo>
                  <a:pt x="22744" y="2438400"/>
                  <a:pt x="0" y="2415656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5681067" y="4724400"/>
            <a:ext cx="50800" cy="2438400"/>
          </a:xfrm>
          <a:custGeom>
            <a:avLst/>
            <a:gdLst/>
            <a:ahLst/>
            <a:cxnLst/>
            <a:rect l="l" t="t" r="r" b="b"/>
            <a:pathLst>
              <a:path w="50800" h="2438400">
                <a:moveTo>
                  <a:pt x="50800" y="0"/>
                </a:moveTo>
                <a:lnTo>
                  <a:pt x="50800" y="0"/>
                </a:lnTo>
                <a:lnTo>
                  <a:pt x="50800" y="2438400"/>
                </a:ln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008092" y="50292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95250" y="0"/>
                </a:moveTo>
                <a:cubicBezTo>
                  <a:pt x="77738" y="0"/>
                  <a:pt x="63500" y="14238"/>
                  <a:pt x="63500" y="31750"/>
                </a:cubicBezTo>
                <a:lnTo>
                  <a:pt x="63500" y="158750"/>
                </a:lnTo>
                <a:cubicBezTo>
                  <a:pt x="63500" y="176262"/>
                  <a:pt x="77738" y="190500"/>
                  <a:pt x="95250" y="190500"/>
                </a:cubicBezTo>
                <a:lnTo>
                  <a:pt x="190500" y="190500"/>
                </a:lnTo>
                <a:cubicBezTo>
                  <a:pt x="208012" y="190500"/>
                  <a:pt x="222250" y="176262"/>
                  <a:pt x="222250" y="158750"/>
                </a:cubicBezTo>
                <a:lnTo>
                  <a:pt x="222250" y="59234"/>
                </a:lnTo>
                <a:cubicBezTo>
                  <a:pt x="222250" y="50602"/>
                  <a:pt x="218728" y="42317"/>
                  <a:pt x="212477" y="36314"/>
                </a:cubicBezTo>
                <a:lnTo>
                  <a:pt x="183852" y="8830"/>
                </a:lnTo>
                <a:cubicBezTo>
                  <a:pt x="177949" y="3175"/>
                  <a:pt x="170061" y="0"/>
                  <a:pt x="161875" y="0"/>
                </a:cubicBezTo>
                <a:lnTo>
                  <a:pt x="95250" y="0"/>
                </a:lnTo>
                <a:close/>
                <a:moveTo>
                  <a:pt x="31750" y="63500"/>
                </a:moveTo>
                <a:cubicBezTo>
                  <a:pt x="14238" y="63500"/>
                  <a:pt x="0" y="77738"/>
                  <a:pt x="0" y="952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27000" y="254000"/>
                </a:lnTo>
                <a:cubicBezTo>
                  <a:pt x="144512" y="254000"/>
                  <a:pt x="158750" y="239762"/>
                  <a:pt x="158750" y="222250"/>
                </a:cubicBezTo>
                <a:lnTo>
                  <a:pt x="158750" y="214313"/>
                </a:lnTo>
                <a:lnTo>
                  <a:pt x="127000" y="214313"/>
                </a:lnTo>
                <a:lnTo>
                  <a:pt x="127000" y="222250"/>
                </a:lnTo>
                <a:lnTo>
                  <a:pt x="31750" y="222250"/>
                </a:lnTo>
                <a:lnTo>
                  <a:pt x="31750" y="95250"/>
                </a:lnTo>
                <a:lnTo>
                  <a:pt x="39688" y="95250"/>
                </a:lnTo>
                <a:lnTo>
                  <a:pt x="39688" y="63500"/>
                </a:lnTo>
                <a:lnTo>
                  <a:pt x="31750" y="63500"/>
                </a:ln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277967" y="49784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Élimination Doublons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960467" y="548640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Retrait des annonces redondantes pour éviter le biais d'entraînement.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960467" y="62484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FA1B3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112867" y="6451600"/>
            <a:ext cx="21288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245 doublons retirés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828734" y="4724400"/>
            <a:ext cx="4914900" cy="2438400"/>
          </a:xfrm>
          <a:custGeom>
            <a:avLst/>
            <a:gdLst/>
            <a:ahLst/>
            <a:cxnLst/>
            <a:rect l="l" t="t" r="r" b="b"/>
            <a:pathLst>
              <a:path w="4914900" h="2438400">
                <a:moveTo>
                  <a:pt x="50800" y="0"/>
                </a:moveTo>
                <a:lnTo>
                  <a:pt x="4813292" y="0"/>
                </a:lnTo>
                <a:cubicBezTo>
                  <a:pt x="4869408" y="0"/>
                  <a:pt x="4914900" y="45492"/>
                  <a:pt x="4914900" y="101608"/>
                </a:cubicBezTo>
                <a:lnTo>
                  <a:pt x="4914900" y="2336792"/>
                </a:lnTo>
                <a:cubicBezTo>
                  <a:pt x="4914900" y="2392908"/>
                  <a:pt x="4869408" y="2438400"/>
                  <a:pt x="4813292" y="2438400"/>
                </a:cubicBezTo>
                <a:lnTo>
                  <a:pt x="50800" y="2438400"/>
                </a:lnTo>
                <a:cubicBezTo>
                  <a:pt x="22744" y="2438400"/>
                  <a:pt x="0" y="2415656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10828734" y="4724400"/>
            <a:ext cx="50800" cy="2438400"/>
          </a:xfrm>
          <a:custGeom>
            <a:avLst/>
            <a:gdLst/>
            <a:ahLst/>
            <a:cxnLst/>
            <a:rect l="l" t="t" r="r" b="b"/>
            <a:pathLst>
              <a:path w="50800" h="2438400">
                <a:moveTo>
                  <a:pt x="50800" y="0"/>
                </a:moveTo>
                <a:lnTo>
                  <a:pt x="50800" y="0"/>
                </a:lnTo>
                <a:lnTo>
                  <a:pt x="50800" y="2438400"/>
                </a:ln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11139884" y="5029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11425634" y="49784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Log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08134" y="548640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log() pour normaliser la distribution asymétrique des prix.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108134" y="62484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11260534" y="6451600"/>
            <a:ext cx="18520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Skewness réduite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08000" y="7366000"/>
            <a:ext cx="15240000" cy="787400"/>
          </a:xfrm>
          <a:custGeom>
            <a:avLst/>
            <a:gdLst/>
            <a:ahLst/>
            <a:cxnLst/>
            <a:rect l="l" t="t" r="r" b="b"/>
            <a:pathLst>
              <a:path w="15240000" h="787400">
                <a:moveTo>
                  <a:pt x="101598" y="0"/>
                </a:moveTo>
                <a:lnTo>
                  <a:pt x="15138402" y="0"/>
                </a:lnTo>
                <a:cubicBezTo>
                  <a:pt x="15194513" y="0"/>
                  <a:pt x="15240000" y="45487"/>
                  <a:pt x="15240000" y="101598"/>
                </a:cubicBezTo>
                <a:lnTo>
                  <a:pt x="15240000" y="685802"/>
                </a:lnTo>
                <a:cubicBezTo>
                  <a:pt x="15240000" y="741913"/>
                  <a:pt x="15194513" y="787400"/>
                  <a:pt x="15138402" y="787400"/>
                </a:cubicBezTo>
                <a:lnTo>
                  <a:pt x="101598" y="787400"/>
                </a:lnTo>
                <a:cubicBezTo>
                  <a:pt x="45487" y="787400"/>
                  <a:pt x="0" y="741913"/>
                  <a:pt x="0" y="685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863600" y="7569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66688" y="119063"/>
                </a:moveTo>
                <a:cubicBezTo>
                  <a:pt x="166688" y="105920"/>
                  <a:pt x="177358" y="95250"/>
                  <a:pt x="190500" y="95250"/>
                </a:cubicBezTo>
                <a:cubicBezTo>
                  <a:pt x="203642" y="95250"/>
                  <a:pt x="214313" y="105920"/>
                  <a:pt x="214313" y="119063"/>
                </a:cubicBezTo>
                <a:cubicBezTo>
                  <a:pt x="214313" y="132205"/>
                  <a:pt x="203642" y="142875"/>
                  <a:pt x="190500" y="142875"/>
                </a:cubicBezTo>
                <a:cubicBezTo>
                  <a:pt x="177358" y="142875"/>
                  <a:pt x="166688" y="132205"/>
                  <a:pt x="166688" y="119063"/>
                </a:cubicBezTo>
                <a:close/>
                <a:moveTo>
                  <a:pt x="160734" y="166688"/>
                </a:moveTo>
                <a:lnTo>
                  <a:pt x="196453" y="166688"/>
                </a:lnTo>
                <a:cubicBezTo>
                  <a:pt x="206350" y="166688"/>
                  <a:pt x="214313" y="174650"/>
                  <a:pt x="214313" y="184547"/>
                </a:cubicBezTo>
                <a:lnTo>
                  <a:pt x="214313" y="250031"/>
                </a:ln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60734" y="285750"/>
                </a:lnTo>
                <a:cubicBezTo>
                  <a:pt x="150837" y="285750"/>
                  <a:pt x="142875" y="277788"/>
                  <a:pt x="142875" y="267891"/>
                </a:cubicBezTo>
                <a:cubicBezTo>
                  <a:pt x="142875" y="257994"/>
                  <a:pt x="150837" y="250031"/>
                  <a:pt x="160734" y="250031"/>
                </a:cubicBezTo>
                <a:lnTo>
                  <a:pt x="178594" y="250031"/>
                </a:lnTo>
                <a:lnTo>
                  <a:pt x="178594" y="202406"/>
                </a:lnTo>
                <a:lnTo>
                  <a:pt x="160734" y="202406"/>
                </a:lnTo>
                <a:cubicBezTo>
                  <a:pt x="150837" y="202406"/>
                  <a:pt x="142875" y="194444"/>
                  <a:pt x="142875" y="184547"/>
                </a:cubicBezTo>
                <a:cubicBezTo>
                  <a:pt x="142875" y="174650"/>
                  <a:pt x="150837" y="166688"/>
                  <a:pt x="160734" y="1666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1492250" y="7581900"/>
            <a:ext cx="1134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Choix Méthodologique: Aucune imputation des valeurs -1.0 effectuée, conformément aux meilleures pratiques ML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981" y="445981"/>
            <a:ext cx="89196" cy="535177"/>
          </a:xfrm>
          <a:custGeom>
            <a:avLst/>
            <a:gdLst/>
            <a:ahLst/>
            <a:cxnLst/>
            <a:rect l="l" t="t" r="r" b="b"/>
            <a:pathLst>
              <a:path w="89196" h="535177">
                <a:moveTo>
                  <a:pt x="0" y="0"/>
                </a:moveTo>
                <a:lnTo>
                  <a:pt x="89196" y="0"/>
                </a:lnTo>
                <a:lnTo>
                  <a:pt x="89196" y="535177"/>
                </a:lnTo>
                <a:lnTo>
                  <a:pt x="0" y="535177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68971" y="445981"/>
            <a:ext cx="5095331" cy="53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14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Exploratoire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5981" y="1070354"/>
            <a:ext cx="15475534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6" dirty="0" err="1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</a:t>
            </a:r>
            <a:r>
              <a:rPr lang="en-US" sz="1756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corrélations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695450" y="1771650"/>
            <a:ext cx="13163550" cy="6926369"/>
          </a:xfrm>
          <a:custGeom>
            <a:avLst/>
            <a:gdLst/>
            <a:ahLst/>
            <a:cxnLst/>
            <a:rect l="l" t="t" r="r" b="b"/>
            <a:pathLst>
              <a:path w="7592823" h="3478650">
                <a:moveTo>
                  <a:pt x="89193" y="0"/>
                </a:moveTo>
                <a:lnTo>
                  <a:pt x="7503630" y="0"/>
                </a:lnTo>
                <a:cubicBezTo>
                  <a:pt x="7552890" y="0"/>
                  <a:pt x="7592823" y="39933"/>
                  <a:pt x="7592823" y="89193"/>
                </a:cubicBezTo>
                <a:lnTo>
                  <a:pt x="7592823" y="3389458"/>
                </a:lnTo>
                <a:cubicBezTo>
                  <a:pt x="7592823" y="3438717"/>
                  <a:pt x="7552890" y="3478650"/>
                  <a:pt x="7503630" y="3478650"/>
                </a:cubicBezTo>
                <a:lnTo>
                  <a:pt x="89193" y="3478650"/>
                </a:lnTo>
                <a:cubicBezTo>
                  <a:pt x="39933" y="3478650"/>
                  <a:pt x="0" y="3438717"/>
                  <a:pt x="0" y="3389458"/>
                </a:cubicBezTo>
                <a:lnTo>
                  <a:pt x="0" y="89193"/>
                </a:lnTo>
                <a:cubicBezTo>
                  <a:pt x="0" y="39933"/>
                  <a:pt x="39933" y="0"/>
                  <a:pt x="89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67243" dist="11149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4" name="Image 23" descr="Une image contenant texte, capture d’écran, carré, Rectangle&#10;&#10;Le contenu généré par l’IA peut être incorrect.">
            <a:extLst>
              <a:ext uri="{FF2B5EF4-FFF2-40B4-BE49-F238E27FC236}">
                <a16:creationId xmlns:a16="http://schemas.microsoft.com/office/drawing/2014/main" id="{232FF5A2-C740-AA49-C443-0C18C716D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832" y="1874897"/>
            <a:ext cx="8726944" cy="67198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08564489fa93224fc79236a5aab3c121567271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7" b="787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85000"/>
                </a:srgbClr>
              </a:gs>
              <a:gs pos="100000">
                <a:srgbClr val="E7A46F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08000" y="2768600"/>
            <a:ext cx="4140200" cy="122496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39750" y="2130425"/>
            <a:ext cx="943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Justification des Modèles de Machine Learning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9750" y="4545562"/>
            <a:ext cx="4864100" cy="2255287"/>
          </a:xfrm>
          <a:custGeom>
            <a:avLst/>
            <a:gdLst/>
            <a:ahLst/>
            <a:cxnLst/>
            <a:rect l="l" t="t" r="r" b="b"/>
            <a:pathLst>
              <a:path w="4864100" h="1079500">
                <a:moveTo>
                  <a:pt x="101603" y="0"/>
                </a:moveTo>
                <a:lnTo>
                  <a:pt x="4762497" y="0"/>
                </a:lnTo>
                <a:cubicBezTo>
                  <a:pt x="4818611" y="0"/>
                  <a:pt x="4864100" y="45489"/>
                  <a:pt x="4864100" y="101603"/>
                </a:cubicBezTo>
                <a:lnTo>
                  <a:pt x="4864100" y="977897"/>
                </a:lnTo>
                <a:cubicBezTo>
                  <a:pt x="4864100" y="1034011"/>
                  <a:pt x="4818611" y="1079500"/>
                  <a:pt x="4762497" y="1079500"/>
                </a:cubicBezTo>
                <a:lnTo>
                  <a:pt x="101603" y="1079500"/>
                </a:lnTo>
                <a:cubicBezTo>
                  <a:pt x="45489" y="1079500"/>
                  <a:pt x="0" y="1034011"/>
                  <a:pt x="0" y="977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675423" y="4762791"/>
            <a:ext cx="592753" cy="731287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 sz="3200" dirty="0"/>
          </a:p>
        </p:txBody>
      </p:sp>
      <p:sp>
        <p:nvSpPr>
          <p:cNvPr id="12" name="Text 9"/>
          <p:cNvSpPr/>
          <p:nvPr/>
        </p:nvSpPr>
        <p:spPr>
          <a:xfrm>
            <a:off x="878892" y="5899149"/>
            <a:ext cx="453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Linéaire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721350" y="4545563"/>
            <a:ext cx="4864100" cy="2255286"/>
          </a:xfrm>
          <a:custGeom>
            <a:avLst/>
            <a:gdLst/>
            <a:ahLst/>
            <a:cxnLst/>
            <a:rect l="l" t="t" r="r" b="b"/>
            <a:pathLst>
              <a:path w="4864100" h="1079500">
                <a:moveTo>
                  <a:pt x="101603" y="0"/>
                </a:moveTo>
                <a:lnTo>
                  <a:pt x="4762497" y="0"/>
                </a:lnTo>
                <a:cubicBezTo>
                  <a:pt x="4818611" y="0"/>
                  <a:pt x="4864100" y="45489"/>
                  <a:pt x="4864100" y="101603"/>
                </a:cubicBezTo>
                <a:lnTo>
                  <a:pt x="4864100" y="977897"/>
                </a:lnTo>
                <a:cubicBezTo>
                  <a:pt x="4864100" y="1034011"/>
                  <a:pt x="4818611" y="1079500"/>
                  <a:pt x="4762497" y="1079500"/>
                </a:cubicBezTo>
                <a:lnTo>
                  <a:pt x="101603" y="1079500"/>
                </a:lnTo>
                <a:cubicBezTo>
                  <a:pt x="45489" y="1079500"/>
                  <a:pt x="0" y="1034011"/>
                  <a:pt x="0" y="977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7867650" y="4762791"/>
            <a:ext cx="571500" cy="665131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-19050"/>
                </a:moveTo>
                <a:cubicBezTo>
                  <a:pt x="137517" y="-19050"/>
                  <a:pt x="141506" y="-17205"/>
                  <a:pt x="144244" y="-13990"/>
                </a:cubicBezTo>
                <a:lnTo>
                  <a:pt x="225207" y="81260"/>
                </a:lnTo>
                <a:cubicBezTo>
                  <a:pt x="228838" y="85487"/>
                  <a:pt x="229612" y="91440"/>
                  <a:pt x="227290" y="96500"/>
                </a:cubicBezTo>
                <a:cubicBezTo>
                  <a:pt x="224969" y="101560"/>
                  <a:pt x="219908" y="104775"/>
                  <a:pt x="214313" y="104775"/>
                </a:cubicBezTo>
                <a:lnTo>
                  <a:pt x="199489" y="104775"/>
                </a:lnTo>
                <a:lnTo>
                  <a:pt x="244257" y="157460"/>
                </a:lnTo>
                <a:cubicBezTo>
                  <a:pt x="247888" y="161687"/>
                  <a:pt x="248662" y="167640"/>
                  <a:pt x="246340" y="172700"/>
                </a:cubicBezTo>
                <a:cubicBezTo>
                  <a:pt x="244019" y="177760"/>
                  <a:pt x="238958" y="180975"/>
                  <a:pt x="233363" y="180975"/>
                </a:cubicBezTo>
                <a:lnTo>
                  <a:pt x="210443" y="180975"/>
                </a:lnTo>
                <a:lnTo>
                  <a:pt x="263307" y="243185"/>
                </a:lnTo>
                <a:cubicBezTo>
                  <a:pt x="266938" y="247412"/>
                  <a:pt x="267712" y="253365"/>
                  <a:pt x="265390" y="258425"/>
                </a:cubicBezTo>
                <a:cubicBezTo>
                  <a:pt x="263069" y="263485"/>
                  <a:pt x="258008" y="266700"/>
                  <a:pt x="252413" y="266700"/>
                </a:cubicBezTo>
                <a:lnTo>
                  <a:pt x="152400" y="266700"/>
                </a:lnTo>
                <a:lnTo>
                  <a:pt x="152400" y="304800"/>
                </a:lnTo>
                <a:cubicBezTo>
                  <a:pt x="152400" y="315337"/>
                  <a:pt x="143887" y="323850"/>
                  <a:pt x="133350" y="323850"/>
                </a:cubicBezTo>
                <a:cubicBezTo>
                  <a:pt x="122813" y="323850"/>
                  <a:pt x="114300" y="315337"/>
                  <a:pt x="114300" y="304800"/>
                </a:cubicBezTo>
                <a:lnTo>
                  <a:pt x="114300" y="266700"/>
                </a:lnTo>
                <a:lnTo>
                  <a:pt x="14288" y="266700"/>
                </a:lnTo>
                <a:cubicBezTo>
                  <a:pt x="8692" y="266700"/>
                  <a:pt x="3631" y="263485"/>
                  <a:pt x="1310" y="258425"/>
                </a:cubicBezTo>
                <a:cubicBezTo>
                  <a:pt x="-1012" y="253365"/>
                  <a:pt x="-238" y="247412"/>
                  <a:pt x="3393" y="243185"/>
                </a:cubicBezTo>
                <a:lnTo>
                  <a:pt x="56257" y="180975"/>
                </a:lnTo>
                <a:lnTo>
                  <a:pt x="33338" y="180975"/>
                </a:lnTo>
                <a:cubicBezTo>
                  <a:pt x="27742" y="180975"/>
                  <a:pt x="22681" y="177760"/>
                  <a:pt x="20360" y="172700"/>
                </a:cubicBezTo>
                <a:cubicBezTo>
                  <a:pt x="18038" y="167640"/>
                  <a:pt x="18812" y="161687"/>
                  <a:pt x="22443" y="157460"/>
                </a:cubicBezTo>
                <a:lnTo>
                  <a:pt x="67211" y="104775"/>
                </a:lnTo>
                <a:lnTo>
                  <a:pt x="52388" y="104775"/>
                </a:lnTo>
                <a:cubicBezTo>
                  <a:pt x="46792" y="104775"/>
                  <a:pt x="41731" y="101560"/>
                  <a:pt x="39410" y="96500"/>
                </a:cubicBezTo>
                <a:cubicBezTo>
                  <a:pt x="37088" y="91440"/>
                  <a:pt x="37862" y="85487"/>
                  <a:pt x="41493" y="81260"/>
                </a:cubicBezTo>
                <a:lnTo>
                  <a:pt x="122456" y="-13990"/>
                </a:lnTo>
                <a:cubicBezTo>
                  <a:pt x="125194" y="-17205"/>
                  <a:pt x="129183" y="-19050"/>
                  <a:pt x="133350" y="-1905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15" name="Text 12"/>
          <p:cNvSpPr/>
          <p:nvPr/>
        </p:nvSpPr>
        <p:spPr>
          <a:xfrm>
            <a:off x="5972175" y="5838823"/>
            <a:ext cx="4533900" cy="37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3200" dirty="0"/>
          </a:p>
        </p:txBody>
      </p:sp>
      <p:sp>
        <p:nvSpPr>
          <p:cNvPr id="16" name="Shape 13"/>
          <p:cNvSpPr/>
          <p:nvPr/>
        </p:nvSpPr>
        <p:spPr>
          <a:xfrm>
            <a:off x="10915650" y="4545562"/>
            <a:ext cx="4864100" cy="2255286"/>
          </a:xfrm>
          <a:custGeom>
            <a:avLst/>
            <a:gdLst/>
            <a:ahLst/>
            <a:cxnLst/>
            <a:rect l="l" t="t" r="r" b="b"/>
            <a:pathLst>
              <a:path w="4864100" h="1079500">
                <a:moveTo>
                  <a:pt x="101603" y="0"/>
                </a:moveTo>
                <a:lnTo>
                  <a:pt x="4762497" y="0"/>
                </a:lnTo>
                <a:cubicBezTo>
                  <a:pt x="4818611" y="0"/>
                  <a:pt x="4864100" y="45489"/>
                  <a:pt x="4864100" y="101603"/>
                </a:cubicBezTo>
                <a:lnTo>
                  <a:pt x="4864100" y="977897"/>
                </a:lnTo>
                <a:cubicBezTo>
                  <a:pt x="4864100" y="1034011"/>
                  <a:pt x="4818611" y="1079500"/>
                  <a:pt x="4762497" y="1079500"/>
                </a:cubicBezTo>
                <a:lnTo>
                  <a:pt x="101603" y="1079500"/>
                </a:lnTo>
                <a:cubicBezTo>
                  <a:pt x="45489" y="1079500"/>
                  <a:pt x="0" y="1034011"/>
                  <a:pt x="0" y="977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13014325" y="4729714"/>
            <a:ext cx="666750" cy="73128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11182350" y="5899149"/>
            <a:ext cx="453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ccc79759bd502b501f5bf052c1db6e18f116c0c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12460" b="1246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100000">
                <a:srgbClr val="E7A46F">
                  <a:alpha val="3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08000" y="2120900"/>
            <a:ext cx="103632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Régression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Linéaire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96570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8000" y="5473700"/>
            <a:ext cx="99822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FFFFFF">
                    <a:alpha val="95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Modèle de Référence et Baseline pour l'Évaluation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7264400"/>
            <a:ext cx="8661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Approche linéaire servant de référence interprétable pour la prédiction des prix immobiliers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0166" y="470166"/>
            <a:ext cx="15409701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1" b="1" kern="0" spc="74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 DE BASELINE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0166" y="846299"/>
            <a:ext cx="15527242" cy="47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3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Régression Linéaire – Fonctionnement et Intérêt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0166" y="1457516"/>
            <a:ext cx="940333" cy="47017"/>
          </a:xfrm>
          <a:custGeom>
            <a:avLst/>
            <a:gdLst/>
            <a:ahLst/>
            <a:cxnLst/>
            <a:rect l="l" t="t" r="r" b="b"/>
            <a:pathLst>
              <a:path w="940333" h="47017">
                <a:moveTo>
                  <a:pt x="0" y="0"/>
                </a:moveTo>
                <a:lnTo>
                  <a:pt x="940333" y="0"/>
                </a:lnTo>
                <a:lnTo>
                  <a:pt x="940333" y="47017"/>
                </a:lnTo>
                <a:lnTo>
                  <a:pt x="0" y="47017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70166" y="1810140"/>
            <a:ext cx="7546169" cy="4137463"/>
          </a:xfrm>
          <a:custGeom>
            <a:avLst/>
            <a:gdLst/>
            <a:ahLst/>
            <a:cxnLst/>
            <a:rect l="l" t="t" r="r" b="b"/>
            <a:pathLst>
              <a:path w="7546169" h="4137463">
                <a:moveTo>
                  <a:pt x="47017" y="0"/>
                </a:moveTo>
                <a:lnTo>
                  <a:pt x="7499153" y="0"/>
                </a:lnTo>
                <a:cubicBezTo>
                  <a:pt x="7525119" y="0"/>
                  <a:pt x="7546169" y="21050"/>
                  <a:pt x="7546169" y="47017"/>
                </a:cubicBezTo>
                <a:lnTo>
                  <a:pt x="7546169" y="4043419"/>
                </a:lnTo>
                <a:cubicBezTo>
                  <a:pt x="7546169" y="4095358"/>
                  <a:pt x="7504064" y="4137463"/>
                  <a:pt x="7452125" y="4137463"/>
                </a:cubicBezTo>
                <a:lnTo>
                  <a:pt x="94045" y="4137463"/>
                </a:lnTo>
                <a:cubicBezTo>
                  <a:pt x="42105" y="4137463"/>
                  <a:pt x="0" y="4095358"/>
                  <a:pt x="0" y="4043419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5262" dist="1175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70166" y="1810140"/>
            <a:ext cx="7546169" cy="47017"/>
          </a:xfrm>
          <a:custGeom>
            <a:avLst/>
            <a:gdLst/>
            <a:ahLst/>
            <a:cxnLst/>
            <a:rect l="l" t="t" r="r" b="b"/>
            <a:pathLst>
              <a:path w="7546169" h="47017">
                <a:moveTo>
                  <a:pt x="47017" y="0"/>
                </a:moveTo>
                <a:lnTo>
                  <a:pt x="7499153" y="0"/>
                </a:lnTo>
                <a:cubicBezTo>
                  <a:pt x="7525119" y="0"/>
                  <a:pt x="7546169" y="21050"/>
                  <a:pt x="7546169" y="47017"/>
                </a:cubicBezTo>
                <a:lnTo>
                  <a:pt x="7546169" y="47017"/>
                </a:lnTo>
                <a:lnTo>
                  <a:pt x="0" y="47017"/>
                </a:ln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34635" y="2115748"/>
            <a:ext cx="235083" cy="235083"/>
          </a:xfrm>
          <a:custGeom>
            <a:avLst/>
            <a:gdLst/>
            <a:ahLst/>
            <a:cxnLst/>
            <a:rect l="l" t="t" r="r" b="b"/>
            <a:pathLst>
              <a:path w="235083" h="235083">
                <a:moveTo>
                  <a:pt x="29385" y="29385"/>
                </a:moveTo>
                <a:cubicBezTo>
                  <a:pt x="29385" y="21258"/>
                  <a:pt x="22820" y="14693"/>
                  <a:pt x="14693" y="14693"/>
                </a:cubicBezTo>
                <a:cubicBezTo>
                  <a:pt x="6566" y="14693"/>
                  <a:pt x="0" y="21258"/>
                  <a:pt x="0" y="29385"/>
                </a:cubicBezTo>
                <a:lnTo>
                  <a:pt x="0" y="183659"/>
                </a:lnTo>
                <a:cubicBezTo>
                  <a:pt x="0" y="203953"/>
                  <a:pt x="16437" y="220390"/>
                  <a:pt x="36732" y="220390"/>
                </a:cubicBezTo>
                <a:lnTo>
                  <a:pt x="220390" y="220390"/>
                </a:lnTo>
                <a:cubicBezTo>
                  <a:pt x="228517" y="220390"/>
                  <a:pt x="235083" y="213825"/>
                  <a:pt x="235083" y="205698"/>
                </a:cubicBezTo>
                <a:cubicBezTo>
                  <a:pt x="235083" y="197571"/>
                  <a:pt x="228517" y="191005"/>
                  <a:pt x="220390" y="191005"/>
                </a:cubicBezTo>
                <a:lnTo>
                  <a:pt x="36732" y="191005"/>
                </a:lnTo>
                <a:cubicBezTo>
                  <a:pt x="32691" y="191005"/>
                  <a:pt x="29385" y="187699"/>
                  <a:pt x="29385" y="183659"/>
                </a:cubicBezTo>
                <a:lnTo>
                  <a:pt x="29385" y="29385"/>
                </a:lnTo>
                <a:close/>
                <a:moveTo>
                  <a:pt x="216074" y="69148"/>
                </a:moveTo>
                <a:cubicBezTo>
                  <a:pt x="221814" y="63408"/>
                  <a:pt x="221814" y="54087"/>
                  <a:pt x="216074" y="48348"/>
                </a:cubicBezTo>
                <a:cubicBezTo>
                  <a:pt x="210335" y="42609"/>
                  <a:pt x="201014" y="42609"/>
                  <a:pt x="195275" y="48348"/>
                </a:cubicBezTo>
                <a:lnTo>
                  <a:pt x="146927" y="96742"/>
                </a:lnTo>
                <a:lnTo>
                  <a:pt x="120572" y="70433"/>
                </a:lnTo>
                <a:cubicBezTo>
                  <a:pt x="114833" y="64694"/>
                  <a:pt x="105512" y="64694"/>
                  <a:pt x="99773" y="70433"/>
                </a:cubicBezTo>
                <a:lnTo>
                  <a:pt x="55695" y="114511"/>
                </a:lnTo>
                <a:cubicBezTo>
                  <a:pt x="49955" y="120251"/>
                  <a:pt x="49955" y="129571"/>
                  <a:pt x="55695" y="135311"/>
                </a:cubicBezTo>
                <a:cubicBezTo>
                  <a:pt x="61434" y="141050"/>
                  <a:pt x="70755" y="141050"/>
                  <a:pt x="76494" y="135311"/>
                </a:cubicBezTo>
                <a:lnTo>
                  <a:pt x="110195" y="101609"/>
                </a:lnTo>
                <a:lnTo>
                  <a:pt x="136550" y="127964"/>
                </a:lnTo>
                <a:cubicBezTo>
                  <a:pt x="142290" y="133704"/>
                  <a:pt x="151610" y="133704"/>
                  <a:pt x="157350" y="127964"/>
                </a:cubicBezTo>
                <a:lnTo>
                  <a:pt x="216120" y="69193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99103" y="2068732"/>
            <a:ext cx="6899691" cy="3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Principe de la Régression Linéaire Multiple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5249" y="2538898"/>
            <a:ext cx="7170036" cy="91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régression linéaire établit une </a:t>
            </a:r>
            <a:r>
              <a:rPr lang="en-US" sz="1481" dirty="0">
                <a:solidFill>
                  <a:srgbClr val="2C3E50"/>
                </a:solidFill>
                <a:highlight>
                  <a:srgbClr val="E7A46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 linéaire directe </a:t>
            </a:r>
            <a:r>
              <a:rPr lang="en-US" sz="148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 les caractéristiques des biens et leur prix. Elle permet de quantifier l'impact de chaque variable de manière explicite.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8758" y="3643789"/>
            <a:ext cx="7052495" cy="2068732"/>
          </a:xfrm>
          <a:custGeom>
            <a:avLst/>
            <a:gdLst/>
            <a:ahLst/>
            <a:cxnLst/>
            <a:rect l="l" t="t" r="r" b="b"/>
            <a:pathLst>
              <a:path w="7052495" h="2068732">
                <a:moveTo>
                  <a:pt x="47017" y="0"/>
                </a:moveTo>
                <a:lnTo>
                  <a:pt x="6958471" y="0"/>
                </a:lnTo>
                <a:cubicBezTo>
                  <a:pt x="7010399" y="0"/>
                  <a:pt x="7052495" y="42096"/>
                  <a:pt x="7052495" y="94024"/>
                </a:cubicBezTo>
                <a:lnTo>
                  <a:pt x="7052495" y="1974708"/>
                </a:lnTo>
                <a:cubicBezTo>
                  <a:pt x="7052495" y="2026636"/>
                  <a:pt x="7010399" y="2068732"/>
                  <a:pt x="6958471" y="2068732"/>
                </a:cubicBezTo>
                <a:lnTo>
                  <a:pt x="47017" y="2068732"/>
                </a:lnTo>
                <a:cubicBezTo>
                  <a:pt x="21050" y="2068732"/>
                  <a:pt x="0" y="2047682"/>
                  <a:pt x="0" y="2021715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28758" y="3643789"/>
            <a:ext cx="47017" cy="2068732"/>
          </a:xfrm>
          <a:custGeom>
            <a:avLst/>
            <a:gdLst/>
            <a:ahLst/>
            <a:cxnLst/>
            <a:rect l="l" t="t" r="r" b="b"/>
            <a:pathLst>
              <a:path w="47017" h="2068732">
                <a:moveTo>
                  <a:pt x="47017" y="0"/>
                </a:moveTo>
                <a:lnTo>
                  <a:pt x="47017" y="0"/>
                </a:lnTo>
                <a:lnTo>
                  <a:pt x="47017" y="2068732"/>
                </a:lnTo>
                <a:lnTo>
                  <a:pt x="47017" y="2068732"/>
                </a:lnTo>
                <a:cubicBezTo>
                  <a:pt x="21050" y="2068732"/>
                  <a:pt x="0" y="2047682"/>
                  <a:pt x="0" y="2021715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40333" y="3831855"/>
            <a:ext cx="6735132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Équation du Modèle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0333" y="4160972"/>
            <a:ext cx="6652853" cy="564200"/>
          </a:xfrm>
          <a:custGeom>
            <a:avLst/>
            <a:gdLst/>
            <a:ahLst/>
            <a:cxnLst/>
            <a:rect l="l" t="t" r="r" b="b"/>
            <a:pathLst>
              <a:path w="6652853" h="564200">
                <a:moveTo>
                  <a:pt x="47015" y="0"/>
                </a:moveTo>
                <a:lnTo>
                  <a:pt x="6605838" y="0"/>
                </a:lnTo>
                <a:cubicBezTo>
                  <a:pt x="6631804" y="0"/>
                  <a:pt x="6652853" y="21049"/>
                  <a:pt x="6652853" y="47015"/>
                </a:cubicBezTo>
                <a:lnTo>
                  <a:pt x="6652853" y="517185"/>
                </a:lnTo>
                <a:cubicBezTo>
                  <a:pt x="6652853" y="543150"/>
                  <a:pt x="6631804" y="564200"/>
                  <a:pt x="6605838" y="564200"/>
                </a:cubicBezTo>
                <a:lnTo>
                  <a:pt x="47015" y="564200"/>
                </a:lnTo>
                <a:cubicBezTo>
                  <a:pt x="21049" y="564200"/>
                  <a:pt x="0" y="543150"/>
                  <a:pt x="0" y="517185"/>
                </a:cubicBezTo>
                <a:lnTo>
                  <a:pt x="0" y="47015"/>
                </a:lnTo>
                <a:cubicBezTo>
                  <a:pt x="0" y="21049"/>
                  <a:pt x="21049" y="0"/>
                  <a:pt x="4701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93316" y="4160972"/>
            <a:ext cx="6746886" cy="564200"/>
          </a:xfrm>
          <a:prstGeom prst="rect">
            <a:avLst/>
          </a:prstGeom>
          <a:noFill/>
          <a:ln/>
        </p:spPr>
        <p:txBody>
          <a:bodyPr wrap="square" lIns="141050" tIns="141050" rIns="141050" bIns="141050" rtlCol="0" anchor="ctr"/>
          <a:lstStyle/>
          <a:p>
            <a:pPr algn="ctr">
              <a:lnSpc>
                <a:spcPct val="130000"/>
              </a:lnSpc>
            </a:pPr>
            <a:r>
              <a:rPr lang="en-US" sz="148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Prix = β₀ + β₁×Surface + β₂×Chambres + β₃×Localisation + 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0333" y="4866221"/>
            <a:ext cx="6723378" cy="18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1" b="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β₀</a:t>
            </a:r>
            <a:r>
              <a:rPr lang="en-US" sz="111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Constante (intercept)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0333" y="5101304"/>
            <a:ext cx="6723378" cy="18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1" b="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β₁, β₂, β₃</a:t>
            </a:r>
            <a:r>
              <a:rPr lang="en-US" sz="111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Coefficients des variables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0333" y="5336388"/>
            <a:ext cx="6723378" cy="18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1" b="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ε</a:t>
            </a:r>
            <a:r>
              <a:rPr lang="en-US" sz="111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Erreur résiduelle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675" y="6135670"/>
            <a:ext cx="7522661" cy="2538898"/>
          </a:xfrm>
          <a:custGeom>
            <a:avLst/>
            <a:gdLst/>
            <a:ahLst/>
            <a:cxnLst/>
            <a:rect l="l" t="t" r="r" b="b"/>
            <a:pathLst>
              <a:path w="7522661" h="2538898">
                <a:moveTo>
                  <a:pt x="47017" y="0"/>
                </a:moveTo>
                <a:lnTo>
                  <a:pt x="7428620" y="0"/>
                </a:lnTo>
                <a:cubicBezTo>
                  <a:pt x="7480557" y="0"/>
                  <a:pt x="7522661" y="42103"/>
                  <a:pt x="7522661" y="94041"/>
                </a:cubicBezTo>
                <a:lnTo>
                  <a:pt x="7522661" y="2444857"/>
                </a:lnTo>
                <a:cubicBezTo>
                  <a:pt x="7522661" y="2496795"/>
                  <a:pt x="7480557" y="2538898"/>
                  <a:pt x="7428620" y="2538898"/>
                </a:cubicBezTo>
                <a:lnTo>
                  <a:pt x="47017" y="2538898"/>
                </a:lnTo>
                <a:cubicBezTo>
                  <a:pt x="21050" y="2538898"/>
                  <a:pt x="0" y="2517848"/>
                  <a:pt x="0" y="2491881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5262" dist="1175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93675" y="6135670"/>
            <a:ext cx="47017" cy="2538898"/>
          </a:xfrm>
          <a:custGeom>
            <a:avLst/>
            <a:gdLst/>
            <a:ahLst/>
            <a:cxnLst/>
            <a:rect l="l" t="t" r="r" b="b"/>
            <a:pathLst>
              <a:path w="47017" h="2538898">
                <a:moveTo>
                  <a:pt x="47017" y="0"/>
                </a:moveTo>
                <a:lnTo>
                  <a:pt x="47017" y="0"/>
                </a:lnTo>
                <a:lnTo>
                  <a:pt x="47017" y="2538898"/>
                </a:lnTo>
                <a:lnTo>
                  <a:pt x="47017" y="2538898"/>
                </a:lnTo>
                <a:cubicBezTo>
                  <a:pt x="21050" y="2538898"/>
                  <a:pt x="0" y="2517848"/>
                  <a:pt x="0" y="2491881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08098" y="6429524"/>
            <a:ext cx="158681" cy="211575"/>
          </a:xfrm>
          <a:custGeom>
            <a:avLst/>
            <a:gdLst/>
            <a:ahLst/>
            <a:cxnLst/>
            <a:rect l="l" t="t" r="r" b="b"/>
            <a:pathLst>
              <a:path w="158681" h="211575">
                <a:moveTo>
                  <a:pt x="121036" y="158681"/>
                </a:moveTo>
                <a:cubicBezTo>
                  <a:pt x="124052" y="149466"/>
                  <a:pt x="130085" y="141119"/>
                  <a:pt x="136904" y="133929"/>
                </a:cubicBezTo>
                <a:cubicBezTo>
                  <a:pt x="150416" y="119713"/>
                  <a:pt x="158681" y="100498"/>
                  <a:pt x="158681" y="79341"/>
                </a:cubicBezTo>
                <a:cubicBezTo>
                  <a:pt x="158681" y="35538"/>
                  <a:pt x="123143" y="0"/>
                  <a:pt x="79341" y="0"/>
                </a:cubicBezTo>
                <a:cubicBezTo>
                  <a:pt x="35538" y="0"/>
                  <a:pt x="0" y="35538"/>
                  <a:pt x="0" y="79341"/>
                </a:cubicBezTo>
                <a:cubicBezTo>
                  <a:pt x="0" y="100498"/>
                  <a:pt x="8265" y="119713"/>
                  <a:pt x="21777" y="133929"/>
                </a:cubicBezTo>
                <a:cubicBezTo>
                  <a:pt x="28596" y="141119"/>
                  <a:pt x="34670" y="149466"/>
                  <a:pt x="37645" y="158681"/>
                </a:cubicBezTo>
                <a:lnTo>
                  <a:pt x="120994" y="158681"/>
                </a:lnTo>
                <a:close/>
                <a:moveTo>
                  <a:pt x="119011" y="178516"/>
                </a:moveTo>
                <a:lnTo>
                  <a:pt x="39670" y="178516"/>
                </a:lnTo>
                <a:lnTo>
                  <a:pt x="39670" y="185128"/>
                </a:lnTo>
                <a:cubicBezTo>
                  <a:pt x="39670" y="203393"/>
                  <a:pt x="54464" y="218187"/>
                  <a:pt x="72729" y="218187"/>
                </a:cubicBezTo>
                <a:lnTo>
                  <a:pt x="85952" y="218187"/>
                </a:lnTo>
                <a:cubicBezTo>
                  <a:pt x="104217" y="218187"/>
                  <a:pt x="119011" y="203393"/>
                  <a:pt x="119011" y="185128"/>
                </a:cubicBezTo>
                <a:lnTo>
                  <a:pt x="119011" y="178516"/>
                </a:lnTo>
                <a:close/>
                <a:moveTo>
                  <a:pt x="76035" y="46282"/>
                </a:moveTo>
                <a:cubicBezTo>
                  <a:pt x="59588" y="46282"/>
                  <a:pt x="46282" y="59588"/>
                  <a:pt x="46282" y="76035"/>
                </a:cubicBezTo>
                <a:cubicBezTo>
                  <a:pt x="46282" y="81531"/>
                  <a:pt x="41860" y="85952"/>
                  <a:pt x="36364" y="85952"/>
                </a:cubicBezTo>
                <a:cubicBezTo>
                  <a:pt x="30868" y="85952"/>
                  <a:pt x="26447" y="81531"/>
                  <a:pt x="26447" y="76035"/>
                </a:cubicBezTo>
                <a:cubicBezTo>
                  <a:pt x="26447" y="48637"/>
                  <a:pt x="48637" y="26447"/>
                  <a:pt x="76035" y="26447"/>
                </a:cubicBezTo>
                <a:cubicBezTo>
                  <a:pt x="81531" y="26447"/>
                  <a:pt x="85952" y="30868"/>
                  <a:pt x="85952" y="36364"/>
                </a:cubicBezTo>
                <a:cubicBezTo>
                  <a:pt x="85952" y="41860"/>
                  <a:pt x="81531" y="46282"/>
                  <a:pt x="76035" y="46282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022612" y="6370753"/>
            <a:ext cx="6864428" cy="3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Rôle comme Modèle de Référence (Baseline)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2266" y="6864428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141050" y="0"/>
                </a:moveTo>
                <a:lnTo>
                  <a:pt x="141050" y="0"/>
                </a:lnTo>
                <a:cubicBezTo>
                  <a:pt x="218897" y="0"/>
                  <a:pt x="282100" y="63202"/>
                  <a:pt x="282100" y="141050"/>
                </a:cubicBezTo>
                <a:lnTo>
                  <a:pt x="282100" y="141050"/>
                </a:lnTo>
                <a:cubicBezTo>
                  <a:pt x="282100" y="218897"/>
                  <a:pt x="218897" y="282100"/>
                  <a:pt x="141050" y="282100"/>
                </a:cubicBezTo>
                <a:lnTo>
                  <a:pt x="141050" y="282100"/>
                </a:lnTo>
                <a:cubicBezTo>
                  <a:pt x="63202" y="282100"/>
                  <a:pt x="0" y="218897"/>
                  <a:pt x="0" y="141050"/>
                </a:cubicBezTo>
                <a:lnTo>
                  <a:pt x="0" y="141050"/>
                </a:lnTo>
                <a:cubicBezTo>
                  <a:pt x="0" y="63202"/>
                  <a:pt x="63202" y="0"/>
                  <a:pt x="14105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17004" y="6864428"/>
            <a:ext cx="352625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5416" y="6840920"/>
            <a:ext cx="4255005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Simplicité et Rapidité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75416" y="7076003"/>
            <a:ext cx="4255005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Entraînement quasi-instantané, pas de réglages complexes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2266" y="7428628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141050" y="0"/>
                </a:moveTo>
                <a:lnTo>
                  <a:pt x="141050" y="0"/>
                </a:lnTo>
                <a:cubicBezTo>
                  <a:pt x="218897" y="0"/>
                  <a:pt x="282100" y="63202"/>
                  <a:pt x="282100" y="141050"/>
                </a:cubicBezTo>
                <a:lnTo>
                  <a:pt x="282100" y="141050"/>
                </a:lnTo>
                <a:cubicBezTo>
                  <a:pt x="282100" y="218897"/>
                  <a:pt x="218897" y="282100"/>
                  <a:pt x="141050" y="282100"/>
                </a:cubicBezTo>
                <a:lnTo>
                  <a:pt x="141050" y="282100"/>
                </a:lnTo>
                <a:cubicBezTo>
                  <a:pt x="63202" y="282100"/>
                  <a:pt x="0" y="218897"/>
                  <a:pt x="0" y="141050"/>
                </a:cubicBezTo>
                <a:lnTo>
                  <a:pt x="0" y="141050"/>
                </a:lnTo>
                <a:cubicBezTo>
                  <a:pt x="0" y="63202"/>
                  <a:pt x="63202" y="0"/>
                  <a:pt x="14105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17004" y="7428628"/>
            <a:ext cx="352625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5416" y="7405119"/>
            <a:ext cx="3138360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Interprétabilité Directe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75416" y="7640202"/>
            <a:ext cx="3138360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Chaque coefficient a une signification claire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2266" y="7992827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141050" y="0"/>
                </a:moveTo>
                <a:lnTo>
                  <a:pt x="141050" y="0"/>
                </a:lnTo>
                <a:cubicBezTo>
                  <a:pt x="218897" y="0"/>
                  <a:pt x="282100" y="63202"/>
                  <a:pt x="282100" y="141050"/>
                </a:cubicBezTo>
                <a:lnTo>
                  <a:pt x="282100" y="141050"/>
                </a:lnTo>
                <a:cubicBezTo>
                  <a:pt x="282100" y="218897"/>
                  <a:pt x="218897" y="282100"/>
                  <a:pt x="141050" y="282100"/>
                </a:cubicBezTo>
                <a:lnTo>
                  <a:pt x="141050" y="282100"/>
                </a:lnTo>
                <a:cubicBezTo>
                  <a:pt x="63202" y="282100"/>
                  <a:pt x="0" y="218897"/>
                  <a:pt x="0" y="141050"/>
                </a:cubicBezTo>
                <a:lnTo>
                  <a:pt x="0" y="141050"/>
                </a:lnTo>
                <a:cubicBezTo>
                  <a:pt x="0" y="63202"/>
                  <a:pt x="63202" y="0"/>
                  <a:pt x="141050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17004" y="7992827"/>
            <a:ext cx="352625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75416" y="7969319"/>
            <a:ext cx="5900587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de Référence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75416" y="8204402"/>
            <a:ext cx="5900587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Sert de base pour évaluer l'amélioration apportée par les modèles plus complexes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46093" y="1786632"/>
            <a:ext cx="7546169" cy="3455722"/>
          </a:xfrm>
          <a:custGeom>
            <a:avLst/>
            <a:gdLst/>
            <a:ahLst/>
            <a:cxnLst/>
            <a:rect l="l" t="t" r="r" b="b"/>
            <a:pathLst>
              <a:path w="7546169" h="3455722">
                <a:moveTo>
                  <a:pt x="94030" y="0"/>
                </a:moveTo>
                <a:lnTo>
                  <a:pt x="7452139" y="0"/>
                </a:lnTo>
                <a:cubicBezTo>
                  <a:pt x="7504070" y="0"/>
                  <a:pt x="7546169" y="42099"/>
                  <a:pt x="7546169" y="94030"/>
                </a:cubicBezTo>
                <a:lnTo>
                  <a:pt x="7546169" y="3361692"/>
                </a:lnTo>
                <a:cubicBezTo>
                  <a:pt x="7546169" y="3413624"/>
                  <a:pt x="7504070" y="3455722"/>
                  <a:pt x="7452139" y="3455722"/>
                </a:cubicBezTo>
                <a:lnTo>
                  <a:pt x="94030" y="3455722"/>
                </a:lnTo>
                <a:cubicBezTo>
                  <a:pt x="42099" y="3455722"/>
                  <a:pt x="0" y="3413624"/>
                  <a:pt x="0" y="3361692"/>
                </a:cubicBezTo>
                <a:lnTo>
                  <a:pt x="0" y="94030"/>
                </a:lnTo>
                <a:cubicBezTo>
                  <a:pt x="0" y="42134"/>
                  <a:pt x="42134" y="0"/>
                  <a:pt x="9403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495E"/>
              </a:gs>
            </a:gsLst>
            <a:lin ang="2700000" scaled="1"/>
          </a:gradFill>
          <a:ln/>
          <a:effectLst>
            <a:outerShdw blurRad="176312" dist="11754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8539946" y="2068732"/>
            <a:ext cx="176312" cy="235083"/>
          </a:xfrm>
          <a:custGeom>
            <a:avLst/>
            <a:gdLst/>
            <a:ahLst/>
            <a:cxnLst/>
            <a:rect l="l" t="t" r="r" b="b"/>
            <a:pathLst>
              <a:path w="176312" h="235083">
                <a:moveTo>
                  <a:pt x="29385" y="0"/>
                </a:moveTo>
                <a:cubicBezTo>
                  <a:pt x="13178" y="0"/>
                  <a:pt x="0" y="13178"/>
                  <a:pt x="0" y="29385"/>
                </a:cubicBezTo>
                <a:lnTo>
                  <a:pt x="0" y="205698"/>
                </a:lnTo>
                <a:cubicBezTo>
                  <a:pt x="0" y="221906"/>
                  <a:pt x="13178" y="235083"/>
                  <a:pt x="29385" y="235083"/>
                </a:cubicBezTo>
                <a:lnTo>
                  <a:pt x="146927" y="235083"/>
                </a:lnTo>
                <a:cubicBezTo>
                  <a:pt x="163135" y="235083"/>
                  <a:pt x="176312" y="221906"/>
                  <a:pt x="176312" y="205698"/>
                </a:cubicBezTo>
                <a:lnTo>
                  <a:pt x="176312" y="29385"/>
                </a:lnTo>
                <a:cubicBezTo>
                  <a:pt x="176312" y="13178"/>
                  <a:pt x="163135" y="0"/>
                  <a:pt x="146927" y="0"/>
                </a:cubicBezTo>
                <a:lnTo>
                  <a:pt x="29385" y="0"/>
                </a:lnTo>
                <a:close/>
                <a:moveTo>
                  <a:pt x="44078" y="29385"/>
                </a:moveTo>
                <a:lnTo>
                  <a:pt x="132234" y="29385"/>
                </a:lnTo>
                <a:cubicBezTo>
                  <a:pt x="140361" y="29385"/>
                  <a:pt x="146927" y="35951"/>
                  <a:pt x="146927" y="44078"/>
                </a:cubicBezTo>
                <a:lnTo>
                  <a:pt x="146927" y="58771"/>
                </a:lnTo>
                <a:cubicBezTo>
                  <a:pt x="146927" y="66898"/>
                  <a:pt x="140361" y="73463"/>
                  <a:pt x="132234" y="73463"/>
                </a:cubicBezTo>
                <a:lnTo>
                  <a:pt x="44078" y="73463"/>
                </a:lnTo>
                <a:cubicBezTo>
                  <a:pt x="35951" y="73463"/>
                  <a:pt x="29385" y="66898"/>
                  <a:pt x="29385" y="58771"/>
                </a:cubicBezTo>
                <a:lnTo>
                  <a:pt x="29385" y="44078"/>
                </a:lnTo>
                <a:cubicBezTo>
                  <a:pt x="29385" y="35951"/>
                  <a:pt x="35951" y="29385"/>
                  <a:pt x="44078" y="29385"/>
                </a:cubicBezTo>
                <a:close/>
                <a:moveTo>
                  <a:pt x="51424" y="106522"/>
                </a:moveTo>
                <a:cubicBezTo>
                  <a:pt x="51424" y="112604"/>
                  <a:pt x="46487" y="117542"/>
                  <a:pt x="40405" y="117542"/>
                </a:cubicBezTo>
                <a:cubicBezTo>
                  <a:pt x="34323" y="117542"/>
                  <a:pt x="29385" y="112604"/>
                  <a:pt x="29385" y="106522"/>
                </a:cubicBezTo>
                <a:cubicBezTo>
                  <a:pt x="29385" y="100440"/>
                  <a:pt x="34323" y="95503"/>
                  <a:pt x="40405" y="95503"/>
                </a:cubicBezTo>
                <a:cubicBezTo>
                  <a:pt x="46487" y="95503"/>
                  <a:pt x="51424" y="100440"/>
                  <a:pt x="51424" y="106522"/>
                </a:cubicBezTo>
                <a:close/>
                <a:moveTo>
                  <a:pt x="88156" y="117542"/>
                </a:moveTo>
                <a:cubicBezTo>
                  <a:pt x="82074" y="117542"/>
                  <a:pt x="77137" y="112604"/>
                  <a:pt x="77137" y="106522"/>
                </a:cubicBezTo>
                <a:cubicBezTo>
                  <a:pt x="77137" y="100440"/>
                  <a:pt x="82074" y="95503"/>
                  <a:pt x="88156" y="95503"/>
                </a:cubicBezTo>
                <a:cubicBezTo>
                  <a:pt x="94238" y="95503"/>
                  <a:pt x="99176" y="100440"/>
                  <a:pt x="99176" y="106522"/>
                </a:cubicBezTo>
                <a:cubicBezTo>
                  <a:pt x="99176" y="112604"/>
                  <a:pt x="94238" y="117542"/>
                  <a:pt x="88156" y="117542"/>
                </a:cubicBezTo>
                <a:close/>
                <a:moveTo>
                  <a:pt x="146927" y="106522"/>
                </a:moveTo>
                <a:cubicBezTo>
                  <a:pt x="146927" y="112604"/>
                  <a:pt x="141989" y="117542"/>
                  <a:pt x="135907" y="117542"/>
                </a:cubicBezTo>
                <a:cubicBezTo>
                  <a:pt x="129826" y="117542"/>
                  <a:pt x="124888" y="112604"/>
                  <a:pt x="124888" y="106522"/>
                </a:cubicBezTo>
                <a:cubicBezTo>
                  <a:pt x="124888" y="100440"/>
                  <a:pt x="129826" y="95503"/>
                  <a:pt x="135907" y="95503"/>
                </a:cubicBezTo>
                <a:cubicBezTo>
                  <a:pt x="141989" y="95503"/>
                  <a:pt x="146927" y="100440"/>
                  <a:pt x="146927" y="106522"/>
                </a:cubicBezTo>
                <a:close/>
                <a:moveTo>
                  <a:pt x="40405" y="161620"/>
                </a:moveTo>
                <a:cubicBezTo>
                  <a:pt x="34323" y="161620"/>
                  <a:pt x="29385" y="156682"/>
                  <a:pt x="29385" y="150600"/>
                </a:cubicBezTo>
                <a:cubicBezTo>
                  <a:pt x="29385" y="144518"/>
                  <a:pt x="34323" y="139581"/>
                  <a:pt x="40405" y="139581"/>
                </a:cubicBezTo>
                <a:cubicBezTo>
                  <a:pt x="46487" y="139581"/>
                  <a:pt x="51424" y="144518"/>
                  <a:pt x="51424" y="150600"/>
                </a:cubicBezTo>
                <a:cubicBezTo>
                  <a:pt x="51424" y="156682"/>
                  <a:pt x="46487" y="161620"/>
                  <a:pt x="40405" y="161620"/>
                </a:cubicBezTo>
                <a:close/>
                <a:moveTo>
                  <a:pt x="99176" y="150600"/>
                </a:moveTo>
                <a:cubicBezTo>
                  <a:pt x="99176" y="156682"/>
                  <a:pt x="94238" y="161620"/>
                  <a:pt x="88156" y="161620"/>
                </a:cubicBezTo>
                <a:cubicBezTo>
                  <a:pt x="82074" y="161620"/>
                  <a:pt x="77137" y="156682"/>
                  <a:pt x="77137" y="150600"/>
                </a:cubicBezTo>
                <a:cubicBezTo>
                  <a:pt x="77137" y="144518"/>
                  <a:pt x="82074" y="139581"/>
                  <a:pt x="88156" y="139581"/>
                </a:cubicBezTo>
                <a:cubicBezTo>
                  <a:pt x="94238" y="139581"/>
                  <a:pt x="99176" y="144518"/>
                  <a:pt x="99176" y="150600"/>
                </a:cubicBezTo>
                <a:close/>
                <a:moveTo>
                  <a:pt x="135907" y="161620"/>
                </a:moveTo>
                <a:cubicBezTo>
                  <a:pt x="129826" y="161620"/>
                  <a:pt x="124888" y="156682"/>
                  <a:pt x="124888" y="150600"/>
                </a:cubicBezTo>
                <a:cubicBezTo>
                  <a:pt x="124888" y="144518"/>
                  <a:pt x="129826" y="139581"/>
                  <a:pt x="135907" y="139581"/>
                </a:cubicBezTo>
                <a:cubicBezTo>
                  <a:pt x="141989" y="139581"/>
                  <a:pt x="146927" y="144518"/>
                  <a:pt x="146927" y="150600"/>
                </a:cubicBezTo>
                <a:cubicBezTo>
                  <a:pt x="146927" y="156682"/>
                  <a:pt x="141989" y="161620"/>
                  <a:pt x="135907" y="161620"/>
                </a:cubicBezTo>
                <a:close/>
                <a:moveTo>
                  <a:pt x="29385" y="194678"/>
                </a:moveTo>
                <a:cubicBezTo>
                  <a:pt x="29385" y="188572"/>
                  <a:pt x="34298" y="183659"/>
                  <a:pt x="40405" y="183659"/>
                </a:cubicBezTo>
                <a:lnTo>
                  <a:pt x="91829" y="183659"/>
                </a:lnTo>
                <a:cubicBezTo>
                  <a:pt x="97936" y="183659"/>
                  <a:pt x="102849" y="188572"/>
                  <a:pt x="102849" y="194678"/>
                </a:cubicBezTo>
                <a:cubicBezTo>
                  <a:pt x="102849" y="200785"/>
                  <a:pt x="97936" y="205698"/>
                  <a:pt x="91829" y="205698"/>
                </a:cubicBezTo>
                <a:lnTo>
                  <a:pt x="40405" y="205698"/>
                </a:lnTo>
                <a:cubicBezTo>
                  <a:pt x="34298" y="205698"/>
                  <a:pt x="29385" y="200785"/>
                  <a:pt x="29385" y="194678"/>
                </a:cubicBezTo>
                <a:close/>
                <a:moveTo>
                  <a:pt x="135907" y="183659"/>
                </a:moveTo>
                <a:cubicBezTo>
                  <a:pt x="142014" y="183659"/>
                  <a:pt x="146927" y="188572"/>
                  <a:pt x="146927" y="194678"/>
                </a:cubicBezTo>
                <a:cubicBezTo>
                  <a:pt x="146927" y="200785"/>
                  <a:pt x="142014" y="205698"/>
                  <a:pt x="135907" y="205698"/>
                </a:cubicBezTo>
                <a:cubicBezTo>
                  <a:pt x="129801" y="205698"/>
                  <a:pt x="124888" y="200785"/>
                  <a:pt x="124888" y="194678"/>
                </a:cubicBezTo>
                <a:cubicBezTo>
                  <a:pt x="124888" y="188572"/>
                  <a:pt x="129801" y="183659"/>
                  <a:pt x="135907" y="183659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8775030" y="2021715"/>
            <a:ext cx="6899691" cy="3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Interprétation des Coefficients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81176" y="2538898"/>
            <a:ext cx="7158282" cy="54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Chaque coefficient β représente l'</a:t>
            </a:r>
            <a:r>
              <a:rPr lang="en-US" sz="129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marginal</a:t>
            </a: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d'une variable sur le prix, toutes choses égales par ailleurs.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81176" y="3261779"/>
            <a:ext cx="7076003" cy="799283"/>
          </a:xfrm>
          <a:custGeom>
            <a:avLst/>
            <a:gdLst/>
            <a:ahLst/>
            <a:cxnLst/>
            <a:rect l="l" t="t" r="r" b="b"/>
            <a:pathLst>
              <a:path w="7076003" h="799283">
                <a:moveTo>
                  <a:pt x="94036" y="0"/>
                </a:moveTo>
                <a:lnTo>
                  <a:pt x="6981967" y="0"/>
                </a:lnTo>
                <a:cubicBezTo>
                  <a:pt x="7033902" y="0"/>
                  <a:pt x="7076003" y="42101"/>
                  <a:pt x="7076003" y="94036"/>
                </a:cubicBezTo>
                <a:lnTo>
                  <a:pt x="7076003" y="705247"/>
                </a:lnTo>
                <a:cubicBezTo>
                  <a:pt x="7076003" y="757182"/>
                  <a:pt x="7033902" y="799283"/>
                  <a:pt x="6981967" y="799283"/>
                </a:cubicBezTo>
                <a:lnTo>
                  <a:pt x="94036" y="799283"/>
                </a:lnTo>
                <a:cubicBezTo>
                  <a:pt x="42101" y="799283"/>
                  <a:pt x="0" y="757182"/>
                  <a:pt x="0" y="705247"/>
                </a:cubicBezTo>
                <a:lnTo>
                  <a:pt x="0" y="94036"/>
                </a:lnTo>
                <a:cubicBezTo>
                  <a:pt x="0" y="42136"/>
                  <a:pt x="42136" y="0"/>
                  <a:pt x="9403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8622226" y="3402829"/>
            <a:ext cx="6876182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Exemple Pratique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22226" y="3684928"/>
            <a:ext cx="6876182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β₁ = 145 TND/m², alors </a:t>
            </a:r>
            <a:r>
              <a:rPr lang="en-US" sz="129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+1m² de surface</a:t>
            </a: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29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+145 TND</a:t>
            </a: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 le prix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81176" y="4202111"/>
            <a:ext cx="7076003" cy="799283"/>
          </a:xfrm>
          <a:custGeom>
            <a:avLst/>
            <a:gdLst/>
            <a:ahLst/>
            <a:cxnLst/>
            <a:rect l="l" t="t" r="r" b="b"/>
            <a:pathLst>
              <a:path w="7076003" h="799283">
                <a:moveTo>
                  <a:pt x="94036" y="0"/>
                </a:moveTo>
                <a:lnTo>
                  <a:pt x="6981967" y="0"/>
                </a:lnTo>
                <a:cubicBezTo>
                  <a:pt x="7033902" y="0"/>
                  <a:pt x="7076003" y="42101"/>
                  <a:pt x="7076003" y="94036"/>
                </a:cubicBezTo>
                <a:lnTo>
                  <a:pt x="7076003" y="705247"/>
                </a:lnTo>
                <a:cubicBezTo>
                  <a:pt x="7076003" y="757182"/>
                  <a:pt x="7033902" y="799283"/>
                  <a:pt x="6981967" y="799283"/>
                </a:cubicBezTo>
                <a:lnTo>
                  <a:pt x="94036" y="799283"/>
                </a:lnTo>
                <a:cubicBezTo>
                  <a:pt x="42101" y="799283"/>
                  <a:pt x="0" y="757182"/>
                  <a:pt x="0" y="705247"/>
                </a:cubicBezTo>
                <a:lnTo>
                  <a:pt x="0" y="94036"/>
                </a:lnTo>
                <a:cubicBezTo>
                  <a:pt x="0" y="42136"/>
                  <a:pt x="42136" y="0"/>
                  <a:pt x="9403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8622226" y="4343161"/>
            <a:ext cx="6876182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Autre Exemple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22226" y="4625261"/>
            <a:ext cx="6876182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β₂ = 58,3 TND, alors </a:t>
            </a:r>
            <a:r>
              <a:rPr lang="en-US" sz="129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 chambre</a:t>
            </a: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29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+58,3 TND</a:t>
            </a: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(à surface égale)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69601" y="5424544"/>
            <a:ext cx="7522661" cy="2162765"/>
          </a:xfrm>
          <a:custGeom>
            <a:avLst/>
            <a:gdLst/>
            <a:ahLst/>
            <a:cxnLst/>
            <a:rect l="l" t="t" r="r" b="b"/>
            <a:pathLst>
              <a:path w="7522661" h="2162765">
                <a:moveTo>
                  <a:pt x="47017" y="0"/>
                </a:moveTo>
                <a:lnTo>
                  <a:pt x="7428624" y="0"/>
                </a:lnTo>
                <a:cubicBezTo>
                  <a:pt x="7480559" y="0"/>
                  <a:pt x="7522661" y="42102"/>
                  <a:pt x="7522661" y="94037"/>
                </a:cubicBezTo>
                <a:lnTo>
                  <a:pt x="7522661" y="2068728"/>
                </a:lnTo>
                <a:cubicBezTo>
                  <a:pt x="7522661" y="2120628"/>
                  <a:pt x="7480524" y="2162765"/>
                  <a:pt x="7428624" y="2162765"/>
                </a:cubicBezTo>
                <a:lnTo>
                  <a:pt x="47017" y="2162765"/>
                </a:lnTo>
                <a:cubicBezTo>
                  <a:pt x="21050" y="2162765"/>
                  <a:pt x="0" y="2141715"/>
                  <a:pt x="0" y="2115748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5262" dist="1175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8269601" y="5424544"/>
            <a:ext cx="47017" cy="2162765"/>
          </a:xfrm>
          <a:custGeom>
            <a:avLst/>
            <a:gdLst/>
            <a:ahLst/>
            <a:cxnLst/>
            <a:rect l="l" t="t" r="r" b="b"/>
            <a:pathLst>
              <a:path w="47017" h="2162765">
                <a:moveTo>
                  <a:pt x="47017" y="0"/>
                </a:moveTo>
                <a:lnTo>
                  <a:pt x="47017" y="0"/>
                </a:lnTo>
                <a:lnTo>
                  <a:pt x="47017" y="2162765"/>
                </a:lnTo>
                <a:lnTo>
                  <a:pt x="47017" y="2162765"/>
                </a:lnTo>
                <a:cubicBezTo>
                  <a:pt x="21050" y="2162765"/>
                  <a:pt x="0" y="2141715"/>
                  <a:pt x="0" y="2115748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8557578" y="5718398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105787" y="211575"/>
                </a:moveTo>
                <a:cubicBezTo>
                  <a:pt x="164173" y="211575"/>
                  <a:pt x="211575" y="164173"/>
                  <a:pt x="211575" y="105787"/>
                </a:cubicBezTo>
                <a:cubicBezTo>
                  <a:pt x="211575" y="47402"/>
                  <a:pt x="164173" y="0"/>
                  <a:pt x="105787" y="0"/>
                </a:cubicBezTo>
                <a:cubicBezTo>
                  <a:pt x="47402" y="0"/>
                  <a:pt x="0" y="47402"/>
                  <a:pt x="0" y="105787"/>
                </a:cubicBezTo>
                <a:cubicBezTo>
                  <a:pt x="0" y="164173"/>
                  <a:pt x="47402" y="211575"/>
                  <a:pt x="105787" y="211575"/>
                </a:cubicBezTo>
                <a:close/>
                <a:moveTo>
                  <a:pt x="140664" y="87894"/>
                </a:moveTo>
                <a:lnTo>
                  <a:pt x="107606" y="140788"/>
                </a:lnTo>
                <a:cubicBezTo>
                  <a:pt x="105870" y="143557"/>
                  <a:pt x="102895" y="145292"/>
                  <a:pt x="99630" y="145458"/>
                </a:cubicBezTo>
                <a:cubicBezTo>
                  <a:pt x="96366" y="145623"/>
                  <a:pt x="93225" y="144135"/>
                  <a:pt x="91283" y="141491"/>
                </a:cubicBezTo>
                <a:lnTo>
                  <a:pt x="71448" y="115044"/>
                </a:lnTo>
                <a:cubicBezTo>
                  <a:pt x="68142" y="110664"/>
                  <a:pt x="69051" y="104465"/>
                  <a:pt x="73431" y="101159"/>
                </a:cubicBezTo>
                <a:cubicBezTo>
                  <a:pt x="77812" y="97853"/>
                  <a:pt x="84010" y="98762"/>
                  <a:pt x="87316" y="103143"/>
                </a:cubicBezTo>
                <a:lnTo>
                  <a:pt x="98473" y="118019"/>
                </a:lnTo>
                <a:lnTo>
                  <a:pt x="123846" y="77398"/>
                </a:lnTo>
                <a:cubicBezTo>
                  <a:pt x="126738" y="72770"/>
                  <a:pt x="132854" y="71324"/>
                  <a:pt x="137524" y="74258"/>
                </a:cubicBezTo>
                <a:cubicBezTo>
                  <a:pt x="142193" y="77192"/>
                  <a:pt x="143598" y="83266"/>
                  <a:pt x="140664" y="87936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8798538" y="5659627"/>
            <a:ext cx="6864428" cy="3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Avantages pour ImmoPredictTN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51701" y="6176810"/>
            <a:ext cx="164558" cy="164558"/>
          </a:xfrm>
          <a:custGeom>
            <a:avLst/>
            <a:gdLst/>
            <a:ahLst/>
            <a:cxnLst/>
            <a:rect l="l" t="t" r="r" b="b"/>
            <a:pathLst>
              <a:path w="164558" h="164558">
                <a:moveTo>
                  <a:pt x="161537" y="89543"/>
                </a:moveTo>
                <a:cubicBezTo>
                  <a:pt x="165555" y="85525"/>
                  <a:pt x="165555" y="79001"/>
                  <a:pt x="161537" y="74983"/>
                </a:cubicBezTo>
                <a:lnTo>
                  <a:pt x="110113" y="23559"/>
                </a:lnTo>
                <a:cubicBezTo>
                  <a:pt x="106095" y="19541"/>
                  <a:pt x="99571" y="19541"/>
                  <a:pt x="95553" y="23559"/>
                </a:cubicBezTo>
                <a:cubicBezTo>
                  <a:pt x="91536" y="27576"/>
                  <a:pt x="91536" y="34101"/>
                  <a:pt x="95553" y="38118"/>
                </a:cubicBezTo>
                <a:lnTo>
                  <a:pt x="129429" y="71994"/>
                </a:lnTo>
                <a:lnTo>
                  <a:pt x="10285" y="71994"/>
                </a:lnTo>
                <a:cubicBezTo>
                  <a:pt x="4596" y="71994"/>
                  <a:pt x="0" y="76590"/>
                  <a:pt x="0" y="82279"/>
                </a:cubicBezTo>
                <a:cubicBezTo>
                  <a:pt x="0" y="87968"/>
                  <a:pt x="4596" y="92564"/>
                  <a:pt x="10285" y="92564"/>
                </a:cubicBezTo>
                <a:lnTo>
                  <a:pt x="129429" y="92564"/>
                </a:lnTo>
                <a:lnTo>
                  <a:pt x="95553" y="126440"/>
                </a:lnTo>
                <a:cubicBezTo>
                  <a:pt x="91536" y="130457"/>
                  <a:pt x="91536" y="136982"/>
                  <a:pt x="95553" y="140999"/>
                </a:cubicBezTo>
                <a:cubicBezTo>
                  <a:pt x="99571" y="145017"/>
                  <a:pt x="106095" y="145017"/>
                  <a:pt x="110113" y="140999"/>
                </a:cubicBezTo>
                <a:lnTo>
                  <a:pt x="161537" y="89575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8827923" y="6129793"/>
            <a:ext cx="3585018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Compréhension intuitive</a:t>
            </a:r>
            <a:r>
              <a:rPr lang="en-US" sz="129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mécanismes de prix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551701" y="6505926"/>
            <a:ext cx="164558" cy="164558"/>
          </a:xfrm>
          <a:custGeom>
            <a:avLst/>
            <a:gdLst/>
            <a:ahLst/>
            <a:cxnLst/>
            <a:rect l="l" t="t" r="r" b="b"/>
            <a:pathLst>
              <a:path w="164558" h="164558">
                <a:moveTo>
                  <a:pt x="161537" y="89543"/>
                </a:moveTo>
                <a:cubicBezTo>
                  <a:pt x="165555" y="85525"/>
                  <a:pt x="165555" y="79001"/>
                  <a:pt x="161537" y="74983"/>
                </a:cubicBezTo>
                <a:lnTo>
                  <a:pt x="110113" y="23559"/>
                </a:lnTo>
                <a:cubicBezTo>
                  <a:pt x="106095" y="19541"/>
                  <a:pt x="99571" y="19541"/>
                  <a:pt x="95553" y="23559"/>
                </a:cubicBezTo>
                <a:cubicBezTo>
                  <a:pt x="91536" y="27576"/>
                  <a:pt x="91536" y="34101"/>
                  <a:pt x="95553" y="38118"/>
                </a:cubicBezTo>
                <a:lnTo>
                  <a:pt x="129429" y="71994"/>
                </a:lnTo>
                <a:lnTo>
                  <a:pt x="10285" y="71994"/>
                </a:lnTo>
                <a:cubicBezTo>
                  <a:pt x="4596" y="71994"/>
                  <a:pt x="0" y="76590"/>
                  <a:pt x="0" y="82279"/>
                </a:cubicBezTo>
                <a:cubicBezTo>
                  <a:pt x="0" y="87968"/>
                  <a:pt x="4596" y="92564"/>
                  <a:pt x="10285" y="92564"/>
                </a:cubicBezTo>
                <a:lnTo>
                  <a:pt x="129429" y="92564"/>
                </a:lnTo>
                <a:lnTo>
                  <a:pt x="95553" y="126440"/>
                </a:lnTo>
                <a:cubicBezTo>
                  <a:pt x="91536" y="130457"/>
                  <a:pt x="91536" y="136982"/>
                  <a:pt x="95553" y="140999"/>
                </a:cubicBezTo>
                <a:cubicBezTo>
                  <a:pt x="99571" y="145017"/>
                  <a:pt x="106095" y="145017"/>
                  <a:pt x="110113" y="140999"/>
                </a:cubicBezTo>
                <a:lnTo>
                  <a:pt x="161537" y="89575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8827923" y="6458910"/>
            <a:ext cx="3197131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Identification rapide</a:t>
            </a:r>
            <a:r>
              <a:rPr lang="en-US" sz="129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variables influentes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51701" y="6835043"/>
            <a:ext cx="164558" cy="164558"/>
          </a:xfrm>
          <a:custGeom>
            <a:avLst/>
            <a:gdLst/>
            <a:ahLst/>
            <a:cxnLst/>
            <a:rect l="l" t="t" r="r" b="b"/>
            <a:pathLst>
              <a:path w="164558" h="164558">
                <a:moveTo>
                  <a:pt x="161537" y="89543"/>
                </a:moveTo>
                <a:cubicBezTo>
                  <a:pt x="165555" y="85525"/>
                  <a:pt x="165555" y="79001"/>
                  <a:pt x="161537" y="74983"/>
                </a:cubicBezTo>
                <a:lnTo>
                  <a:pt x="110113" y="23559"/>
                </a:lnTo>
                <a:cubicBezTo>
                  <a:pt x="106095" y="19541"/>
                  <a:pt x="99571" y="19541"/>
                  <a:pt x="95553" y="23559"/>
                </a:cubicBezTo>
                <a:cubicBezTo>
                  <a:pt x="91536" y="27576"/>
                  <a:pt x="91536" y="34101"/>
                  <a:pt x="95553" y="38118"/>
                </a:cubicBezTo>
                <a:lnTo>
                  <a:pt x="129429" y="71994"/>
                </a:lnTo>
                <a:lnTo>
                  <a:pt x="10285" y="71994"/>
                </a:lnTo>
                <a:cubicBezTo>
                  <a:pt x="4596" y="71994"/>
                  <a:pt x="0" y="76590"/>
                  <a:pt x="0" y="82279"/>
                </a:cubicBezTo>
                <a:cubicBezTo>
                  <a:pt x="0" y="87968"/>
                  <a:pt x="4596" y="92564"/>
                  <a:pt x="10285" y="92564"/>
                </a:cubicBezTo>
                <a:lnTo>
                  <a:pt x="129429" y="92564"/>
                </a:lnTo>
                <a:lnTo>
                  <a:pt x="95553" y="126440"/>
                </a:lnTo>
                <a:cubicBezTo>
                  <a:pt x="91536" y="130457"/>
                  <a:pt x="91536" y="136982"/>
                  <a:pt x="95553" y="140999"/>
                </a:cubicBezTo>
                <a:cubicBezTo>
                  <a:pt x="99571" y="145017"/>
                  <a:pt x="106095" y="145017"/>
                  <a:pt x="110113" y="140999"/>
                </a:cubicBezTo>
                <a:lnTo>
                  <a:pt x="161537" y="89575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8827923" y="6788026"/>
            <a:ext cx="3655543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solide</a:t>
            </a:r>
            <a:r>
              <a:rPr lang="en-US" sz="129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l'évaluation des modèles avancés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51701" y="7164159"/>
            <a:ext cx="164558" cy="164558"/>
          </a:xfrm>
          <a:custGeom>
            <a:avLst/>
            <a:gdLst/>
            <a:ahLst/>
            <a:cxnLst/>
            <a:rect l="l" t="t" r="r" b="b"/>
            <a:pathLst>
              <a:path w="164558" h="164558">
                <a:moveTo>
                  <a:pt x="161537" y="89543"/>
                </a:moveTo>
                <a:cubicBezTo>
                  <a:pt x="165555" y="85525"/>
                  <a:pt x="165555" y="79001"/>
                  <a:pt x="161537" y="74983"/>
                </a:cubicBezTo>
                <a:lnTo>
                  <a:pt x="110113" y="23559"/>
                </a:lnTo>
                <a:cubicBezTo>
                  <a:pt x="106095" y="19541"/>
                  <a:pt x="99571" y="19541"/>
                  <a:pt x="95553" y="23559"/>
                </a:cubicBezTo>
                <a:cubicBezTo>
                  <a:pt x="91536" y="27576"/>
                  <a:pt x="91536" y="34101"/>
                  <a:pt x="95553" y="38118"/>
                </a:cubicBezTo>
                <a:lnTo>
                  <a:pt x="129429" y="71994"/>
                </a:lnTo>
                <a:lnTo>
                  <a:pt x="10285" y="71994"/>
                </a:lnTo>
                <a:cubicBezTo>
                  <a:pt x="4596" y="71994"/>
                  <a:pt x="0" y="76590"/>
                  <a:pt x="0" y="82279"/>
                </a:cubicBezTo>
                <a:cubicBezTo>
                  <a:pt x="0" y="87968"/>
                  <a:pt x="4596" y="92564"/>
                  <a:pt x="10285" y="92564"/>
                </a:cubicBezTo>
                <a:lnTo>
                  <a:pt x="129429" y="92564"/>
                </a:lnTo>
                <a:lnTo>
                  <a:pt x="95553" y="126440"/>
                </a:lnTo>
                <a:cubicBezTo>
                  <a:pt x="91536" y="130457"/>
                  <a:pt x="91536" y="136982"/>
                  <a:pt x="95553" y="140999"/>
                </a:cubicBezTo>
                <a:cubicBezTo>
                  <a:pt x="99571" y="145017"/>
                  <a:pt x="106095" y="145017"/>
                  <a:pt x="110113" y="140999"/>
                </a:cubicBezTo>
                <a:lnTo>
                  <a:pt x="161537" y="89575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8827923" y="7117142"/>
            <a:ext cx="2738719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facilitée</a:t>
            </a:r>
            <a:r>
              <a:rPr lang="en-US" sz="129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résultats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69601" y="7775375"/>
            <a:ext cx="7522661" cy="611216"/>
          </a:xfrm>
          <a:custGeom>
            <a:avLst/>
            <a:gdLst/>
            <a:ahLst/>
            <a:cxnLst/>
            <a:rect l="l" t="t" r="r" b="b"/>
            <a:pathLst>
              <a:path w="7522661" h="611216">
                <a:moveTo>
                  <a:pt x="47017" y="0"/>
                </a:moveTo>
                <a:lnTo>
                  <a:pt x="7428625" y="0"/>
                </a:lnTo>
                <a:cubicBezTo>
                  <a:pt x="7480560" y="0"/>
                  <a:pt x="7522661" y="42101"/>
                  <a:pt x="7522661" y="94036"/>
                </a:cubicBezTo>
                <a:lnTo>
                  <a:pt x="7522661" y="517181"/>
                </a:lnTo>
                <a:cubicBezTo>
                  <a:pt x="7522661" y="569115"/>
                  <a:pt x="7480560" y="611216"/>
                  <a:pt x="7428625" y="611216"/>
                </a:cubicBezTo>
                <a:lnTo>
                  <a:pt x="47017" y="611216"/>
                </a:lnTo>
                <a:cubicBezTo>
                  <a:pt x="21050" y="611216"/>
                  <a:pt x="0" y="590166"/>
                  <a:pt x="0" y="564200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E7A46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8269601" y="7775375"/>
            <a:ext cx="47017" cy="611216"/>
          </a:xfrm>
          <a:custGeom>
            <a:avLst/>
            <a:gdLst/>
            <a:ahLst/>
            <a:cxnLst/>
            <a:rect l="l" t="t" r="r" b="b"/>
            <a:pathLst>
              <a:path w="47017" h="611216">
                <a:moveTo>
                  <a:pt x="47017" y="0"/>
                </a:moveTo>
                <a:lnTo>
                  <a:pt x="47017" y="0"/>
                </a:lnTo>
                <a:lnTo>
                  <a:pt x="47017" y="611216"/>
                </a:lnTo>
                <a:lnTo>
                  <a:pt x="47017" y="611216"/>
                </a:lnTo>
                <a:cubicBezTo>
                  <a:pt x="21050" y="611216"/>
                  <a:pt x="0" y="590166"/>
                  <a:pt x="0" y="564200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8504684" y="7998704"/>
            <a:ext cx="164558" cy="164558"/>
          </a:xfrm>
          <a:custGeom>
            <a:avLst/>
            <a:gdLst/>
            <a:ahLst/>
            <a:cxnLst/>
            <a:rect l="l" t="t" r="r" b="b"/>
            <a:pathLst>
              <a:path w="164558" h="164558">
                <a:moveTo>
                  <a:pt x="10285" y="10285"/>
                </a:moveTo>
                <a:cubicBezTo>
                  <a:pt x="15974" y="10285"/>
                  <a:pt x="20570" y="14881"/>
                  <a:pt x="20570" y="20570"/>
                </a:cubicBezTo>
                <a:lnTo>
                  <a:pt x="20570" y="128561"/>
                </a:lnTo>
                <a:cubicBezTo>
                  <a:pt x="20570" y="131389"/>
                  <a:pt x="22884" y="133704"/>
                  <a:pt x="25712" y="133704"/>
                </a:cubicBezTo>
                <a:lnTo>
                  <a:pt x="154273" y="133704"/>
                </a:lnTo>
                <a:cubicBezTo>
                  <a:pt x="159962" y="133704"/>
                  <a:pt x="164558" y="138300"/>
                  <a:pt x="164558" y="143988"/>
                </a:cubicBezTo>
                <a:cubicBezTo>
                  <a:pt x="164558" y="149677"/>
                  <a:pt x="159962" y="154273"/>
                  <a:pt x="154273" y="154273"/>
                </a:cubicBezTo>
                <a:lnTo>
                  <a:pt x="25712" y="154273"/>
                </a:lnTo>
                <a:cubicBezTo>
                  <a:pt x="11506" y="154273"/>
                  <a:pt x="0" y="142767"/>
                  <a:pt x="0" y="128561"/>
                </a:cubicBezTo>
                <a:lnTo>
                  <a:pt x="0" y="20570"/>
                </a:lnTo>
                <a:cubicBezTo>
                  <a:pt x="0" y="14881"/>
                  <a:pt x="4596" y="10285"/>
                  <a:pt x="10285" y="10285"/>
                </a:cubicBezTo>
                <a:close/>
                <a:moveTo>
                  <a:pt x="41140" y="30855"/>
                </a:moveTo>
                <a:cubicBezTo>
                  <a:pt x="41140" y="25166"/>
                  <a:pt x="45736" y="20570"/>
                  <a:pt x="51424" y="20570"/>
                </a:cubicBezTo>
                <a:lnTo>
                  <a:pt x="113134" y="20570"/>
                </a:lnTo>
                <a:cubicBezTo>
                  <a:pt x="118823" y="20570"/>
                  <a:pt x="123419" y="25166"/>
                  <a:pt x="123419" y="30855"/>
                </a:cubicBezTo>
                <a:cubicBezTo>
                  <a:pt x="123419" y="36543"/>
                  <a:pt x="118823" y="41140"/>
                  <a:pt x="113134" y="41140"/>
                </a:cubicBezTo>
                <a:lnTo>
                  <a:pt x="51424" y="41140"/>
                </a:lnTo>
                <a:cubicBezTo>
                  <a:pt x="45736" y="41140"/>
                  <a:pt x="41140" y="36543"/>
                  <a:pt x="41140" y="30855"/>
                </a:cubicBezTo>
                <a:close/>
                <a:moveTo>
                  <a:pt x="51424" y="56567"/>
                </a:moveTo>
                <a:lnTo>
                  <a:pt x="92564" y="56567"/>
                </a:lnTo>
                <a:cubicBezTo>
                  <a:pt x="98253" y="56567"/>
                  <a:pt x="102849" y="61163"/>
                  <a:pt x="102849" y="66852"/>
                </a:cubicBezTo>
                <a:cubicBezTo>
                  <a:pt x="102849" y="72541"/>
                  <a:pt x="98253" y="77137"/>
                  <a:pt x="92564" y="77137"/>
                </a:cubicBezTo>
                <a:lnTo>
                  <a:pt x="51424" y="77137"/>
                </a:lnTo>
                <a:cubicBezTo>
                  <a:pt x="45736" y="77137"/>
                  <a:pt x="41140" y="72541"/>
                  <a:pt x="41140" y="66852"/>
                </a:cubicBezTo>
                <a:cubicBezTo>
                  <a:pt x="41140" y="61163"/>
                  <a:pt x="45736" y="56567"/>
                  <a:pt x="51424" y="56567"/>
                </a:cubicBezTo>
                <a:close/>
                <a:moveTo>
                  <a:pt x="51424" y="92564"/>
                </a:moveTo>
                <a:lnTo>
                  <a:pt x="133704" y="92564"/>
                </a:lnTo>
                <a:cubicBezTo>
                  <a:pt x="139392" y="92564"/>
                  <a:pt x="143988" y="97160"/>
                  <a:pt x="143988" y="102849"/>
                </a:cubicBezTo>
                <a:cubicBezTo>
                  <a:pt x="143988" y="108538"/>
                  <a:pt x="139392" y="113134"/>
                  <a:pt x="133704" y="113134"/>
                </a:cubicBezTo>
                <a:lnTo>
                  <a:pt x="51424" y="113134"/>
                </a:lnTo>
                <a:cubicBezTo>
                  <a:pt x="45736" y="113134"/>
                  <a:pt x="41140" y="108538"/>
                  <a:pt x="41140" y="102849"/>
                </a:cubicBezTo>
                <a:cubicBezTo>
                  <a:pt x="41140" y="97160"/>
                  <a:pt x="45736" y="92564"/>
                  <a:pt x="51424" y="92564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8779781" y="7963442"/>
            <a:ext cx="6906694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typique:</a:t>
            </a:r>
            <a:r>
              <a:rPr lang="en-US" sz="129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R² ≈ 0,72 - Score de référence pour les modèles plus complexes.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813" y="452813"/>
            <a:ext cx="15440936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kern="0" spc="7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LIMITES ET FAIBLESSES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2813" y="815064"/>
            <a:ext cx="15554139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Régression Linéaire – </a:t>
            </a:r>
            <a:r>
              <a:rPr lang="en-US" sz="3209" b="1" dirty="0" err="1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</a:t>
            </a:r>
            <a:r>
              <a:rPr lang="en-US" sz="320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2813" y="1403721"/>
            <a:ext cx="905627" cy="45281"/>
          </a:xfrm>
          <a:custGeom>
            <a:avLst/>
            <a:gdLst/>
            <a:ahLst/>
            <a:cxnLst/>
            <a:rect l="l" t="t" r="r" b="b"/>
            <a:pathLst>
              <a:path w="905627" h="45281">
                <a:moveTo>
                  <a:pt x="0" y="0"/>
                </a:moveTo>
                <a:lnTo>
                  <a:pt x="905627" y="0"/>
                </a:lnTo>
                <a:lnTo>
                  <a:pt x="905627" y="45281"/>
                </a:lnTo>
                <a:lnTo>
                  <a:pt x="0" y="45281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2813" y="1698050"/>
            <a:ext cx="7561983" cy="3554585"/>
          </a:xfrm>
          <a:custGeom>
            <a:avLst/>
            <a:gdLst/>
            <a:ahLst/>
            <a:cxnLst/>
            <a:rect l="l" t="t" r="r" b="b"/>
            <a:pathLst>
              <a:path w="7561983" h="3554585">
                <a:moveTo>
                  <a:pt x="45281" y="0"/>
                </a:moveTo>
                <a:lnTo>
                  <a:pt x="7516702" y="0"/>
                </a:lnTo>
                <a:cubicBezTo>
                  <a:pt x="7541710" y="0"/>
                  <a:pt x="7561983" y="20273"/>
                  <a:pt x="7561983" y="45281"/>
                </a:cubicBezTo>
                <a:lnTo>
                  <a:pt x="7561983" y="3464014"/>
                </a:lnTo>
                <a:cubicBezTo>
                  <a:pt x="7561983" y="3514035"/>
                  <a:pt x="7521433" y="3554585"/>
                  <a:pt x="7471412" y="3554585"/>
                </a:cubicBezTo>
                <a:lnTo>
                  <a:pt x="90571" y="3554585"/>
                </a:lnTo>
                <a:cubicBezTo>
                  <a:pt x="40550" y="3554585"/>
                  <a:pt x="0" y="3514035"/>
                  <a:pt x="0" y="3464014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3961" dist="1132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2813" y="1698050"/>
            <a:ext cx="7561983" cy="45281"/>
          </a:xfrm>
          <a:custGeom>
            <a:avLst/>
            <a:gdLst/>
            <a:ahLst/>
            <a:cxnLst/>
            <a:rect l="l" t="t" r="r" b="b"/>
            <a:pathLst>
              <a:path w="7561983" h="45281">
                <a:moveTo>
                  <a:pt x="45281" y="0"/>
                </a:moveTo>
                <a:lnTo>
                  <a:pt x="7516702" y="0"/>
                </a:lnTo>
                <a:cubicBezTo>
                  <a:pt x="7541710" y="0"/>
                  <a:pt x="7561983" y="20273"/>
                  <a:pt x="7561983" y="45281"/>
                </a:cubicBezTo>
                <a:lnTo>
                  <a:pt x="7561983" y="45281"/>
                </a:lnTo>
                <a:lnTo>
                  <a:pt x="0" y="45281"/>
                </a:ln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07521" y="1992379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113203" y="0"/>
                </a:moveTo>
                <a:cubicBezTo>
                  <a:pt x="119704" y="0"/>
                  <a:pt x="125673" y="3582"/>
                  <a:pt x="128769" y="9286"/>
                </a:cubicBezTo>
                <a:lnTo>
                  <a:pt x="224284" y="186166"/>
                </a:lnTo>
                <a:cubicBezTo>
                  <a:pt x="227247" y="191650"/>
                  <a:pt x="227114" y="198283"/>
                  <a:pt x="223930" y="203633"/>
                </a:cubicBezTo>
                <a:cubicBezTo>
                  <a:pt x="220747" y="208984"/>
                  <a:pt x="214954" y="212256"/>
                  <a:pt x="208719" y="212256"/>
                </a:cubicBezTo>
                <a:lnTo>
                  <a:pt x="17688" y="212256"/>
                </a:lnTo>
                <a:cubicBezTo>
                  <a:pt x="11453" y="212256"/>
                  <a:pt x="5704" y="208984"/>
                  <a:pt x="2476" y="203633"/>
                </a:cubicBezTo>
                <a:cubicBezTo>
                  <a:pt x="-752" y="198283"/>
                  <a:pt x="-840" y="191650"/>
                  <a:pt x="2123" y="186166"/>
                </a:cubicBezTo>
                <a:lnTo>
                  <a:pt x="97638" y="9286"/>
                </a:lnTo>
                <a:cubicBezTo>
                  <a:pt x="100733" y="3582"/>
                  <a:pt x="106703" y="0"/>
                  <a:pt x="113203" y="0"/>
                </a:cubicBezTo>
                <a:close/>
                <a:moveTo>
                  <a:pt x="113203" y="74290"/>
                </a:moveTo>
                <a:cubicBezTo>
                  <a:pt x="107322" y="74290"/>
                  <a:pt x="102591" y="79021"/>
                  <a:pt x="102591" y="84903"/>
                </a:cubicBezTo>
                <a:lnTo>
                  <a:pt x="102591" y="134429"/>
                </a:lnTo>
                <a:cubicBezTo>
                  <a:pt x="102591" y="140310"/>
                  <a:pt x="107322" y="145042"/>
                  <a:pt x="113203" y="145042"/>
                </a:cubicBezTo>
                <a:cubicBezTo>
                  <a:pt x="119085" y="145042"/>
                  <a:pt x="123816" y="140310"/>
                  <a:pt x="123816" y="134429"/>
                </a:cubicBezTo>
                <a:lnTo>
                  <a:pt x="123816" y="84903"/>
                </a:lnTo>
                <a:cubicBezTo>
                  <a:pt x="123816" y="79021"/>
                  <a:pt x="119085" y="74290"/>
                  <a:pt x="113203" y="74290"/>
                </a:cubicBezTo>
                <a:close/>
                <a:moveTo>
                  <a:pt x="125010" y="169805"/>
                </a:moveTo>
                <a:cubicBezTo>
                  <a:pt x="125279" y="165422"/>
                  <a:pt x="123093" y="161253"/>
                  <a:pt x="119336" y="158980"/>
                </a:cubicBezTo>
                <a:cubicBezTo>
                  <a:pt x="115579" y="156708"/>
                  <a:pt x="110872" y="156708"/>
                  <a:pt x="107115" y="158980"/>
                </a:cubicBezTo>
                <a:cubicBezTo>
                  <a:pt x="103358" y="161253"/>
                  <a:pt x="101172" y="165422"/>
                  <a:pt x="101441" y="169805"/>
                </a:cubicBezTo>
                <a:cubicBezTo>
                  <a:pt x="101172" y="174188"/>
                  <a:pt x="103358" y="178357"/>
                  <a:pt x="107115" y="180630"/>
                </a:cubicBezTo>
                <a:cubicBezTo>
                  <a:pt x="110872" y="182902"/>
                  <a:pt x="115579" y="182902"/>
                  <a:pt x="119336" y="180630"/>
                </a:cubicBezTo>
                <a:cubicBezTo>
                  <a:pt x="123093" y="178357"/>
                  <a:pt x="125279" y="174188"/>
                  <a:pt x="125010" y="169805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2228" y="1947097"/>
            <a:ext cx="6939365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Inaptitude aux Relations Non Linéaires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9220" y="2399911"/>
            <a:ext cx="7199733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L'hypothèse de linéarité est </a:t>
            </a:r>
            <a:r>
              <a:rPr lang="en-US" sz="1426" dirty="0">
                <a:solidFill>
                  <a:srgbClr val="2C3E50"/>
                </a:solidFill>
                <a:highlight>
                  <a:srgbClr val="E7A46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trop restrictive </a:t>
            </a:r>
            <a:r>
              <a:rPr lang="en-US" sz="142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pour le marché immobilier tunisien, qui présente des patterns complexes.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1861" y="3124412"/>
            <a:ext cx="7086529" cy="996189"/>
          </a:xfrm>
          <a:custGeom>
            <a:avLst/>
            <a:gdLst/>
            <a:ahLst/>
            <a:cxnLst/>
            <a:rect l="l" t="t" r="r" b="b"/>
            <a:pathLst>
              <a:path w="7086529" h="996189">
                <a:moveTo>
                  <a:pt x="45281" y="0"/>
                </a:moveTo>
                <a:lnTo>
                  <a:pt x="6995966" y="0"/>
                </a:lnTo>
                <a:cubicBezTo>
                  <a:pt x="7045983" y="0"/>
                  <a:pt x="7086529" y="40547"/>
                  <a:pt x="7086529" y="90564"/>
                </a:cubicBezTo>
                <a:lnTo>
                  <a:pt x="7086529" y="905626"/>
                </a:lnTo>
                <a:cubicBezTo>
                  <a:pt x="7086529" y="955643"/>
                  <a:pt x="7045983" y="996189"/>
                  <a:pt x="6995966" y="996189"/>
                </a:cubicBezTo>
                <a:lnTo>
                  <a:pt x="45281" y="996189"/>
                </a:lnTo>
                <a:cubicBezTo>
                  <a:pt x="20273" y="996189"/>
                  <a:pt x="0" y="975916"/>
                  <a:pt x="0" y="950908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01861" y="3124412"/>
            <a:ext cx="45281" cy="996189"/>
          </a:xfrm>
          <a:custGeom>
            <a:avLst/>
            <a:gdLst/>
            <a:ahLst/>
            <a:cxnLst/>
            <a:rect l="l" t="t" r="r" b="b"/>
            <a:pathLst>
              <a:path w="45281" h="996189">
                <a:moveTo>
                  <a:pt x="45281" y="0"/>
                </a:moveTo>
                <a:lnTo>
                  <a:pt x="45281" y="0"/>
                </a:lnTo>
                <a:lnTo>
                  <a:pt x="45281" y="996189"/>
                </a:lnTo>
                <a:lnTo>
                  <a:pt x="45281" y="996189"/>
                </a:lnTo>
                <a:cubicBezTo>
                  <a:pt x="20273" y="996189"/>
                  <a:pt x="0" y="975916"/>
                  <a:pt x="0" y="950908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82986" y="3294217"/>
            <a:ext cx="158485" cy="158485"/>
          </a:xfrm>
          <a:custGeom>
            <a:avLst/>
            <a:gdLst/>
            <a:ahLst/>
            <a:cxnLst/>
            <a:rect l="l" t="t" r="r" b="b"/>
            <a:pathLst>
              <a:path w="158485" h="158485">
                <a:moveTo>
                  <a:pt x="9905" y="9905"/>
                </a:moveTo>
                <a:cubicBezTo>
                  <a:pt x="15384" y="9905"/>
                  <a:pt x="19811" y="14332"/>
                  <a:pt x="19811" y="19811"/>
                </a:cubicBezTo>
                <a:lnTo>
                  <a:pt x="19811" y="123816"/>
                </a:lnTo>
                <a:cubicBezTo>
                  <a:pt x="19811" y="126540"/>
                  <a:pt x="22039" y="128769"/>
                  <a:pt x="24763" y="128769"/>
                </a:cubicBezTo>
                <a:lnTo>
                  <a:pt x="148579" y="128769"/>
                </a:lnTo>
                <a:cubicBezTo>
                  <a:pt x="154058" y="128769"/>
                  <a:pt x="158485" y="133195"/>
                  <a:pt x="158485" y="138674"/>
                </a:cubicBezTo>
                <a:cubicBezTo>
                  <a:pt x="158485" y="144153"/>
                  <a:pt x="154058" y="148579"/>
                  <a:pt x="148579" y="148579"/>
                </a:cubicBezTo>
                <a:lnTo>
                  <a:pt x="24763" y="148579"/>
                </a:lnTo>
                <a:cubicBezTo>
                  <a:pt x="11082" y="148579"/>
                  <a:pt x="0" y="137498"/>
                  <a:pt x="0" y="123816"/>
                </a:cubicBezTo>
                <a:lnTo>
                  <a:pt x="0" y="19811"/>
                </a:lnTo>
                <a:cubicBezTo>
                  <a:pt x="0" y="14332"/>
                  <a:pt x="4426" y="9905"/>
                  <a:pt x="9905" y="9905"/>
                </a:cubicBezTo>
                <a:close/>
                <a:moveTo>
                  <a:pt x="74290" y="29716"/>
                </a:moveTo>
                <a:cubicBezTo>
                  <a:pt x="76364" y="29716"/>
                  <a:pt x="78345" y="30583"/>
                  <a:pt x="79769" y="32130"/>
                </a:cubicBezTo>
                <a:lnTo>
                  <a:pt x="101777" y="56120"/>
                </a:lnTo>
                <a:lnTo>
                  <a:pt x="116078" y="41788"/>
                </a:lnTo>
                <a:cubicBezTo>
                  <a:pt x="118987" y="38878"/>
                  <a:pt x="123692" y="38878"/>
                  <a:pt x="126571" y="41788"/>
                </a:cubicBezTo>
                <a:lnTo>
                  <a:pt x="146382" y="61599"/>
                </a:lnTo>
                <a:cubicBezTo>
                  <a:pt x="147775" y="62991"/>
                  <a:pt x="148548" y="64880"/>
                  <a:pt x="148548" y="66861"/>
                </a:cubicBezTo>
                <a:lnTo>
                  <a:pt x="148548" y="101529"/>
                </a:lnTo>
                <a:cubicBezTo>
                  <a:pt x="148548" y="105646"/>
                  <a:pt x="145236" y="108958"/>
                  <a:pt x="141119" y="108958"/>
                </a:cubicBezTo>
                <a:lnTo>
                  <a:pt x="47019" y="108958"/>
                </a:lnTo>
                <a:cubicBezTo>
                  <a:pt x="42902" y="108958"/>
                  <a:pt x="39590" y="105646"/>
                  <a:pt x="39590" y="101529"/>
                </a:cubicBezTo>
                <a:lnTo>
                  <a:pt x="39590" y="66861"/>
                </a:lnTo>
                <a:cubicBezTo>
                  <a:pt x="39590" y="65003"/>
                  <a:pt x="40302" y="63208"/>
                  <a:pt x="41540" y="61846"/>
                </a:cubicBezTo>
                <a:lnTo>
                  <a:pt x="68780" y="32130"/>
                </a:lnTo>
                <a:cubicBezTo>
                  <a:pt x="70173" y="30583"/>
                  <a:pt x="72185" y="29716"/>
                  <a:pt x="74259" y="29716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64111" y="3260256"/>
            <a:ext cx="666767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Effets de Seuil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0345" y="3531944"/>
            <a:ext cx="6871443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L'impact de la surface n'est pas linéaire : un 20m² supplémentaire n'a pas la même valeur pour un petit ou grand appartement.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1861" y="4256446"/>
            <a:ext cx="7086529" cy="769783"/>
          </a:xfrm>
          <a:custGeom>
            <a:avLst/>
            <a:gdLst/>
            <a:ahLst/>
            <a:cxnLst/>
            <a:rect l="l" t="t" r="r" b="b"/>
            <a:pathLst>
              <a:path w="7086529" h="769783">
                <a:moveTo>
                  <a:pt x="45281" y="0"/>
                </a:moveTo>
                <a:lnTo>
                  <a:pt x="6995964" y="0"/>
                </a:lnTo>
                <a:cubicBezTo>
                  <a:pt x="7045982" y="0"/>
                  <a:pt x="7086529" y="40547"/>
                  <a:pt x="7086529" y="90565"/>
                </a:cubicBezTo>
                <a:lnTo>
                  <a:pt x="7086529" y="679218"/>
                </a:lnTo>
                <a:cubicBezTo>
                  <a:pt x="7086529" y="729235"/>
                  <a:pt x="7045982" y="769783"/>
                  <a:pt x="6995964" y="769783"/>
                </a:cubicBezTo>
                <a:lnTo>
                  <a:pt x="45281" y="769783"/>
                </a:lnTo>
                <a:cubicBezTo>
                  <a:pt x="20273" y="769783"/>
                  <a:pt x="0" y="749510"/>
                  <a:pt x="0" y="724501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01861" y="4256446"/>
            <a:ext cx="45281" cy="769783"/>
          </a:xfrm>
          <a:custGeom>
            <a:avLst/>
            <a:gdLst/>
            <a:ahLst/>
            <a:cxnLst/>
            <a:rect l="l" t="t" r="r" b="b"/>
            <a:pathLst>
              <a:path w="45281" h="769783">
                <a:moveTo>
                  <a:pt x="45281" y="0"/>
                </a:moveTo>
                <a:lnTo>
                  <a:pt x="45281" y="0"/>
                </a:lnTo>
                <a:lnTo>
                  <a:pt x="45281" y="769783"/>
                </a:lnTo>
                <a:lnTo>
                  <a:pt x="45281" y="769783"/>
                </a:lnTo>
                <a:cubicBezTo>
                  <a:pt x="20273" y="769783"/>
                  <a:pt x="0" y="749510"/>
                  <a:pt x="0" y="724501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63175" y="4426251"/>
            <a:ext cx="198106" cy="158485"/>
          </a:xfrm>
          <a:custGeom>
            <a:avLst/>
            <a:gdLst/>
            <a:ahLst/>
            <a:cxnLst/>
            <a:rect l="l" t="t" r="r" b="b"/>
            <a:pathLst>
              <a:path w="198106" h="158485">
                <a:moveTo>
                  <a:pt x="178295" y="14858"/>
                </a:moveTo>
                <a:cubicBezTo>
                  <a:pt x="178295" y="11422"/>
                  <a:pt x="176531" y="8234"/>
                  <a:pt x="173590" y="6438"/>
                </a:cubicBezTo>
                <a:cubicBezTo>
                  <a:pt x="170650" y="4643"/>
                  <a:pt x="167028" y="4457"/>
                  <a:pt x="163964" y="6005"/>
                </a:cubicBezTo>
                <a:lnTo>
                  <a:pt x="127995" y="23989"/>
                </a:lnTo>
                <a:lnTo>
                  <a:pt x="72463" y="5448"/>
                </a:lnTo>
                <a:cubicBezTo>
                  <a:pt x="69956" y="4612"/>
                  <a:pt x="67263" y="4798"/>
                  <a:pt x="64911" y="5974"/>
                </a:cubicBezTo>
                <a:lnTo>
                  <a:pt x="25289" y="25785"/>
                </a:lnTo>
                <a:cubicBezTo>
                  <a:pt x="21915" y="27487"/>
                  <a:pt x="19811" y="30923"/>
                  <a:pt x="19811" y="34669"/>
                </a:cubicBezTo>
                <a:lnTo>
                  <a:pt x="19811" y="143627"/>
                </a:lnTo>
                <a:cubicBezTo>
                  <a:pt x="19811" y="147063"/>
                  <a:pt x="21575" y="150251"/>
                  <a:pt x="24516" y="152046"/>
                </a:cubicBezTo>
                <a:cubicBezTo>
                  <a:pt x="27456" y="153842"/>
                  <a:pt x="31078" y="154027"/>
                  <a:pt x="34142" y="152480"/>
                </a:cubicBezTo>
                <a:lnTo>
                  <a:pt x="70080" y="134495"/>
                </a:lnTo>
                <a:lnTo>
                  <a:pt x="123723" y="152387"/>
                </a:lnTo>
                <a:cubicBezTo>
                  <a:pt x="122392" y="150406"/>
                  <a:pt x="121092" y="148332"/>
                  <a:pt x="119823" y="146227"/>
                </a:cubicBezTo>
                <a:cubicBezTo>
                  <a:pt x="116418" y="140562"/>
                  <a:pt x="113044" y="134062"/>
                  <a:pt x="110537" y="127097"/>
                </a:cubicBezTo>
                <a:lnTo>
                  <a:pt x="79211" y="116666"/>
                </a:lnTo>
                <a:lnTo>
                  <a:pt x="79211" y="28602"/>
                </a:lnTo>
                <a:lnTo>
                  <a:pt x="118833" y="41819"/>
                </a:lnTo>
                <a:lnTo>
                  <a:pt x="118833" y="72556"/>
                </a:lnTo>
                <a:cubicBezTo>
                  <a:pt x="128428" y="61475"/>
                  <a:pt x="142667" y="54479"/>
                  <a:pt x="158454" y="54479"/>
                </a:cubicBezTo>
                <a:cubicBezTo>
                  <a:pt x="165449" y="54479"/>
                  <a:pt x="172135" y="55841"/>
                  <a:pt x="178264" y="58348"/>
                </a:cubicBezTo>
                <a:lnTo>
                  <a:pt x="178295" y="14858"/>
                </a:lnTo>
                <a:close/>
                <a:moveTo>
                  <a:pt x="158485" y="69337"/>
                </a:moveTo>
                <a:cubicBezTo>
                  <a:pt x="137962" y="69337"/>
                  <a:pt x="121340" y="85681"/>
                  <a:pt x="121340" y="105832"/>
                </a:cubicBezTo>
                <a:cubicBezTo>
                  <a:pt x="121340" y="127159"/>
                  <a:pt x="141181" y="152387"/>
                  <a:pt x="151861" y="164428"/>
                </a:cubicBezTo>
                <a:cubicBezTo>
                  <a:pt x="155451" y="168452"/>
                  <a:pt x="161549" y="168452"/>
                  <a:pt x="165140" y="164428"/>
                </a:cubicBezTo>
                <a:cubicBezTo>
                  <a:pt x="175819" y="152387"/>
                  <a:pt x="195660" y="127159"/>
                  <a:pt x="195660" y="105832"/>
                </a:cubicBezTo>
                <a:cubicBezTo>
                  <a:pt x="195660" y="85681"/>
                  <a:pt x="179038" y="69337"/>
                  <a:pt x="158516" y="69337"/>
                </a:cubicBezTo>
                <a:close/>
                <a:moveTo>
                  <a:pt x="146103" y="106482"/>
                </a:moveTo>
                <a:cubicBezTo>
                  <a:pt x="146103" y="99648"/>
                  <a:pt x="151651" y="94100"/>
                  <a:pt x="158485" y="94100"/>
                </a:cubicBezTo>
                <a:cubicBezTo>
                  <a:pt x="165318" y="94100"/>
                  <a:pt x="170866" y="99648"/>
                  <a:pt x="170866" y="106482"/>
                </a:cubicBezTo>
                <a:cubicBezTo>
                  <a:pt x="170866" y="113315"/>
                  <a:pt x="165318" y="118864"/>
                  <a:pt x="158485" y="118864"/>
                </a:cubicBezTo>
                <a:cubicBezTo>
                  <a:pt x="151651" y="118864"/>
                  <a:pt x="146103" y="113315"/>
                  <a:pt x="146103" y="106482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64111" y="4392290"/>
            <a:ext cx="666767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Saturation par Localisation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0345" y="4663978"/>
            <a:ext cx="6871443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Certaines zones atteignent un plafond de prix que le modèle linéaire ne peut capturer.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54" y="5433760"/>
            <a:ext cx="7539343" cy="2671599"/>
          </a:xfrm>
          <a:custGeom>
            <a:avLst/>
            <a:gdLst/>
            <a:ahLst/>
            <a:cxnLst/>
            <a:rect l="l" t="t" r="r" b="b"/>
            <a:pathLst>
              <a:path w="7539343" h="2671599">
                <a:moveTo>
                  <a:pt x="45281" y="0"/>
                </a:moveTo>
                <a:lnTo>
                  <a:pt x="7448775" y="0"/>
                </a:lnTo>
                <a:cubicBezTo>
                  <a:pt x="7498794" y="0"/>
                  <a:pt x="7539343" y="40548"/>
                  <a:pt x="7539343" y="90567"/>
                </a:cubicBezTo>
                <a:lnTo>
                  <a:pt x="7539343" y="2581032"/>
                </a:lnTo>
                <a:cubicBezTo>
                  <a:pt x="7539343" y="2631051"/>
                  <a:pt x="7498794" y="2671599"/>
                  <a:pt x="7448775" y="2671599"/>
                </a:cubicBezTo>
                <a:lnTo>
                  <a:pt x="45281" y="2671599"/>
                </a:lnTo>
                <a:cubicBezTo>
                  <a:pt x="20273" y="2671599"/>
                  <a:pt x="0" y="2651326"/>
                  <a:pt x="0" y="2626318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3961" dist="1132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5454" y="5433760"/>
            <a:ext cx="45281" cy="2671599"/>
          </a:xfrm>
          <a:custGeom>
            <a:avLst/>
            <a:gdLst/>
            <a:ahLst/>
            <a:cxnLst/>
            <a:rect l="l" t="t" r="r" b="b"/>
            <a:pathLst>
              <a:path w="45281" h="2671599">
                <a:moveTo>
                  <a:pt x="45281" y="0"/>
                </a:moveTo>
                <a:lnTo>
                  <a:pt x="45281" y="0"/>
                </a:lnTo>
                <a:lnTo>
                  <a:pt x="45281" y="2671599"/>
                </a:lnTo>
                <a:lnTo>
                  <a:pt x="45281" y="2671599"/>
                </a:lnTo>
                <a:cubicBezTo>
                  <a:pt x="20273" y="2671599"/>
                  <a:pt x="0" y="2651326"/>
                  <a:pt x="0" y="2626318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52802" y="5716769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203766"/>
                </a:moveTo>
                <a:cubicBezTo>
                  <a:pt x="158114" y="203766"/>
                  <a:pt x="203766" y="158114"/>
                  <a:pt x="203766" y="101883"/>
                </a:cubicBezTo>
                <a:cubicBezTo>
                  <a:pt x="203766" y="45652"/>
                  <a:pt x="158114" y="0"/>
                  <a:pt x="101883" y="0"/>
                </a:cubicBezTo>
                <a:cubicBezTo>
                  <a:pt x="45652" y="0"/>
                  <a:pt x="0" y="45652"/>
                  <a:pt x="0" y="101883"/>
                </a:cubicBezTo>
                <a:cubicBezTo>
                  <a:pt x="0" y="158114"/>
                  <a:pt x="45652" y="203766"/>
                  <a:pt x="101883" y="203766"/>
                </a:cubicBezTo>
                <a:close/>
                <a:moveTo>
                  <a:pt x="66463" y="66463"/>
                </a:moveTo>
                <a:cubicBezTo>
                  <a:pt x="70204" y="62722"/>
                  <a:pt x="76253" y="62722"/>
                  <a:pt x="79954" y="66463"/>
                </a:cubicBezTo>
                <a:lnTo>
                  <a:pt x="101843" y="88352"/>
                </a:lnTo>
                <a:lnTo>
                  <a:pt x="123732" y="66463"/>
                </a:lnTo>
                <a:cubicBezTo>
                  <a:pt x="127473" y="62722"/>
                  <a:pt x="133522" y="62722"/>
                  <a:pt x="137224" y="66463"/>
                </a:cubicBezTo>
                <a:cubicBezTo>
                  <a:pt x="140925" y="70204"/>
                  <a:pt x="140965" y="76253"/>
                  <a:pt x="137224" y="79954"/>
                </a:cubicBezTo>
                <a:lnTo>
                  <a:pt x="115335" y="101843"/>
                </a:lnTo>
                <a:lnTo>
                  <a:pt x="137224" y="123732"/>
                </a:lnTo>
                <a:cubicBezTo>
                  <a:pt x="140965" y="127473"/>
                  <a:pt x="140965" y="133522"/>
                  <a:pt x="137224" y="137224"/>
                </a:cubicBezTo>
                <a:cubicBezTo>
                  <a:pt x="133483" y="140925"/>
                  <a:pt x="127433" y="140965"/>
                  <a:pt x="123732" y="137224"/>
                </a:cubicBezTo>
                <a:lnTo>
                  <a:pt x="101843" y="115335"/>
                </a:lnTo>
                <a:lnTo>
                  <a:pt x="79954" y="137224"/>
                </a:lnTo>
                <a:cubicBezTo>
                  <a:pt x="76213" y="140965"/>
                  <a:pt x="70164" y="140965"/>
                  <a:pt x="66463" y="137224"/>
                </a:cubicBezTo>
                <a:cubicBezTo>
                  <a:pt x="62762" y="133483"/>
                  <a:pt x="62722" y="127433"/>
                  <a:pt x="66463" y="123732"/>
                </a:cubicBezTo>
                <a:lnTo>
                  <a:pt x="88352" y="101843"/>
                </a:lnTo>
                <a:lnTo>
                  <a:pt x="66463" y="79954"/>
                </a:lnTo>
                <a:cubicBezTo>
                  <a:pt x="62722" y="76213"/>
                  <a:pt x="62722" y="70164"/>
                  <a:pt x="66463" y="66463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84869" y="5660167"/>
            <a:ext cx="6905404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Hypothèse de Linéarité Trop Restrictive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4501" y="6112981"/>
            <a:ext cx="7154451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modèle suppose un impact constant des variables, indépendamment des autres caractéristiques.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4501" y="6837482"/>
            <a:ext cx="7063889" cy="1041471"/>
          </a:xfrm>
          <a:custGeom>
            <a:avLst/>
            <a:gdLst/>
            <a:ahLst/>
            <a:cxnLst/>
            <a:rect l="l" t="t" r="r" b="b"/>
            <a:pathLst>
              <a:path w="7063889" h="1041471">
                <a:moveTo>
                  <a:pt x="45283" y="0"/>
                </a:moveTo>
                <a:lnTo>
                  <a:pt x="7018605" y="0"/>
                </a:lnTo>
                <a:cubicBezTo>
                  <a:pt x="7043615" y="0"/>
                  <a:pt x="7063889" y="20274"/>
                  <a:pt x="7063889" y="45283"/>
                </a:cubicBezTo>
                <a:lnTo>
                  <a:pt x="7063889" y="996188"/>
                </a:lnTo>
                <a:cubicBezTo>
                  <a:pt x="7063889" y="1021197"/>
                  <a:pt x="7043615" y="1041471"/>
                  <a:pt x="7018605" y="1041471"/>
                </a:cubicBezTo>
                <a:lnTo>
                  <a:pt x="45283" y="1041471"/>
                </a:lnTo>
                <a:cubicBezTo>
                  <a:pt x="20274" y="1041471"/>
                  <a:pt x="0" y="1021197"/>
                  <a:pt x="0" y="996188"/>
                </a:cubicBezTo>
                <a:lnTo>
                  <a:pt x="0" y="45283"/>
                </a:lnTo>
                <a:cubicBezTo>
                  <a:pt x="0" y="20274"/>
                  <a:pt x="20274" y="0"/>
                  <a:pt x="45283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60345" y="6973326"/>
            <a:ext cx="6871443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0345" y="7290295"/>
            <a:ext cx="6871443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 villa de 200m² à </a:t>
            </a:r>
            <a:r>
              <a:rPr lang="en-US" sz="1248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Marsa</a:t>
            </a:r>
            <a:r>
              <a:rPr lang="en-US" sz="124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un appartement de 200m² au </a:t>
            </a:r>
            <a:r>
              <a:rPr lang="en-US" sz="1248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centre de Tunis</a:t>
            </a:r>
            <a:r>
              <a:rPr lang="en-US" sz="124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même surface, prix très différents. La régression linéaire ne peut modéliser cette interaction.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43680" y="1675409"/>
            <a:ext cx="7561983" cy="2535755"/>
          </a:xfrm>
          <a:custGeom>
            <a:avLst/>
            <a:gdLst/>
            <a:ahLst/>
            <a:cxnLst/>
            <a:rect l="l" t="t" r="r" b="b"/>
            <a:pathLst>
              <a:path w="7561983" h="2535755">
                <a:moveTo>
                  <a:pt x="90552" y="0"/>
                </a:moveTo>
                <a:lnTo>
                  <a:pt x="7471431" y="0"/>
                </a:lnTo>
                <a:cubicBezTo>
                  <a:pt x="7521442" y="0"/>
                  <a:pt x="7561983" y="40541"/>
                  <a:pt x="7561983" y="90552"/>
                </a:cubicBezTo>
                <a:lnTo>
                  <a:pt x="7561983" y="2445203"/>
                </a:lnTo>
                <a:cubicBezTo>
                  <a:pt x="7561983" y="2495213"/>
                  <a:pt x="7521442" y="2535755"/>
                  <a:pt x="7471431" y="2535755"/>
                </a:cubicBezTo>
                <a:lnTo>
                  <a:pt x="90552" y="2535755"/>
                </a:lnTo>
                <a:cubicBezTo>
                  <a:pt x="40541" y="2535755"/>
                  <a:pt x="0" y="2495213"/>
                  <a:pt x="0" y="2445203"/>
                </a:cubicBezTo>
                <a:lnTo>
                  <a:pt x="0" y="90552"/>
                </a:lnTo>
                <a:cubicBezTo>
                  <a:pt x="0" y="40541"/>
                  <a:pt x="40541" y="0"/>
                  <a:pt x="90552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495E"/>
              </a:gs>
            </a:gsLst>
            <a:lin ang="2700000" scaled="1"/>
          </a:gradFill>
          <a:ln/>
          <a:effectLst>
            <a:outerShdw blurRad="169805" dist="11320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498387" y="1947097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28301" y="28301"/>
                </a:moveTo>
                <a:cubicBezTo>
                  <a:pt x="28301" y="20474"/>
                  <a:pt x="21977" y="14150"/>
                  <a:pt x="14150" y="14150"/>
                </a:cubicBezTo>
                <a:cubicBezTo>
                  <a:pt x="6323" y="14150"/>
                  <a:pt x="0" y="20474"/>
                  <a:pt x="0" y="28301"/>
                </a:cubicBezTo>
                <a:lnTo>
                  <a:pt x="0" y="176880"/>
                </a:lnTo>
                <a:cubicBezTo>
                  <a:pt x="0" y="196425"/>
                  <a:pt x="15831" y="212256"/>
                  <a:pt x="35376" y="212256"/>
                </a:cubicBezTo>
                <a:lnTo>
                  <a:pt x="212256" y="212256"/>
                </a:lnTo>
                <a:cubicBezTo>
                  <a:pt x="220083" y="212256"/>
                  <a:pt x="226407" y="205933"/>
                  <a:pt x="226407" y="198106"/>
                </a:cubicBezTo>
                <a:cubicBezTo>
                  <a:pt x="226407" y="190279"/>
                  <a:pt x="220083" y="183955"/>
                  <a:pt x="212256" y="183955"/>
                </a:cubicBezTo>
                <a:lnTo>
                  <a:pt x="35376" y="183955"/>
                </a:lnTo>
                <a:cubicBezTo>
                  <a:pt x="31485" y="183955"/>
                  <a:pt x="28301" y="180772"/>
                  <a:pt x="28301" y="176880"/>
                </a:cubicBezTo>
                <a:lnTo>
                  <a:pt x="28301" y="28301"/>
                </a:lnTo>
                <a:close/>
                <a:moveTo>
                  <a:pt x="208100" y="66595"/>
                </a:moveTo>
                <a:cubicBezTo>
                  <a:pt x="213627" y="61068"/>
                  <a:pt x="213627" y="52091"/>
                  <a:pt x="208100" y="46564"/>
                </a:cubicBezTo>
                <a:cubicBezTo>
                  <a:pt x="202572" y="41036"/>
                  <a:pt x="193595" y="41036"/>
                  <a:pt x="188068" y="46564"/>
                </a:cubicBezTo>
                <a:lnTo>
                  <a:pt x="141504" y="93172"/>
                </a:lnTo>
                <a:lnTo>
                  <a:pt x="116122" y="67834"/>
                </a:lnTo>
                <a:cubicBezTo>
                  <a:pt x="110594" y="62306"/>
                  <a:pt x="101618" y="62306"/>
                  <a:pt x="96090" y="67834"/>
                </a:cubicBezTo>
                <a:lnTo>
                  <a:pt x="53639" y="110285"/>
                </a:lnTo>
                <a:cubicBezTo>
                  <a:pt x="48111" y="115812"/>
                  <a:pt x="48111" y="124789"/>
                  <a:pt x="53639" y="130317"/>
                </a:cubicBezTo>
                <a:cubicBezTo>
                  <a:pt x="59166" y="135844"/>
                  <a:pt x="68143" y="135844"/>
                  <a:pt x="73671" y="130317"/>
                </a:cubicBezTo>
                <a:lnTo>
                  <a:pt x="106128" y="97859"/>
                </a:lnTo>
                <a:lnTo>
                  <a:pt x="131510" y="123241"/>
                </a:lnTo>
                <a:cubicBezTo>
                  <a:pt x="137038" y="128769"/>
                  <a:pt x="146015" y="128769"/>
                  <a:pt x="151542" y="123241"/>
                </a:cubicBezTo>
                <a:lnTo>
                  <a:pt x="208144" y="6664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753095" y="1901816"/>
            <a:ext cx="6939365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Limitée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70086" y="2399911"/>
            <a:ext cx="3464022" cy="905627"/>
          </a:xfrm>
          <a:custGeom>
            <a:avLst/>
            <a:gdLst/>
            <a:ahLst/>
            <a:cxnLst/>
            <a:rect l="l" t="t" r="r" b="b"/>
            <a:pathLst>
              <a:path w="3464022" h="905627">
                <a:moveTo>
                  <a:pt x="90563" y="0"/>
                </a:moveTo>
                <a:lnTo>
                  <a:pt x="3373460" y="0"/>
                </a:lnTo>
                <a:cubicBezTo>
                  <a:pt x="3423476" y="0"/>
                  <a:pt x="3464022" y="40546"/>
                  <a:pt x="3464022" y="90563"/>
                </a:cubicBezTo>
                <a:lnTo>
                  <a:pt x="3464022" y="815064"/>
                </a:lnTo>
                <a:cubicBezTo>
                  <a:pt x="3464022" y="865080"/>
                  <a:pt x="3423476" y="905627"/>
                  <a:pt x="3373460" y="905627"/>
                </a:cubicBezTo>
                <a:lnTo>
                  <a:pt x="90563" y="905627"/>
                </a:lnTo>
                <a:cubicBezTo>
                  <a:pt x="40546" y="905627"/>
                  <a:pt x="0" y="865080"/>
                  <a:pt x="0" y="815064"/>
                </a:cubicBezTo>
                <a:lnTo>
                  <a:pt x="0" y="90563"/>
                </a:lnTo>
                <a:cubicBezTo>
                  <a:pt x="0" y="40580"/>
                  <a:pt x="40580" y="0"/>
                  <a:pt x="9056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521028" y="2535755"/>
            <a:ext cx="3362139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4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~0,72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66309" y="2943287"/>
            <a:ext cx="327157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Régression Linéaire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116472" y="2399911"/>
            <a:ext cx="3464022" cy="905627"/>
          </a:xfrm>
          <a:custGeom>
            <a:avLst/>
            <a:gdLst/>
            <a:ahLst/>
            <a:cxnLst/>
            <a:rect l="l" t="t" r="r" b="b"/>
            <a:pathLst>
              <a:path w="3464022" h="905627">
                <a:moveTo>
                  <a:pt x="90563" y="0"/>
                </a:moveTo>
                <a:lnTo>
                  <a:pt x="3373460" y="0"/>
                </a:lnTo>
                <a:cubicBezTo>
                  <a:pt x="3423476" y="0"/>
                  <a:pt x="3464022" y="40546"/>
                  <a:pt x="3464022" y="90563"/>
                </a:cubicBezTo>
                <a:lnTo>
                  <a:pt x="3464022" y="815064"/>
                </a:lnTo>
                <a:cubicBezTo>
                  <a:pt x="3464022" y="865080"/>
                  <a:pt x="3423476" y="905627"/>
                  <a:pt x="3373460" y="905627"/>
                </a:cubicBezTo>
                <a:lnTo>
                  <a:pt x="90563" y="905627"/>
                </a:lnTo>
                <a:cubicBezTo>
                  <a:pt x="40546" y="905627"/>
                  <a:pt x="0" y="865080"/>
                  <a:pt x="0" y="815064"/>
                </a:cubicBezTo>
                <a:lnTo>
                  <a:pt x="0" y="90563"/>
                </a:lnTo>
                <a:cubicBezTo>
                  <a:pt x="0" y="40580"/>
                  <a:pt x="40580" y="0"/>
                  <a:pt x="9056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2167414" y="2535755"/>
            <a:ext cx="3362139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4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~0,86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212695" y="2943287"/>
            <a:ext cx="327157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XGBoost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70086" y="3486663"/>
            <a:ext cx="7109170" cy="498095"/>
          </a:xfrm>
          <a:custGeom>
            <a:avLst/>
            <a:gdLst/>
            <a:ahLst/>
            <a:cxnLst/>
            <a:rect l="l" t="t" r="r" b="b"/>
            <a:pathLst>
              <a:path w="7109170" h="498095">
                <a:moveTo>
                  <a:pt x="90564" y="0"/>
                </a:moveTo>
                <a:lnTo>
                  <a:pt x="7018606" y="0"/>
                </a:lnTo>
                <a:cubicBezTo>
                  <a:pt x="7068623" y="0"/>
                  <a:pt x="7109170" y="40547"/>
                  <a:pt x="7109170" y="90564"/>
                </a:cubicBezTo>
                <a:lnTo>
                  <a:pt x="7109170" y="407531"/>
                </a:lnTo>
                <a:cubicBezTo>
                  <a:pt x="7109170" y="457548"/>
                  <a:pt x="7068623" y="498095"/>
                  <a:pt x="7018606" y="498095"/>
                </a:cubicBezTo>
                <a:lnTo>
                  <a:pt x="90564" y="498095"/>
                </a:lnTo>
                <a:cubicBezTo>
                  <a:pt x="40580" y="498095"/>
                  <a:pt x="0" y="457515"/>
                  <a:pt x="0" y="407531"/>
                </a:cubicBezTo>
                <a:lnTo>
                  <a:pt x="0" y="90564"/>
                </a:lnTo>
                <a:cubicBezTo>
                  <a:pt x="0" y="40580"/>
                  <a:pt x="40580" y="0"/>
                  <a:pt x="9056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8628571" y="3656468"/>
            <a:ext cx="158485" cy="158485"/>
          </a:xfrm>
          <a:custGeom>
            <a:avLst/>
            <a:gdLst/>
            <a:ahLst/>
            <a:cxnLst/>
            <a:rect l="l" t="t" r="r" b="b"/>
            <a:pathLst>
              <a:path w="158485" h="158485">
                <a:moveTo>
                  <a:pt x="79242" y="158485"/>
                </a:moveTo>
                <a:cubicBezTo>
                  <a:pt x="122977" y="158485"/>
                  <a:pt x="158485" y="122977"/>
                  <a:pt x="158485" y="79242"/>
                </a:cubicBezTo>
                <a:cubicBezTo>
                  <a:pt x="158485" y="35507"/>
                  <a:pt x="122977" y="0"/>
                  <a:pt x="79242" y="0"/>
                </a:cubicBezTo>
                <a:cubicBezTo>
                  <a:pt x="35507" y="0"/>
                  <a:pt x="0" y="35507"/>
                  <a:pt x="0" y="79242"/>
                </a:cubicBezTo>
                <a:cubicBezTo>
                  <a:pt x="0" y="122977"/>
                  <a:pt x="35507" y="158485"/>
                  <a:pt x="79242" y="158485"/>
                </a:cubicBezTo>
                <a:close/>
                <a:moveTo>
                  <a:pt x="69337" y="49526"/>
                </a:moveTo>
                <a:cubicBezTo>
                  <a:pt x="69337" y="44060"/>
                  <a:pt x="73775" y="39621"/>
                  <a:pt x="79242" y="39621"/>
                </a:cubicBezTo>
                <a:cubicBezTo>
                  <a:pt x="84709" y="39621"/>
                  <a:pt x="89148" y="44060"/>
                  <a:pt x="89148" y="49526"/>
                </a:cubicBezTo>
                <a:cubicBezTo>
                  <a:pt x="89148" y="54993"/>
                  <a:pt x="84709" y="59432"/>
                  <a:pt x="79242" y="59432"/>
                </a:cubicBezTo>
                <a:cubicBezTo>
                  <a:pt x="73775" y="59432"/>
                  <a:pt x="69337" y="54993"/>
                  <a:pt x="69337" y="49526"/>
                </a:cubicBezTo>
                <a:close/>
                <a:moveTo>
                  <a:pt x="66861" y="69337"/>
                </a:moveTo>
                <a:lnTo>
                  <a:pt x="81719" y="69337"/>
                </a:lnTo>
                <a:cubicBezTo>
                  <a:pt x="85836" y="69337"/>
                  <a:pt x="89148" y="72649"/>
                  <a:pt x="89148" y="76766"/>
                </a:cubicBezTo>
                <a:lnTo>
                  <a:pt x="89148" y="104006"/>
                </a:lnTo>
                <a:lnTo>
                  <a:pt x="91624" y="104006"/>
                </a:lnTo>
                <a:cubicBezTo>
                  <a:pt x="95741" y="104006"/>
                  <a:pt x="99053" y="107318"/>
                  <a:pt x="99053" y="111435"/>
                </a:cubicBezTo>
                <a:cubicBezTo>
                  <a:pt x="99053" y="115551"/>
                  <a:pt x="95741" y="118864"/>
                  <a:pt x="91624" y="118864"/>
                </a:cubicBezTo>
                <a:lnTo>
                  <a:pt x="66861" y="118864"/>
                </a:lnTo>
                <a:cubicBezTo>
                  <a:pt x="62744" y="118864"/>
                  <a:pt x="59432" y="115551"/>
                  <a:pt x="59432" y="111435"/>
                </a:cubicBezTo>
                <a:cubicBezTo>
                  <a:pt x="59432" y="107318"/>
                  <a:pt x="62744" y="104006"/>
                  <a:pt x="66861" y="104006"/>
                </a:cubicBezTo>
                <a:lnTo>
                  <a:pt x="74290" y="104006"/>
                </a:lnTo>
                <a:lnTo>
                  <a:pt x="74290" y="84195"/>
                </a:lnTo>
                <a:lnTo>
                  <a:pt x="66861" y="84195"/>
                </a:lnTo>
                <a:cubicBezTo>
                  <a:pt x="62744" y="84195"/>
                  <a:pt x="59432" y="80883"/>
                  <a:pt x="59432" y="76766"/>
                </a:cubicBezTo>
                <a:cubicBezTo>
                  <a:pt x="59432" y="72649"/>
                  <a:pt x="62744" y="69337"/>
                  <a:pt x="66861" y="69337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8890421" y="3622507"/>
            <a:ext cx="6632234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L'écart de R² (0,14) montre que 14% de la variance ne sont pas expliqués par le modèle linéaire.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6320" y="4392290"/>
            <a:ext cx="7539343" cy="3079131"/>
          </a:xfrm>
          <a:custGeom>
            <a:avLst/>
            <a:gdLst/>
            <a:ahLst/>
            <a:cxnLst/>
            <a:rect l="l" t="t" r="r" b="b"/>
            <a:pathLst>
              <a:path w="7539343" h="3079131">
                <a:moveTo>
                  <a:pt x="45281" y="0"/>
                </a:moveTo>
                <a:lnTo>
                  <a:pt x="7448785" y="0"/>
                </a:lnTo>
                <a:cubicBezTo>
                  <a:pt x="7498799" y="0"/>
                  <a:pt x="7539343" y="40544"/>
                  <a:pt x="7539343" y="90557"/>
                </a:cubicBezTo>
                <a:lnTo>
                  <a:pt x="7539343" y="2988574"/>
                </a:lnTo>
                <a:cubicBezTo>
                  <a:pt x="7539343" y="3038587"/>
                  <a:pt x="7498799" y="3079131"/>
                  <a:pt x="7448785" y="3079131"/>
                </a:cubicBezTo>
                <a:lnTo>
                  <a:pt x="45281" y="3079131"/>
                </a:lnTo>
                <a:cubicBezTo>
                  <a:pt x="20273" y="3079131"/>
                  <a:pt x="0" y="3058858"/>
                  <a:pt x="0" y="3033850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3961" dist="1132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8266320" y="4392290"/>
            <a:ext cx="45281" cy="3079131"/>
          </a:xfrm>
          <a:custGeom>
            <a:avLst/>
            <a:gdLst/>
            <a:ahLst/>
            <a:cxnLst/>
            <a:rect l="l" t="t" r="r" b="b"/>
            <a:pathLst>
              <a:path w="45281" h="3079131">
                <a:moveTo>
                  <a:pt x="45281" y="0"/>
                </a:moveTo>
                <a:lnTo>
                  <a:pt x="45281" y="0"/>
                </a:lnTo>
                <a:lnTo>
                  <a:pt x="45281" y="3079131"/>
                </a:lnTo>
                <a:lnTo>
                  <a:pt x="45281" y="3079131"/>
                </a:lnTo>
                <a:cubicBezTo>
                  <a:pt x="20273" y="3079131"/>
                  <a:pt x="0" y="3058858"/>
                  <a:pt x="0" y="3033850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8543669" y="4675298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203766" y="19103"/>
                </a:moveTo>
                <a:cubicBezTo>
                  <a:pt x="203766" y="14685"/>
                  <a:pt x="201498" y="10586"/>
                  <a:pt x="197717" y="8278"/>
                </a:cubicBezTo>
                <a:cubicBezTo>
                  <a:pt x="193936" y="5970"/>
                  <a:pt x="189280" y="5731"/>
                  <a:pt x="185340" y="7721"/>
                </a:cubicBezTo>
                <a:lnTo>
                  <a:pt x="139094" y="30843"/>
                </a:lnTo>
                <a:lnTo>
                  <a:pt x="67696" y="7004"/>
                </a:lnTo>
                <a:cubicBezTo>
                  <a:pt x="64473" y="5930"/>
                  <a:pt x="61010" y="6169"/>
                  <a:pt x="57986" y="7681"/>
                </a:cubicBezTo>
                <a:lnTo>
                  <a:pt x="7044" y="33152"/>
                </a:lnTo>
                <a:cubicBezTo>
                  <a:pt x="2706" y="35341"/>
                  <a:pt x="0" y="39758"/>
                  <a:pt x="0" y="44574"/>
                </a:cubicBezTo>
                <a:lnTo>
                  <a:pt x="0" y="184663"/>
                </a:lnTo>
                <a:cubicBezTo>
                  <a:pt x="0" y="189081"/>
                  <a:pt x="2268" y="193180"/>
                  <a:pt x="6049" y="195488"/>
                </a:cubicBezTo>
                <a:cubicBezTo>
                  <a:pt x="9830" y="197796"/>
                  <a:pt x="14486" y="198035"/>
                  <a:pt x="18426" y="196045"/>
                </a:cubicBezTo>
                <a:lnTo>
                  <a:pt x="64632" y="172923"/>
                </a:lnTo>
                <a:lnTo>
                  <a:pt x="136030" y="196722"/>
                </a:lnTo>
                <a:cubicBezTo>
                  <a:pt x="139253" y="197796"/>
                  <a:pt x="142716" y="197558"/>
                  <a:pt x="145740" y="196045"/>
                </a:cubicBezTo>
                <a:lnTo>
                  <a:pt x="196682" y="170574"/>
                </a:lnTo>
                <a:cubicBezTo>
                  <a:pt x="200980" y="168425"/>
                  <a:pt x="203726" y="164008"/>
                  <a:pt x="203726" y="159192"/>
                </a:cubicBezTo>
                <a:lnTo>
                  <a:pt x="203726" y="19103"/>
                </a:lnTo>
                <a:close/>
                <a:moveTo>
                  <a:pt x="76412" y="149999"/>
                </a:moveTo>
                <a:lnTo>
                  <a:pt x="76412" y="36773"/>
                </a:lnTo>
                <a:lnTo>
                  <a:pt x="127354" y="53767"/>
                </a:lnTo>
                <a:lnTo>
                  <a:pt x="127354" y="166993"/>
                </a:lnTo>
                <a:lnTo>
                  <a:pt x="76412" y="149999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8775735" y="4618696"/>
            <a:ext cx="6905404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Difficulté avec l'Hétérogénéité Spatiale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15368" y="5071510"/>
            <a:ext cx="7154451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marché tunisien présente une </a:t>
            </a:r>
            <a:r>
              <a:rPr lang="en-US" sz="1426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variabilité spatiale extrême</a:t>
            </a:r>
            <a:r>
              <a:rPr lang="en-US" sz="142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le modèle ne peut capturer.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15368" y="5796011"/>
            <a:ext cx="7063889" cy="1449003"/>
          </a:xfrm>
          <a:custGeom>
            <a:avLst/>
            <a:gdLst/>
            <a:ahLst/>
            <a:cxnLst/>
            <a:rect l="l" t="t" r="r" b="b"/>
            <a:pathLst>
              <a:path w="7063889" h="1449003">
                <a:moveTo>
                  <a:pt x="45281" y="0"/>
                </a:moveTo>
                <a:lnTo>
                  <a:pt x="7018607" y="0"/>
                </a:lnTo>
                <a:cubicBezTo>
                  <a:pt x="7043615" y="0"/>
                  <a:pt x="7063889" y="20273"/>
                  <a:pt x="7063889" y="45281"/>
                </a:cubicBezTo>
                <a:lnTo>
                  <a:pt x="7063889" y="1403721"/>
                </a:lnTo>
                <a:cubicBezTo>
                  <a:pt x="7063889" y="1428730"/>
                  <a:pt x="7043615" y="1449003"/>
                  <a:pt x="7018607" y="1449003"/>
                </a:cubicBezTo>
                <a:lnTo>
                  <a:pt x="45281" y="1449003"/>
                </a:lnTo>
                <a:cubicBezTo>
                  <a:pt x="20273" y="1449003"/>
                  <a:pt x="0" y="1428730"/>
                  <a:pt x="0" y="1403721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8651212" y="5931855"/>
            <a:ext cx="6792201" cy="407532"/>
          </a:xfrm>
          <a:custGeom>
            <a:avLst/>
            <a:gdLst/>
            <a:ahLst/>
            <a:cxnLst/>
            <a:rect l="l" t="t" r="r" b="b"/>
            <a:pathLst>
              <a:path w="6792201" h="407532">
                <a:moveTo>
                  <a:pt x="45281" y="0"/>
                </a:moveTo>
                <a:lnTo>
                  <a:pt x="6746920" y="0"/>
                </a:lnTo>
                <a:cubicBezTo>
                  <a:pt x="6771928" y="0"/>
                  <a:pt x="6792201" y="20273"/>
                  <a:pt x="6792201" y="45281"/>
                </a:cubicBezTo>
                <a:lnTo>
                  <a:pt x="6792201" y="362251"/>
                </a:lnTo>
                <a:cubicBezTo>
                  <a:pt x="6792201" y="387259"/>
                  <a:pt x="6771928" y="407532"/>
                  <a:pt x="6746920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8741774" y="6022418"/>
            <a:ext cx="1403721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Jardins de Carthage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4389029" y="6022418"/>
            <a:ext cx="1041471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4850 TND/m²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651212" y="6429950"/>
            <a:ext cx="6792201" cy="407532"/>
          </a:xfrm>
          <a:custGeom>
            <a:avLst/>
            <a:gdLst/>
            <a:ahLst/>
            <a:cxnLst/>
            <a:rect l="l" t="t" r="r" b="b"/>
            <a:pathLst>
              <a:path w="6792201" h="407532">
                <a:moveTo>
                  <a:pt x="45281" y="0"/>
                </a:moveTo>
                <a:lnTo>
                  <a:pt x="6746920" y="0"/>
                </a:lnTo>
                <a:cubicBezTo>
                  <a:pt x="6771928" y="0"/>
                  <a:pt x="6792201" y="20273"/>
                  <a:pt x="6792201" y="45281"/>
                </a:cubicBezTo>
                <a:lnTo>
                  <a:pt x="6792201" y="362251"/>
                </a:lnTo>
                <a:cubicBezTo>
                  <a:pt x="6792201" y="387259"/>
                  <a:pt x="6771928" y="407532"/>
                  <a:pt x="6746920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8741774" y="6520513"/>
            <a:ext cx="1018830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Monastir Ville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485429" y="6520513"/>
            <a:ext cx="950908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750 TND/m²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51212" y="6928045"/>
            <a:ext cx="6860123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Soit un ratio de 6,5:1 que le modèle linéaire peine à expliquer.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6320" y="7652546"/>
            <a:ext cx="7539343" cy="815064"/>
          </a:xfrm>
          <a:custGeom>
            <a:avLst/>
            <a:gdLst/>
            <a:ahLst/>
            <a:cxnLst/>
            <a:rect l="l" t="t" r="r" b="b"/>
            <a:pathLst>
              <a:path w="7539343" h="815064">
                <a:moveTo>
                  <a:pt x="45281" y="0"/>
                </a:moveTo>
                <a:lnTo>
                  <a:pt x="7448781" y="0"/>
                </a:lnTo>
                <a:cubicBezTo>
                  <a:pt x="7498763" y="0"/>
                  <a:pt x="7539343" y="40579"/>
                  <a:pt x="7539343" y="90562"/>
                </a:cubicBezTo>
                <a:lnTo>
                  <a:pt x="7539343" y="724502"/>
                </a:lnTo>
                <a:cubicBezTo>
                  <a:pt x="7539343" y="774485"/>
                  <a:pt x="7498763" y="815064"/>
                  <a:pt x="7448781" y="815064"/>
                </a:cubicBezTo>
                <a:lnTo>
                  <a:pt x="45281" y="815064"/>
                </a:lnTo>
                <a:cubicBezTo>
                  <a:pt x="20273" y="815064"/>
                  <a:pt x="0" y="794791"/>
                  <a:pt x="0" y="769783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E7A46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8266320" y="7652546"/>
            <a:ext cx="45281" cy="815064"/>
          </a:xfrm>
          <a:custGeom>
            <a:avLst/>
            <a:gdLst/>
            <a:ahLst/>
            <a:cxnLst/>
            <a:rect l="l" t="t" r="r" b="b"/>
            <a:pathLst>
              <a:path w="45281" h="815064">
                <a:moveTo>
                  <a:pt x="45281" y="0"/>
                </a:moveTo>
                <a:lnTo>
                  <a:pt x="45281" y="0"/>
                </a:lnTo>
                <a:lnTo>
                  <a:pt x="45281" y="815064"/>
                </a:lnTo>
                <a:lnTo>
                  <a:pt x="45281" y="815064"/>
                </a:lnTo>
                <a:cubicBezTo>
                  <a:pt x="20273" y="815064"/>
                  <a:pt x="0" y="794791"/>
                  <a:pt x="0" y="769783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8512538" y="7867632"/>
            <a:ext cx="118864" cy="158485"/>
          </a:xfrm>
          <a:custGeom>
            <a:avLst/>
            <a:gdLst/>
            <a:ahLst/>
            <a:cxnLst/>
            <a:rect l="l" t="t" r="r" b="b"/>
            <a:pathLst>
              <a:path w="118864" h="158485">
                <a:moveTo>
                  <a:pt x="90664" y="118864"/>
                </a:moveTo>
                <a:cubicBezTo>
                  <a:pt x="92924" y="111961"/>
                  <a:pt x="97443" y="105708"/>
                  <a:pt x="102551" y="100322"/>
                </a:cubicBezTo>
                <a:cubicBezTo>
                  <a:pt x="112673" y="89674"/>
                  <a:pt x="118864" y="75280"/>
                  <a:pt x="118864" y="59432"/>
                </a:cubicBezTo>
                <a:cubicBezTo>
                  <a:pt x="118864" y="26620"/>
                  <a:pt x="92243" y="0"/>
                  <a:pt x="59432" y="0"/>
                </a:cubicBezTo>
                <a:cubicBezTo>
                  <a:pt x="26620" y="0"/>
                  <a:pt x="0" y="26620"/>
                  <a:pt x="0" y="59432"/>
                </a:cubicBezTo>
                <a:cubicBezTo>
                  <a:pt x="0" y="75280"/>
                  <a:pt x="6191" y="89674"/>
                  <a:pt x="16313" y="100322"/>
                </a:cubicBezTo>
                <a:cubicBezTo>
                  <a:pt x="21420" y="105708"/>
                  <a:pt x="25970" y="111961"/>
                  <a:pt x="28199" y="118864"/>
                </a:cubicBezTo>
                <a:lnTo>
                  <a:pt x="90633" y="118864"/>
                </a:lnTo>
                <a:close/>
                <a:moveTo>
                  <a:pt x="89148" y="133721"/>
                </a:moveTo>
                <a:lnTo>
                  <a:pt x="29716" y="133721"/>
                </a:lnTo>
                <a:lnTo>
                  <a:pt x="29716" y="138674"/>
                </a:lnTo>
                <a:cubicBezTo>
                  <a:pt x="29716" y="152356"/>
                  <a:pt x="40797" y="163437"/>
                  <a:pt x="54479" y="163437"/>
                </a:cubicBezTo>
                <a:lnTo>
                  <a:pt x="64384" y="163437"/>
                </a:lnTo>
                <a:cubicBezTo>
                  <a:pt x="78066" y="163437"/>
                  <a:pt x="89148" y="152356"/>
                  <a:pt x="89148" y="138674"/>
                </a:cubicBezTo>
                <a:lnTo>
                  <a:pt x="89148" y="133721"/>
                </a:lnTo>
                <a:close/>
                <a:moveTo>
                  <a:pt x="56955" y="34669"/>
                </a:moveTo>
                <a:cubicBezTo>
                  <a:pt x="44636" y="34669"/>
                  <a:pt x="34669" y="44636"/>
                  <a:pt x="34669" y="56955"/>
                </a:cubicBezTo>
                <a:cubicBezTo>
                  <a:pt x="34669" y="61072"/>
                  <a:pt x="31356" y="64384"/>
                  <a:pt x="27240" y="64384"/>
                </a:cubicBezTo>
                <a:cubicBezTo>
                  <a:pt x="23123" y="64384"/>
                  <a:pt x="19811" y="61072"/>
                  <a:pt x="19811" y="56955"/>
                </a:cubicBezTo>
                <a:cubicBezTo>
                  <a:pt x="19811" y="36433"/>
                  <a:pt x="36433" y="19811"/>
                  <a:pt x="56955" y="19811"/>
                </a:cubicBezTo>
                <a:cubicBezTo>
                  <a:pt x="61072" y="19811"/>
                  <a:pt x="64384" y="23123"/>
                  <a:pt x="64384" y="27240"/>
                </a:cubicBezTo>
                <a:cubicBezTo>
                  <a:pt x="64384" y="31356"/>
                  <a:pt x="61072" y="34669"/>
                  <a:pt x="56955" y="34669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8754577" y="7833671"/>
            <a:ext cx="6949203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r>
              <a:rPr lang="en-US" sz="124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 régression linéaire reste utile comme baseline, mais des modèles non-linéaires sont nécessaires pour une précision optimale.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73dd995e9cac8942f8223f5e655f8ad06a5b336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779" b="777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100000">
                <a:srgbClr val="E7A46F">
                  <a:alpha val="3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08000" y="2120900"/>
            <a:ext cx="103632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Forest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96570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8000" y="5473700"/>
            <a:ext cx="99822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FFFFFF">
                    <a:alpha val="95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Modèle Non Linéaire pour Capturer les Interactions Complexes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7264400"/>
            <a:ext cx="8661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Approche d'ensemble basée sur les arbres de décision pour une modélisation flexible et robuste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0166" y="470166"/>
            <a:ext cx="15409701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1" b="1" kern="0" spc="74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 D'ENSEMBLE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0166" y="846299"/>
            <a:ext cx="15527242" cy="47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3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– Adaptation aux Données Immobilières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0166" y="1457516"/>
            <a:ext cx="940333" cy="47017"/>
          </a:xfrm>
          <a:custGeom>
            <a:avLst/>
            <a:gdLst/>
            <a:ahLst/>
            <a:cxnLst/>
            <a:rect l="l" t="t" r="r" b="b"/>
            <a:pathLst>
              <a:path w="940333" h="47017">
                <a:moveTo>
                  <a:pt x="0" y="0"/>
                </a:moveTo>
                <a:lnTo>
                  <a:pt x="940333" y="0"/>
                </a:lnTo>
                <a:lnTo>
                  <a:pt x="940333" y="47017"/>
                </a:lnTo>
                <a:lnTo>
                  <a:pt x="0" y="47017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70166" y="1763124"/>
            <a:ext cx="7546169" cy="3220639"/>
          </a:xfrm>
          <a:custGeom>
            <a:avLst/>
            <a:gdLst/>
            <a:ahLst/>
            <a:cxnLst/>
            <a:rect l="l" t="t" r="r" b="b"/>
            <a:pathLst>
              <a:path w="7546169" h="3220639">
                <a:moveTo>
                  <a:pt x="47017" y="0"/>
                </a:moveTo>
                <a:lnTo>
                  <a:pt x="7499153" y="0"/>
                </a:lnTo>
                <a:cubicBezTo>
                  <a:pt x="7525119" y="0"/>
                  <a:pt x="7546169" y="21050"/>
                  <a:pt x="7546169" y="47017"/>
                </a:cubicBezTo>
                <a:lnTo>
                  <a:pt x="7546169" y="3126597"/>
                </a:lnTo>
                <a:cubicBezTo>
                  <a:pt x="7546169" y="3178535"/>
                  <a:pt x="7504065" y="3220639"/>
                  <a:pt x="7452127" y="3220639"/>
                </a:cubicBezTo>
                <a:lnTo>
                  <a:pt x="94043" y="3220639"/>
                </a:lnTo>
                <a:cubicBezTo>
                  <a:pt x="42104" y="3220639"/>
                  <a:pt x="0" y="3178535"/>
                  <a:pt x="0" y="3126597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5262" dist="1175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70166" y="1763124"/>
            <a:ext cx="7546169" cy="47017"/>
          </a:xfrm>
          <a:custGeom>
            <a:avLst/>
            <a:gdLst/>
            <a:ahLst/>
            <a:cxnLst/>
            <a:rect l="l" t="t" r="r" b="b"/>
            <a:pathLst>
              <a:path w="7546169" h="47017">
                <a:moveTo>
                  <a:pt x="47017" y="0"/>
                </a:moveTo>
                <a:lnTo>
                  <a:pt x="7499153" y="0"/>
                </a:lnTo>
                <a:cubicBezTo>
                  <a:pt x="7525119" y="0"/>
                  <a:pt x="7546169" y="21050"/>
                  <a:pt x="7546169" y="47017"/>
                </a:cubicBezTo>
                <a:lnTo>
                  <a:pt x="7546169" y="47017"/>
                </a:lnTo>
                <a:lnTo>
                  <a:pt x="0" y="47017"/>
                </a:ln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49328" y="2068732"/>
            <a:ext cx="205698" cy="235083"/>
          </a:xfrm>
          <a:custGeom>
            <a:avLst/>
            <a:gdLst/>
            <a:ahLst/>
            <a:cxnLst/>
            <a:rect l="l" t="t" r="r" b="b"/>
            <a:pathLst>
              <a:path w="205698" h="235083">
                <a:moveTo>
                  <a:pt x="102849" y="-14693"/>
                </a:moveTo>
                <a:cubicBezTo>
                  <a:pt x="106063" y="-14693"/>
                  <a:pt x="109139" y="-13269"/>
                  <a:pt x="111251" y="-10790"/>
                </a:cubicBezTo>
                <a:lnTo>
                  <a:pt x="173695" y="62674"/>
                </a:lnTo>
                <a:cubicBezTo>
                  <a:pt x="176496" y="65933"/>
                  <a:pt x="177093" y="70525"/>
                  <a:pt x="175302" y="74428"/>
                </a:cubicBezTo>
                <a:cubicBezTo>
                  <a:pt x="173512" y="78330"/>
                  <a:pt x="169609" y="80810"/>
                  <a:pt x="165293" y="80810"/>
                </a:cubicBezTo>
                <a:lnTo>
                  <a:pt x="153860" y="80810"/>
                </a:lnTo>
                <a:lnTo>
                  <a:pt x="188388" y="121444"/>
                </a:lnTo>
                <a:cubicBezTo>
                  <a:pt x="191189" y="124704"/>
                  <a:pt x="191786" y="129296"/>
                  <a:pt x="189995" y="133198"/>
                </a:cubicBezTo>
                <a:cubicBezTo>
                  <a:pt x="188204" y="137101"/>
                  <a:pt x="184302" y="139581"/>
                  <a:pt x="179986" y="139581"/>
                </a:cubicBezTo>
                <a:lnTo>
                  <a:pt x="162308" y="139581"/>
                </a:lnTo>
                <a:lnTo>
                  <a:pt x="203081" y="187561"/>
                </a:lnTo>
                <a:cubicBezTo>
                  <a:pt x="205881" y="190821"/>
                  <a:pt x="206478" y="195413"/>
                  <a:pt x="204688" y="199316"/>
                </a:cubicBezTo>
                <a:cubicBezTo>
                  <a:pt x="202897" y="203218"/>
                  <a:pt x="198994" y="205698"/>
                  <a:pt x="194678" y="205698"/>
                </a:cubicBezTo>
                <a:lnTo>
                  <a:pt x="117542" y="205698"/>
                </a:lnTo>
                <a:lnTo>
                  <a:pt x="117542" y="235083"/>
                </a:lnTo>
                <a:cubicBezTo>
                  <a:pt x="117542" y="243210"/>
                  <a:pt x="110976" y="249776"/>
                  <a:pt x="102849" y="249776"/>
                </a:cubicBezTo>
                <a:cubicBezTo>
                  <a:pt x="94722" y="249776"/>
                  <a:pt x="88156" y="243210"/>
                  <a:pt x="88156" y="235083"/>
                </a:cubicBezTo>
                <a:lnTo>
                  <a:pt x="88156" y="205698"/>
                </a:lnTo>
                <a:lnTo>
                  <a:pt x="11020" y="205698"/>
                </a:lnTo>
                <a:cubicBezTo>
                  <a:pt x="6704" y="205698"/>
                  <a:pt x="2801" y="203218"/>
                  <a:pt x="1010" y="199316"/>
                </a:cubicBezTo>
                <a:cubicBezTo>
                  <a:pt x="-781" y="195413"/>
                  <a:pt x="-184" y="190821"/>
                  <a:pt x="2617" y="187561"/>
                </a:cubicBezTo>
                <a:lnTo>
                  <a:pt x="43389" y="139581"/>
                </a:lnTo>
                <a:lnTo>
                  <a:pt x="25712" y="139581"/>
                </a:lnTo>
                <a:cubicBezTo>
                  <a:pt x="21396" y="139581"/>
                  <a:pt x="17493" y="137101"/>
                  <a:pt x="15703" y="133198"/>
                </a:cubicBezTo>
                <a:cubicBezTo>
                  <a:pt x="13912" y="129296"/>
                  <a:pt x="14509" y="124704"/>
                  <a:pt x="17310" y="121444"/>
                </a:cubicBezTo>
                <a:lnTo>
                  <a:pt x="51838" y="80810"/>
                </a:lnTo>
                <a:lnTo>
                  <a:pt x="40405" y="80810"/>
                </a:lnTo>
                <a:cubicBezTo>
                  <a:pt x="36089" y="80810"/>
                  <a:pt x="32186" y="78330"/>
                  <a:pt x="30396" y="74428"/>
                </a:cubicBezTo>
                <a:cubicBezTo>
                  <a:pt x="28605" y="70525"/>
                  <a:pt x="29202" y="65933"/>
                  <a:pt x="32003" y="62674"/>
                </a:cubicBezTo>
                <a:lnTo>
                  <a:pt x="94446" y="-10790"/>
                </a:lnTo>
                <a:cubicBezTo>
                  <a:pt x="96559" y="-13269"/>
                  <a:pt x="99635" y="-14693"/>
                  <a:pt x="102849" y="-14693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99103" y="2021715"/>
            <a:ext cx="6899691" cy="3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Pourquoi un Modèle Non Linéaire 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5249" y="2491881"/>
            <a:ext cx="7170036" cy="61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</a:t>
            </a:r>
            <a:r>
              <a:rPr lang="en-US" sz="1481" dirty="0">
                <a:solidFill>
                  <a:srgbClr val="2C3E50"/>
                </a:solidFill>
                <a:highlight>
                  <a:srgbClr val="E7A46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 non linéaires </a:t>
            </a:r>
            <a:r>
              <a:rPr lang="en-US" sz="148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sont la norme dans l'immobilier. Random Forest excelle pour modéliser ces patterns complexes via la combinaison de multiples arbres.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5249" y="3291164"/>
            <a:ext cx="7076003" cy="1457516"/>
          </a:xfrm>
          <a:custGeom>
            <a:avLst/>
            <a:gdLst/>
            <a:ahLst/>
            <a:cxnLst/>
            <a:rect l="l" t="t" r="r" b="b"/>
            <a:pathLst>
              <a:path w="7076003" h="1457516">
                <a:moveTo>
                  <a:pt x="47019" y="0"/>
                </a:moveTo>
                <a:lnTo>
                  <a:pt x="7028983" y="0"/>
                </a:lnTo>
                <a:cubicBezTo>
                  <a:pt x="7054952" y="0"/>
                  <a:pt x="7076003" y="21051"/>
                  <a:pt x="7076003" y="47019"/>
                </a:cubicBezTo>
                <a:lnTo>
                  <a:pt x="7076003" y="1410496"/>
                </a:lnTo>
                <a:cubicBezTo>
                  <a:pt x="7076003" y="1436464"/>
                  <a:pt x="7054952" y="1457516"/>
                  <a:pt x="7028983" y="1457516"/>
                </a:cubicBezTo>
                <a:lnTo>
                  <a:pt x="47019" y="1457516"/>
                </a:lnTo>
                <a:cubicBezTo>
                  <a:pt x="21051" y="1457516"/>
                  <a:pt x="0" y="1436464"/>
                  <a:pt x="0" y="1410496"/>
                </a:cubicBezTo>
                <a:lnTo>
                  <a:pt x="0" y="47019"/>
                </a:lnTo>
                <a:cubicBezTo>
                  <a:pt x="0" y="21051"/>
                  <a:pt x="21051" y="0"/>
                  <a:pt x="47019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16824" y="3526247"/>
            <a:ext cx="188067" cy="188067"/>
          </a:xfrm>
          <a:custGeom>
            <a:avLst/>
            <a:gdLst/>
            <a:ahLst/>
            <a:cxnLst/>
            <a:rect l="l" t="t" r="r" b="b"/>
            <a:pathLst>
              <a:path w="188067" h="188067">
                <a:moveTo>
                  <a:pt x="94033" y="188067"/>
                </a:moveTo>
                <a:cubicBezTo>
                  <a:pt x="145932" y="188067"/>
                  <a:pt x="188067" y="145932"/>
                  <a:pt x="188067" y="94033"/>
                </a:cubicBezTo>
                <a:cubicBezTo>
                  <a:pt x="188067" y="42135"/>
                  <a:pt x="145932" y="0"/>
                  <a:pt x="94033" y="0"/>
                </a:cubicBezTo>
                <a:cubicBezTo>
                  <a:pt x="42135" y="0"/>
                  <a:pt x="0" y="42135"/>
                  <a:pt x="0" y="94033"/>
                </a:cubicBezTo>
                <a:cubicBezTo>
                  <a:pt x="0" y="145932"/>
                  <a:pt x="42135" y="188067"/>
                  <a:pt x="94033" y="188067"/>
                </a:cubicBezTo>
                <a:close/>
                <a:moveTo>
                  <a:pt x="125035" y="78128"/>
                </a:moveTo>
                <a:lnTo>
                  <a:pt x="95649" y="125145"/>
                </a:lnTo>
                <a:cubicBezTo>
                  <a:pt x="94107" y="127606"/>
                  <a:pt x="91462" y="129149"/>
                  <a:pt x="88560" y="129296"/>
                </a:cubicBezTo>
                <a:cubicBezTo>
                  <a:pt x="85658" y="129443"/>
                  <a:pt x="82867" y="128120"/>
                  <a:pt x="81140" y="125769"/>
                </a:cubicBezTo>
                <a:lnTo>
                  <a:pt x="63509" y="102261"/>
                </a:lnTo>
                <a:cubicBezTo>
                  <a:pt x="60571" y="98368"/>
                  <a:pt x="61379" y="92858"/>
                  <a:pt x="65272" y="89919"/>
                </a:cubicBezTo>
                <a:cubicBezTo>
                  <a:pt x="69166" y="86981"/>
                  <a:pt x="74676" y="87789"/>
                  <a:pt x="77614" y="91682"/>
                </a:cubicBezTo>
                <a:lnTo>
                  <a:pt x="87532" y="104906"/>
                </a:lnTo>
                <a:lnTo>
                  <a:pt x="110085" y="68799"/>
                </a:lnTo>
                <a:cubicBezTo>
                  <a:pt x="112656" y="64685"/>
                  <a:pt x="118093" y="63399"/>
                  <a:pt x="122243" y="66007"/>
                </a:cubicBezTo>
                <a:cubicBezTo>
                  <a:pt x="126394" y="68615"/>
                  <a:pt x="127643" y="74014"/>
                  <a:pt x="125035" y="78165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269449" y="3479231"/>
            <a:ext cx="4995517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Décisions par Partitionnement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9449" y="3714314"/>
            <a:ext cx="4995517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Chaque arbre subdivise l'espace des données en régions homogènes.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6824" y="4137463"/>
            <a:ext cx="188067" cy="188067"/>
          </a:xfrm>
          <a:custGeom>
            <a:avLst/>
            <a:gdLst/>
            <a:ahLst/>
            <a:cxnLst/>
            <a:rect l="l" t="t" r="r" b="b"/>
            <a:pathLst>
              <a:path w="188067" h="188067">
                <a:moveTo>
                  <a:pt x="94033" y="188067"/>
                </a:moveTo>
                <a:cubicBezTo>
                  <a:pt x="145932" y="188067"/>
                  <a:pt x="188067" y="145932"/>
                  <a:pt x="188067" y="94033"/>
                </a:cubicBezTo>
                <a:cubicBezTo>
                  <a:pt x="188067" y="42135"/>
                  <a:pt x="145932" y="0"/>
                  <a:pt x="94033" y="0"/>
                </a:cubicBezTo>
                <a:cubicBezTo>
                  <a:pt x="42135" y="0"/>
                  <a:pt x="0" y="42135"/>
                  <a:pt x="0" y="94033"/>
                </a:cubicBezTo>
                <a:cubicBezTo>
                  <a:pt x="0" y="145932"/>
                  <a:pt x="42135" y="188067"/>
                  <a:pt x="94033" y="188067"/>
                </a:cubicBezTo>
                <a:close/>
                <a:moveTo>
                  <a:pt x="125035" y="78128"/>
                </a:moveTo>
                <a:lnTo>
                  <a:pt x="95649" y="125145"/>
                </a:lnTo>
                <a:cubicBezTo>
                  <a:pt x="94107" y="127606"/>
                  <a:pt x="91462" y="129149"/>
                  <a:pt x="88560" y="129296"/>
                </a:cubicBezTo>
                <a:cubicBezTo>
                  <a:pt x="85658" y="129443"/>
                  <a:pt x="82867" y="128120"/>
                  <a:pt x="81140" y="125769"/>
                </a:cubicBezTo>
                <a:lnTo>
                  <a:pt x="63509" y="102261"/>
                </a:lnTo>
                <a:cubicBezTo>
                  <a:pt x="60571" y="98368"/>
                  <a:pt x="61379" y="92858"/>
                  <a:pt x="65272" y="89919"/>
                </a:cubicBezTo>
                <a:cubicBezTo>
                  <a:pt x="69166" y="86981"/>
                  <a:pt x="74676" y="87789"/>
                  <a:pt x="77614" y="91682"/>
                </a:cubicBezTo>
                <a:lnTo>
                  <a:pt x="87532" y="104906"/>
                </a:lnTo>
                <a:lnTo>
                  <a:pt x="110085" y="68799"/>
                </a:lnTo>
                <a:cubicBezTo>
                  <a:pt x="112656" y="64685"/>
                  <a:pt x="118093" y="63399"/>
                  <a:pt x="122243" y="66007"/>
                </a:cubicBezTo>
                <a:cubicBezTo>
                  <a:pt x="126394" y="68615"/>
                  <a:pt x="127643" y="74014"/>
                  <a:pt x="125035" y="78165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269449" y="4090447"/>
            <a:ext cx="4983763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Combinaison de Prédictions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9449" y="4325530"/>
            <a:ext cx="4983763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L'aggrégation des prédictions de centaines d'arbres réduit les erreurs.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675" y="5171829"/>
            <a:ext cx="7522661" cy="3197131"/>
          </a:xfrm>
          <a:custGeom>
            <a:avLst/>
            <a:gdLst/>
            <a:ahLst/>
            <a:cxnLst/>
            <a:rect l="l" t="t" r="r" b="b"/>
            <a:pathLst>
              <a:path w="7522661" h="3197131">
                <a:moveTo>
                  <a:pt x="47017" y="0"/>
                </a:moveTo>
                <a:lnTo>
                  <a:pt x="7428633" y="0"/>
                </a:lnTo>
                <a:cubicBezTo>
                  <a:pt x="7480563" y="0"/>
                  <a:pt x="7522661" y="42098"/>
                  <a:pt x="7522661" y="94028"/>
                </a:cubicBezTo>
                <a:lnTo>
                  <a:pt x="7522661" y="3103103"/>
                </a:lnTo>
                <a:cubicBezTo>
                  <a:pt x="7522661" y="3155033"/>
                  <a:pt x="7480563" y="3197131"/>
                  <a:pt x="7428633" y="3197131"/>
                </a:cubicBezTo>
                <a:lnTo>
                  <a:pt x="47017" y="3197131"/>
                </a:lnTo>
                <a:cubicBezTo>
                  <a:pt x="21050" y="3197131"/>
                  <a:pt x="0" y="3176081"/>
                  <a:pt x="0" y="3150114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5262" dist="1175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93675" y="5171829"/>
            <a:ext cx="47017" cy="3197131"/>
          </a:xfrm>
          <a:custGeom>
            <a:avLst/>
            <a:gdLst/>
            <a:ahLst/>
            <a:cxnLst/>
            <a:rect l="l" t="t" r="r" b="b"/>
            <a:pathLst>
              <a:path w="47017" h="3197131">
                <a:moveTo>
                  <a:pt x="47017" y="0"/>
                </a:moveTo>
                <a:lnTo>
                  <a:pt x="47017" y="0"/>
                </a:lnTo>
                <a:lnTo>
                  <a:pt x="47017" y="3197131"/>
                </a:lnTo>
                <a:lnTo>
                  <a:pt x="47017" y="3197131"/>
                </a:lnTo>
                <a:cubicBezTo>
                  <a:pt x="21050" y="3197131"/>
                  <a:pt x="0" y="3176081"/>
                  <a:pt x="0" y="3150114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81651" y="5465683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0" y="33059"/>
                </a:moveTo>
                <a:cubicBezTo>
                  <a:pt x="0" y="22108"/>
                  <a:pt x="8884" y="13223"/>
                  <a:pt x="19835" y="13223"/>
                </a:cubicBezTo>
                <a:lnTo>
                  <a:pt x="59505" y="13223"/>
                </a:lnTo>
                <a:cubicBezTo>
                  <a:pt x="70456" y="13223"/>
                  <a:pt x="79341" y="22108"/>
                  <a:pt x="79341" y="33059"/>
                </a:cubicBezTo>
                <a:lnTo>
                  <a:pt x="79341" y="39670"/>
                </a:lnTo>
                <a:lnTo>
                  <a:pt x="132234" y="39670"/>
                </a:lnTo>
                <a:lnTo>
                  <a:pt x="132234" y="33059"/>
                </a:lnTo>
                <a:cubicBezTo>
                  <a:pt x="132234" y="22108"/>
                  <a:pt x="141119" y="13223"/>
                  <a:pt x="152069" y="13223"/>
                </a:cubicBezTo>
                <a:lnTo>
                  <a:pt x="191740" y="13223"/>
                </a:lnTo>
                <a:cubicBezTo>
                  <a:pt x="202690" y="13223"/>
                  <a:pt x="211575" y="22108"/>
                  <a:pt x="211575" y="33059"/>
                </a:cubicBezTo>
                <a:lnTo>
                  <a:pt x="211575" y="72729"/>
                </a:lnTo>
                <a:cubicBezTo>
                  <a:pt x="211575" y="83680"/>
                  <a:pt x="202690" y="92564"/>
                  <a:pt x="191740" y="92564"/>
                </a:cubicBezTo>
                <a:lnTo>
                  <a:pt x="152069" y="92564"/>
                </a:lnTo>
                <a:cubicBezTo>
                  <a:pt x="141119" y="92564"/>
                  <a:pt x="132234" y="83680"/>
                  <a:pt x="132234" y="72729"/>
                </a:cubicBezTo>
                <a:lnTo>
                  <a:pt x="132234" y="66117"/>
                </a:lnTo>
                <a:lnTo>
                  <a:pt x="79341" y="66117"/>
                </a:lnTo>
                <a:lnTo>
                  <a:pt x="79341" y="72729"/>
                </a:lnTo>
                <a:cubicBezTo>
                  <a:pt x="79341" y="75745"/>
                  <a:pt x="78638" y="78638"/>
                  <a:pt x="77440" y="81200"/>
                </a:cubicBezTo>
                <a:lnTo>
                  <a:pt x="105787" y="119011"/>
                </a:lnTo>
                <a:lnTo>
                  <a:pt x="138846" y="119011"/>
                </a:lnTo>
                <a:cubicBezTo>
                  <a:pt x="149797" y="119011"/>
                  <a:pt x="158681" y="127895"/>
                  <a:pt x="158681" y="138846"/>
                </a:cubicBezTo>
                <a:lnTo>
                  <a:pt x="158681" y="178516"/>
                </a:lnTo>
                <a:cubicBezTo>
                  <a:pt x="158681" y="189467"/>
                  <a:pt x="149797" y="198351"/>
                  <a:pt x="138846" y="198351"/>
                </a:cubicBezTo>
                <a:lnTo>
                  <a:pt x="99176" y="198351"/>
                </a:lnTo>
                <a:cubicBezTo>
                  <a:pt x="88225" y="198351"/>
                  <a:pt x="79341" y="189467"/>
                  <a:pt x="79341" y="178516"/>
                </a:cubicBezTo>
                <a:lnTo>
                  <a:pt x="79341" y="138846"/>
                </a:lnTo>
                <a:cubicBezTo>
                  <a:pt x="79341" y="135829"/>
                  <a:pt x="80043" y="132937"/>
                  <a:pt x="81241" y="130375"/>
                </a:cubicBezTo>
                <a:lnTo>
                  <a:pt x="52894" y="92564"/>
                </a:lnTo>
                <a:lnTo>
                  <a:pt x="19835" y="92564"/>
                </a:lnTo>
                <a:cubicBezTo>
                  <a:pt x="8884" y="92564"/>
                  <a:pt x="0" y="83680"/>
                  <a:pt x="0" y="72729"/>
                </a:cubicBezTo>
                <a:lnTo>
                  <a:pt x="0" y="33059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022612" y="5406913"/>
            <a:ext cx="6864428" cy="3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Captation des Interactions Complexes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2266" y="5877079"/>
            <a:ext cx="7123020" cy="61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capture naturellement les </a:t>
            </a:r>
            <a:r>
              <a:rPr lang="en-US" sz="1481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interactions entre variables</a:t>
            </a:r>
            <a:r>
              <a:rPr lang="en-US" sz="148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sans les spécifier manuellement.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5774" y="6629345"/>
            <a:ext cx="7005478" cy="1504532"/>
          </a:xfrm>
          <a:custGeom>
            <a:avLst/>
            <a:gdLst/>
            <a:ahLst/>
            <a:cxnLst/>
            <a:rect l="l" t="t" r="r" b="b"/>
            <a:pathLst>
              <a:path w="7005478" h="1504532">
                <a:moveTo>
                  <a:pt x="47017" y="0"/>
                </a:moveTo>
                <a:lnTo>
                  <a:pt x="6958461" y="0"/>
                </a:lnTo>
                <a:cubicBezTo>
                  <a:pt x="6984428" y="0"/>
                  <a:pt x="7005478" y="21050"/>
                  <a:pt x="7005478" y="47017"/>
                </a:cubicBezTo>
                <a:lnTo>
                  <a:pt x="7005478" y="1457516"/>
                </a:lnTo>
                <a:cubicBezTo>
                  <a:pt x="7005478" y="1483482"/>
                  <a:pt x="6984428" y="1504532"/>
                  <a:pt x="6958461" y="1504532"/>
                </a:cubicBezTo>
                <a:lnTo>
                  <a:pt x="47017" y="1504532"/>
                </a:lnTo>
                <a:cubicBezTo>
                  <a:pt x="21050" y="1504532"/>
                  <a:pt x="0" y="1483482"/>
                  <a:pt x="0" y="1457516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75774" y="6629345"/>
            <a:ext cx="47017" cy="1504532"/>
          </a:xfrm>
          <a:custGeom>
            <a:avLst/>
            <a:gdLst/>
            <a:ahLst/>
            <a:cxnLst/>
            <a:rect l="l" t="t" r="r" b="b"/>
            <a:pathLst>
              <a:path w="47017" h="1504532">
                <a:moveTo>
                  <a:pt x="47017" y="0"/>
                </a:moveTo>
                <a:lnTo>
                  <a:pt x="47017" y="0"/>
                </a:lnTo>
                <a:lnTo>
                  <a:pt x="47017" y="1504532"/>
                </a:lnTo>
                <a:lnTo>
                  <a:pt x="47017" y="1504532"/>
                </a:lnTo>
                <a:cubicBezTo>
                  <a:pt x="21050" y="1504532"/>
                  <a:pt x="0" y="1483482"/>
                  <a:pt x="0" y="1457516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940333" y="6770395"/>
            <a:ext cx="6782149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Exemple: Surface × Localisation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0333" y="7099511"/>
            <a:ext cx="6782149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modèle distingue automatiquement l'impact d'un m² supplémentaire selon la ville.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0333" y="7428628"/>
            <a:ext cx="3302918" cy="564200"/>
          </a:xfrm>
          <a:custGeom>
            <a:avLst/>
            <a:gdLst/>
            <a:ahLst/>
            <a:cxnLst/>
            <a:rect l="l" t="t" r="r" b="b"/>
            <a:pathLst>
              <a:path w="3302918" h="564200">
                <a:moveTo>
                  <a:pt x="47015" y="0"/>
                </a:moveTo>
                <a:lnTo>
                  <a:pt x="3255904" y="0"/>
                </a:lnTo>
                <a:cubicBezTo>
                  <a:pt x="3281869" y="0"/>
                  <a:pt x="3302918" y="21049"/>
                  <a:pt x="3302918" y="47015"/>
                </a:cubicBezTo>
                <a:lnTo>
                  <a:pt x="3302918" y="517185"/>
                </a:lnTo>
                <a:cubicBezTo>
                  <a:pt x="3302918" y="543150"/>
                  <a:pt x="3281869" y="564200"/>
                  <a:pt x="3255904" y="564200"/>
                </a:cubicBezTo>
                <a:lnTo>
                  <a:pt x="47015" y="564200"/>
                </a:lnTo>
                <a:cubicBezTo>
                  <a:pt x="21049" y="564200"/>
                  <a:pt x="0" y="543150"/>
                  <a:pt x="0" y="517185"/>
                </a:cubicBezTo>
                <a:lnTo>
                  <a:pt x="0" y="47015"/>
                </a:lnTo>
                <a:cubicBezTo>
                  <a:pt x="0" y="21049"/>
                  <a:pt x="21049" y="0"/>
                  <a:pt x="4701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034366" y="7522661"/>
            <a:ext cx="3185377" cy="18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1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+1m² à Carthage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4366" y="7710727"/>
            <a:ext cx="3185377" cy="18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1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+4850 TND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34529" y="7428628"/>
            <a:ext cx="3302918" cy="564200"/>
          </a:xfrm>
          <a:custGeom>
            <a:avLst/>
            <a:gdLst/>
            <a:ahLst/>
            <a:cxnLst/>
            <a:rect l="l" t="t" r="r" b="b"/>
            <a:pathLst>
              <a:path w="3302918" h="564200">
                <a:moveTo>
                  <a:pt x="47015" y="0"/>
                </a:moveTo>
                <a:lnTo>
                  <a:pt x="3255904" y="0"/>
                </a:lnTo>
                <a:cubicBezTo>
                  <a:pt x="3281869" y="0"/>
                  <a:pt x="3302918" y="21049"/>
                  <a:pt x="3302918" y="47015"/>
                </a:cubicBezTo>
                <a:lnTo>
                  <a:pt x="3302918" y="517185"/>
                </a:lnTo>
                <a:cubicBezTo>
                  <a:pt x="3302918" y="543150"/>
                  <a:pt x="3281869" y="564200"/>
                  <a:pt x="3255904" y="564200"/>
                </a:cubicBezTo>
                <a:lnTo>
                  <a:pt x="47015" y="564200"/>
                </a:lnTo>
                <a:cubicBezTo>
                  <a:pt x="21049" y="564200"/>
                  <a:pt x="0" y="543150"/>
                  <a:pt x="0" y="517185"/>
                </a:cubicBezTo>
                <a:lnTo>
                  <a:pt x="0" y="47015"/>
                </a:lnTo>
                <a:cubicBezTo>
                  <a:pt x="0" y="21049"/>
                  <a:pt x="21049" y="0"/>
                  <a:pt x="4701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428563" y="7522661"/>
            <a:ext cx="3185377" cy="18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1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+1m² à Monastir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28563" y="7710727"/>
            <a:ext cx="3185377" cy="18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1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+750 TND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46093" y="1739615"/>
            <a:ext cx="7546169" cy="4466580"/>
          </a:xfrm>
          <a:custGeom>
            <a:avLst/>
            <a:gdLst/>
            <a:ahLst/>
            <a:cxnLst/>
            <a:rect l="l" t="t" r="r" b="b"/>
            <a:pathLst>
              <a:path w="7546169" h="4466580">
                <a:moveTo>
                  <a:pt x="94022" y="0"/>
                </a:moveTo>
                <a:lnTo>
                  <a:pt x="7452148" y="0"/>
                </a:lnTo>
                <a:cubicBezTo>
                  <a:pt x="7504074" y="0"/>
                  <a:pt x="7546169" y="42095"/>
                  <a:pt x="7546169" y="94022"/>
                </a:cubicBezTo>
                <a:lnTo>
                  <a:pt x="7546169" y="4372558"/>
                </a:lnTo>
                <a:cubicBezTo>
                  <a:pt x="7546169" y="4424485"/>
                  <a:pt x="7504074" y="4466580"/>
                  <a:pt x="7452148" y="4466580"/>
                </a:cubicBezTo>
                <a:lnTo>
                  <a:pt x="94022" y="4466580"/>
                </a:lnTo>
                <a:cubicBezTo>
                  <a:pt x="42095" y="4466580"/>
                  <a:pt x="0" y="4424485"/>
                  <a:pt x="0" y="4372558"/>
                </a:cubicBezTo>
                <a:lnTo>
                  <a:pt x="0" y="94022"/>
                </a:lnTo>
                <a:cubicBezTo>
                  <a:pt x="0" y="42095"/>
                  <a:pt x="42095" y="0"/>
                  <a:pt x="94022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495E"/>
              </a:gs>
            </a:gsLst>
            <a:lin ang="2700000" scaled="1"/>
          </a:gradFill>
          <a:ln/>
          <a:effectLst>
            <a:outerShdw blurRad="176312" dist="11754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8481176" y="2021715"/>
            <a:ext cx="293854" cy="235083"/>
          </a:xfrm>
          <a:custGeom>
            <a:avLst/>
            <a:gdLst/>
            <a:ahLst/>
            <a:cxnLst/>
            <a:rect l="l" t="t" r="r" b="b"/>
            <a:pathLst>
              <a:path w="293854" h="235083">
                <a:moveTo>
                  <a:pt x="190959" y="96650"/>
                </a:moveTo>
                <a:cubicBezTo>
                  <a:pt x="196561" y="95135"/>
                  <a:pt x="202438" y="97798"/>
                  <a:pt x="204963" y="102987"/>
                </a:cubicBezTo>
                <a:lnTo>
                  <a:pt x="213503" y="120251"/>
                </a:lnTo>
                <a:cubicBezTo>
                  <a:pt x="218232" y="120893"/>
                  <a:pt x="222870" y="122179"/>
                  <a:pt x="227232" y="123970"/>
                </a:cubicBezTo>
                <a:lnTo>
                  <a:pt x="243302" y="113272"/>
                </a:lnTo>
                <a:cubicBezTo>
                  <a:pt x="248123" y="110057"/>
                  <a:pt x="254505" y="110700"/>
                  <a:pt x="258591" y="114787"/>
                </a:cubicBezTo>
                <a:lnTo>
                  <a:pt x="267407" y="123602"/>
                </a:lnTo>
                <a:cubicBezTo>
                  <a:pt x="271493" y="127689"/>
                  <a:pt x="272136" y="134117"/>
                  <a:pt x="268922" y="138892"/>
                </a:cubicBezTo>
                <a:lnTo>
                  <a:pt x="258224" y="154916"/>
                </a:lnTo>
                <a:cubicBezTo>
                  <a:pt x="259097" y="157074"/>
                  <a:pt x="259877" y="159324"/>
                  <a:pt x="260520" y="161666"/>
                </a:cubicBezTo>
                <a:cubicBezTo>
                  <a:pt x="261163" y="164007"/>
                  <a:pt x="261576" y="166303"/>
                  <a:pt x="261897" y="168645"/>
                </a:cubicBezTo>
                <a:lnTo>
                  <a:pt x="279207" y="177185"/>
                </a:lnTo>
                <a:cubicBezTo>
                  <a:pt x="284396" y="179756"/>
                  <a:pt x="287059" y="185633"/>
                  <a:pt x="285543" y="191189"/>
                </a:cubicBezTo>
                <a:lnTo>
                  <a:pt x="282329" y="203218"/>
                </a:lnTo>
                <a:cubicBezTo>
                  <a:pt x="280814" y="208774"/>
                  <a:pt x="275626" y="212539"/>
                  <a:pt x="269841" y="212172"/>
                </a:cubicBezTo>
                <a:lnTo>
                  <a:pt x="250556" y="210932"/>
                </a:lnTo>
                <a:cubicBezTo>
                  <a:pt x="247664" y="214651"/>
                  <a:pt x="244312" y="218095"/>
                  <a:pt x="240501" y="221033"/>
                </a:cubicBezTo>
                <a:lnTo>
                  <a:pt x="241741" y="240272"/>
                </a:lnTo>
                <a:cubicBezTo>
                  <a:pt x="242108" y="246057"/>
                  <a:pt x="238343" y="251291"/>
                  <a:pt x="232787" y="252760"/>
                </a:cubicBezTo>
                <a:lnTo>
                  <a:pt x="220758" y="255974"/>
                </a:lnTo>
                <a:cubicBezTo>
                  <a:pt x="215156" y="257490"/>
                  <a:pt x="209325" y="254826"/>
                  <a:pt x="206754" y="249638"/>
                </a:cubicBezTo>
                <a:lnTo>
                  <a:pt x="198214" y="232374"/>
                </a:lnTo>
                <a:cubicBezTo>
                  <a:pt x="193484" y="231731"/>
                  <a:pt x="188847" y="230446"/>
                  <a:pt x="184485" y="228655"/>
                </a:cubicBezTo>
                <a:lnTo>
                  <a:pt x="168415" y="239353"/>
                </a:lnTo>
                <a:cubicBezTo>
                  <a:pt x="163594" y="242567"/>
                  <a:pt x="157212" y="241924"/>
                  <a:pt x="153125" y="237838"/>
                </a:cubicBezTo>
                <a:lnTo>
                  <a:pt x="144310" y="229022"/>
                </a:lnTo>
                <a:cubicBezTo>
                  <a:pt x="140223" y="224936"/>
                  <a:pt x="139581" y="218554"/>
                  <a:pt x="142795" y="213733"/>
                </a:cubicBezTo>
                <a:lnTo>
                  <a:pt x="153493" y="197663"/>
                </a:lnTo>
                <a:cubicBezTo>
                  <a:pt x="152620" y="195505"/>
                  <a:pt x="151840" y="193255"/>
                  <a:pt x="151197" y="190913"/>
                </a:cubicBezTo>
                <a:cubicBezTo>
                  <a:pt x="150554" y="188572"/>
                  <a:pt x="150141" y="186230"/>
                  <a:pt x="149820" y="183934"/>
                </a:cubicBezTo>
                <a:lnTo>
                  <a:pt x="132510" y="175394"/>
                </a:lnTo>
                <a:cubicBezTo>
                  <a:pt x="127321" y="172823"/>
                  <a:pt x="124704" y="166946"/>
                  <a:pt x="126174" y="161390"/>
                </a:cubicBezTo>
                <a:lnTo>
                  <a:pt x="129388" y="149360"/>
                </a:lnTo>
                <a:cubicBezTo>
                  <a:pt x="130903" y="143805"/>
                  <a:pt x="136091" y="140040"/>
                  <a:pt x="141876" y="140407"/>
                </a:cubicBezTo>
                <a:lnTo>
                  <a:pt x="161115" y="141647"/>
                </a:lnTo>
                <a:cubicBezTo>
                  <a:pt x="164007" y="137928"/>
                  <a:pt x="167359" y="134484"/>
                  <a:pt x="171170" y="131546"/>
                </a:cubicBezTo>
                <a:lnTo>
                  <a:pt x="169930" y="112353"/>
                </a:lnTo>
                <a:cubicBezTo>
                  <a:pt x="169563" y="106568"/>
                  <a:pt x="173328" y="101334"/>
                  <a:pt x="178884" y="99864"/>
                </a:cubicBezTo>
                <a:lnTo>
                  <a:pt x="190913" y="96650"/>
                </a:lnTo>
                <a:close/>
                <a:moveTo>
                  <a:pt x="205881" y="156110"/>
                </a:moveTo>
                <a:cubicBezTo>
                  <a:pt x="194731" y="156123"/>
                  <a:pt x="185689" y="165185"/>
                  <a:pt x="185702" y="176335"/>
                </a:cubicBezTo>
                <a:cubicBezTo>
                  <a:pt x="185715" y="187485"/>
                  <a:pt x="194777" y="196527"/>
                  <a:pt x="205927" y="196515"/>
                </a:cubicBezTo>
                <a:cubicBezTo>
                  <a:pt x="217077" y="196502"/>
                  <a:pt x="226120" y="187439"/>
                  <a:pt x="226107" y="176289"/>
                </a:cubicBezTo>
                <a:cubicBezTo>
                  <a:pt x="226094" y="165139"/>
                  <a:pt x="217031" y="156097"/>
                  <a:pt x="205881" y="156110"/>
                </a:cubicBezTo>
                <a:close/>
                <a:moveTo>
                  <a:pt x="103262" y="-20891"/>
                </a:moveTo>
                <a:lnTo>
                  <a:pt x="115292" y="-17677"/>
                </a:lnTo>
                <a:cubicBezTo>
                  <a:pt x="120847" y="-16162"/>
                  <a:pt x="124612" y="-10928"/>
                  <a:pt x="124245" y="-5188"/>
                </a:cubicBezTo>
                <a:lnTo>
                  <a:pt x="123005" y="14004"/>
                </a:lnTo>
                <a:cubicBezTo>
                  <a:pt x="126816" y="16943"/>
                  <a:pt x="130168" y="20340"/>
                  <a:pt x="133061" y="24105"/>
                </a:cubicBezTo>
                <a:lnTo>
                  <a:pt x="152345" y="22866"/>
                </a:lnTo>
                <a:cubicBezTo>
                  <a:pt x="158084" y="22498"/>
                  <a:pt x="163319" y="26263"/>
                  <a:pt x="164834" y="31819"/>
                </a:cubicBezTo>
                <a:lnTo>
                  <a:pt x="168048" y="43849"/>
                </a:lnTo>
                <a:cubicBezTo>
                  <a:pt x="169517" y="49404"/>
                  <a:pt x="166900" y="55281"/>
                  <a:pt x="161711" y="57852"/>
                </a:cubicBezTo>
                <a:lnTo>
                  <a:pt x="144402" y="66393"/>
                </a:lnTo>
                <a:cubicBezTo>
                  <a:pt x="144080" y="68734"/>
                  <a:pt x="143621" y="71076"/>
                  <a:pt x="143024" y="73372"/>
                </a:cubicBezTo>
                <a:cubicBezTo>
                  <a:pt x="142427" y="75667"/>
                  <a:pt x="141601" y="77963"/>
                  <a:pt x="140728" y="80121"/>
                </a:cubicBezTo>
                <a:lnTo>
                  <a:pt x="151427" y="96191"/>
                </a:lnTo>
                <a:cubicBezTo>
                  <a:pt x="154641" y="101012"/>
                  <a:pt x="153998" y="107394"/>
                  <a:pt x="149911" y="111481"/>
                </a:cubicBezTo>
                <a:lnTo>
                  <a:pt x="141096" y="120296"/>
                </a:lnTo>
                <a:cubicBezTo>
                  <a:pt x="137009" y="124383"/>
                  <a:pt x="130627" y="125026"/>
                  <a:pt x="125806" y="121812"/>
                </a:cubicBezTo>
                <a:lnTo>
                  <a:pt x="109736" y="111114"/>
                </a:lnTo>
                <a:cubicBezTo>
                  <a:pt x="105374" y="112904"/>
                  <a:pt x="100737" y="114190"/>
                  <a:pt x="96008" y="114833"/>
                </a:cubicBezTo>
                <a:lnTo>
                  <a:pt x="87467" y="132097"/>
                </a:lnTo>
                <a:cubicBezTo>
                  <a:pt x="84896" y="137285"/>
                  <a:pt x="79019" y="139902"/>
                  <a:pt x="73463" y="138433"/>
                </a:cubicBezTo>
                <a:lnTo>
                  <a:pt x="61434" y="135219"/>
                </a:lnTo>
                <a:cubicBezTo>
                  <a:pt x="55832" y="133704"/>
                  <a:pt x="52113" y="128469"/>
                  <a:pt x="52480" y="122730"/>
                </a:cubicBezTo>
                <a:lnTo>
                  <a:pt x="53720" y="103492"/>
                </a:lnTo>
                <a:cubicBezTo>
                  <a:pt x="49909" y="100553"/>
                  <a:pt x="46557" y="97155"/>
                  <a:pt x="43665" y="93390"/>
                </a:cubicBezTo>
                <a:lnTo>
                  <a:pt x="24381" y="94630"/>
                </a:lnTo>
                <a:cubicBezTo>
                  <a:pt x="18641" y="94997"/>
                  <a:pt x="13407" y="91232"/>
                  <a:pt x="11892" y="85677"/>
                </a:cubicBezTo>
                <a:lnTo>
                  <a:pt x="8678" y="73647"/>
                </a:lnTo>
                <a:cubicBezTo>
                  <a:pt x="7209" y="68091"/>
                  <a:pt x="9826" y="62214"/>
                  <a:pt x="15014" y="59643"/>
                </a:cubicBezTo>
                <a:lnTo>
                  <a:pt x="32324" y="51103"/>
                </a:lnTo>
                <a:cubicBezTo>
                  <a:pt x="32645" y="48761"/>
                  <a:pt x="33104" y="46466"/>
                  <a:pt x="33701" y="44124"/>
                </a:cubicBezTo>
                <a:cubicBezTo>
                  <a:pt x="34344" y="41782"/>
                  <a:pt x="35079" y="39533"/>
                  <a:pt x="35997" y="37375"/>
                </a:cubicBezTo>
                <a:lnTo>
                  <a:pt x="25299" y="21350"/>
                </a:lnTo>
                <a:cubicBezTo>
                  <a:pt x="22085" y="16529"/>
                  <a:pt x="22728" y="10147"/>
                  <a:pt x="26814" y="6061"/>
                </a:cubicBezTo>
                <a:lnTo>
                  <a:pt x="35630" y="-2755"/>
                </a:lnTo>
                <a:cubicBezTo>
                  <a:pt x="39716" y="-6841"/>
                  <a:pt x="46098" y="-7484"/>
                  <a:pt x="50919" y="-4270"/>
                </a:cubicBezTo>
                <a:lnTo>
                  <a:pt x="66990" y="6428"/>
                </a:lnTo>
                <a:cubicBezTo>
                  <a:pt x="71351" y="4637"/>
                  <a:pt x="75989" y="3352"/>
                  <a:pt x="80718" y="2709"/>
                </a:cubicBezTo>
                <a:lnTo>
                  <a:pt x="89258" y="-14555"/>
                </a:lnTo>
                <a:cubicBezTo>
                  <a:pt x="91829" y="-19743"/>
                  <a:pt x="97661" y="-22360"/>
                  <a:pt x="103262" y="-20891"/>
                </a:cubicBezTo>
                <a:close/>
                <a:moveTo>
                  <a:pt x="88340" y="38568"/>
                </a:moveTo>
                <a:cubicBezTo>
                  <a:pt x="77190" y="38568"/>
                  <a:pt x="68137" y="47621"/>
                  <a:pt x="68137" y="58771"/>
                </a:cubicBezTo>
                <a:cubicBezTo>
                  <a:pt x="68137" y="69921"/>
                  <a:pt x="77190" y="78973"/>
                  <a:pt x="88340" y="78973"/>
                </a:cubicBezTo>
                <a:cubicBezTo>
                  <a:pt x="99490" y="78973"/>
                  <a:pt x="108542" y="69921"/>
                  <a:pt x="108542" y="58771"/>
                </a:cubicBezTo>
                <a:cubicBezTo>
                  <a:pt x="108542" y="47621"/>
                  <a:pt x="99490" y="38568"/>
                  <a:pt x="88340" y="38568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775030" y="1974698"/>
            <a:ext cx="6899691" cy="3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Fonctionnement Technique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81176" y="2491881"/>
            <a:ext cx="7076003" cy="1222432"/>
          </a:xfrm>
          <a:custGeom>
            <a:avLst/>
            <a:gdLst/>
            <a:ahLst/>
            <a:cxnLst/>
            <a:rect l="l" t="t" r="r" b="b"/>
            <a:pathLst>
              <a:path w="7076003" h="1222432">
                <a:moveTo>
                  <a:pt x="94029" y="0"/>
                </a:moveTo>
                <a:lnTo>
                  <a:pt x="6981973" y="0"/>
                </a:lnTo>
                <a:cubicBezTo>
                  <a:pt x="7033904" y="0"/>
                  <a:pt x="7076003" y="42098"/>
                  <a:pt x="7076003" y="94029"/>
                </a:cubicBezTo>
                <a:lnTo>
                  <a:pt x="7076003" y="1128403"/>
                </a:lnTo>
                <a:cubicBezTo>
                  <a:pt x="7076003" y="1180334"/>
                  <a:pt x="7033904" y="1222432"/>
                  <a:pt x="6981973" y="1222432"/>
                </a:cubicBezTo>
                <a:lnTo>
                  <a:pt x="94029" y="1222432"/>
                </a:lnTo>
                <a:cubicBezTo>
                  <a:pt x="42098" y="1222432"/>
                  <a:pt x="0" y="1180334"/>
                  <a:pt x="0" y="1128403"/>
                </a:cubicBezTo>
                <a:lnTo>
                  <a:pt x="0" y="94029"/>
                </a:lnTo>
                <a:cubicBezTo>
                  <a:pt x="0" y="42098"/>
                  <a:pt x="42098" y="0"/>
                  <a:pt x="940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8622226" y="2632931"/>
            <a:ext cx="376133" cy="376133"/>
          </a:xfrm>
          <a:custGeom>
            <a:avLst/>
            <a:gdLst/>
            <a:ahLst/>
            <a:cxnLst/>
            <a:rect l="l" t="t" r="r" b="b"/>
            <a:pathLst>
              <a:path w="376133" h="376133">
                <a:moveTo>
                  <a:pt x="188067" y="0"/>
                </a:moveTo>
                <a:lnTo>
                  <a:pt x="188067" y="0"/>
                </a:lnTo>
                <a:cubicBezTo>
                  <a:pt x="291863" y="0"/>
                  <a:pt x="376133" y="84270"/>
                  <a:pt x="376133" y="188067"/>
                </a:cubicBezTo>
                <a:lnTo>
                  <a:pt x="376133" y="188067"/>
                </a:lnTo>
                <a:cubicBezTo>
                  <a:pt x="376133" y="291863"/>
                  <a:pt x="291863" y="376133"/>
                  <a:pt x="188067" y="376133"/>
                </a:cubicBezTo>
                <a:lnTo>
                  <a:pt x="188067" y="376133"/>
                </a:lnTo>
                <a:cubicBezTo>
                  <a:pt x="84270" y="376133"/>
                  <a:pt x="0" y="291863"/>
                  <a:pt x="0" y="188067"/>
                </a:cubicBezTo>
                <a:lnTo>
                  <a:pt x="0" y="188067"/>
                </a:lnTo>
                <a:cubicBezTo>
                  <a:pt x="0" y="84270"/>
                  <a:pt x="84270" y="0"/>
                  <a:pt x="18806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8575209" y="2632931"/>
            <a:ext cx="470166" cy="37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39409" y="2679948"/>
            <a:ext cx="2679948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Bagging (Bootstrap Aggregating)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22226" y="3103098"/>
            <a:ext cx="6876182" cy="47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Chaque arbre est entraîné sur un sous-échantillon des données avec remise, ce qui réduit la variance.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81176" y="3855364"/>
            <a:ext cx="7076003" cy="987349"/>
          </a:xfrm>
          <a:custGeom>
            <a:avLst/>
            <a:gdLst/>
            <a:ahLst/>
            <a:cxnLst/>
            <a:rect l="l" t="t" r="r" b="b"/>
            <a:pathLst>
              <a:path w="7076003" h="987349">
                <a:moveTo>
                  <a:pt x="94035" y="0"/>
                </a:moveTo>
                <a:lnTo>
                  <a:pt x="6981968" y="0"/>
                </a:lnTo>
                <a:cubicBezTo>
                  <a:pt x="7033902" y="0"/>
                  <a:pt x="7076003" y="42101"/>
                  <a:pt x="7076003" y="94035"/>
                </a:cubicBezTo>
                <a:lnTo>
                  <a:pt x="7076003" y="893314"/>
                </a:lnTo>
                <a:cubicBezTo>
                  <a:pt x="7076003" y="945248"/>
                  <a:pt x="7033902" y="987349"/>
                  <a:pt x="6981968" y="987349"/>
                </a:cubicBezTo>
                <a:lnTo>
                  <a:pt x="94035" y="987349"/>
                </a:lnTo>
                <a:cubicBezTo>
                  <a:pt x="42101" y="987349"/>
                  <a:pt x="0" y="945248"/>
                  <a:pt x="0" y="893314"/>
                </a:cubicBezTo>
                <a:lnTo>
                  <a:pt x="0" y="94035"/>
                </a:lnTo>
                <a:cubicBezTo>
                  <a:pt x="0" y="42136"/>
                  <a:pt x="42136" y="0"/>
                  <a:pt x="940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8622226" y="3996414"/>
            <a:ext cx="376133" cy="376133"/>
          </a:xfrm>
          <a:custGeom>
            <a:avLst/>
            <a:gdLst/>
            <a:ahLst/>
            <a:cxnLst/>
            <a:rect l="l" t="t" r="r" b="b"/>
            <a:pathLst>
              <a:path w="376133" h="376133">
                <a:moveTo>
                  <a:pt x="188067" y="0"/>
                </a:moveTo>
                <a:lnTo>
                  <a:pt x="188067" y="0"/>
                </a:lnTo>
                <a:cubicBezTo>
                  <a:pt x="291863" y="0"/>
                  <a:pt x="376133" y="84270"/>
                  <a:pt x="376133" y="188067"/>
                </a:cubicBezTo>
                <a:lnTo>
                  <a:pt x="376133" y="188067"/>
                </a:lnTo>
                <a:cubicBezTo>
                  <a:pt x="376133" y="291863"/>
                  <a:pt x="291863" y="376133"/>
                  <a:pt x="188067" y="376133"/>
                </a:cubicBezTo>
                <a:lnTo>
                  <a:pt x="188067" y="376133"/>
                </a:lnTo>
                <a:cubicBezTo>
                  <a:pt x="84270" y="376133"/>
                  <a:pt x="0" y="291863"/>
                  <a:pt x="0" y="188067"/>
                </a:cubicBezTo>
                <a:lnTo>
                  <a:pt x="0" y="188067"/>
                </a:lnTo>
                <a:cubicBezTo>
                  <a:pt x="0" y="84270"/>
                  <a:pt x="84270" y="0"/>
                  <a:pt x="18806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8575209" y="3996414"/>
            <a:ext cx="470166" cy="37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9409" y="4043430"/>
            <a:ext cx="1798386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Randomness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22226" y="4466580"/>
            <a:ext cx="6876182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À chaque split, seule une partie des variables est considérée, décorrélant les arbres.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81176" y="4983763"/>
            <a:ext cx="7076003" cy="987349"/>
          </a:xfrm>
          <a:custGeom>
            <a:avLst/>
            <a:gdLst/>
            <a:ahLst/>
            <a:cxnLst/>
            <a:rect l="l" t="t" r="r" b="b"/>
            <a:pathLst>
              <a:path w="7076003" h="987349">
                <a:moveTo>
                  <a:pt x="94035" y="0"/>
                </a:moveTo>
                <a:lnTo>
                  <a:pt x="6981968" y="0"/>
                </a:lnTo>
                <a:cubicBezTo>
                  <a:pt x="7033902" y="0"/>
                  <a:pt x="7076003" y="42101"/>
                  <a:pt x="7076003" y="94035"/>
                </a:cubicBezTo>
                <a:lnTo>
                  <a:pt x="7076003" y="893314"/>
                </a:lnTo>
                <a:cubicBezTo>
                  <a:pt x="7076003" y="945248"/>
                  <a:pt x="7033902" y="987349"/>
                  <a:pt x="6981968" y="987349"/>
                </a:cubicBezTo>
                <a:lnTo>
                  <a:pt x="94035" y="987349"/>
                </a:lnTo>
                <a:cubicBezTo>
                  <a:pt x="42101" y="987349"/>
                  <a:pt x="0" y="945248"/>
                  <a:pt x="0" y="893314"/>
                </a:cubicBezTo>
                <a:lnTo>
                  <a:pt x="0" y="94035"/>
                </a:lnTo>
                <a:cubicBezTo>
                  <a:pt x="0" y="42136"/>
                  <a:pt x="42136" y="0"/>
                  <a:pt x="940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8622226" y="5124813"/>
            <a:ext cx="376133" cy="376133"/>
          </a:xfrm>
          <a:custGeom>
            <a:avLst/>
            <a:gdLst/>
            <a:ahLst/>
            <a:cxnLst/>
            <a:rect l="l" t="t" r="r" b="b"/>
            <a:pathLst>
              <a:path w="376133" h="376133">
                <a:moveTo>
                  <a:pt x="188067" y="0"/>
                </a:moveTo>
                <a:lnTo>
                  <a:pt x="188067" y="0"/>
                </a:lnTo>
                <a:cubicBezTo>
                  <a:pt x="291863" y="0"/>
                  <a:pt x="376133" y="84270"/>
                  <a:pt x="376133" y="188067"/>
                </a:cubicBezTo>
                <a:lnTo>
                  <a:pt x="376133" y="188067"/>
                </a:lnTo>
                <a:cubicBezTo>
                  <a:pt x="376133" y="291863"/>
                  <a:pt x="291863" y="376133"/>
                  <a:pt x="188067" y="376133"/>
                </a:cubicBezTo>
                <a:lnTo>
                  <a:pt x="188067" y="376133"/>
                </a:lnTo>
                <a:cubicBezTo>
                  <a:pt x="84270" y="376133"/>
                  <a:pt x="0" y="291863"/>
                  <a:pt x="0" y="188067"/>
                </a:cubicBezTo>
                <a:lnTo>
                  <a:pt x="0" y="188067"/>
                </a:lnTo>
                <a:cubicBezTo>
                  <a:pt x="0" y="84270"/>
                  <a:pt x="84270" y="0"/>
                  <a:pt x="18806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8575209" y="5124813"/>
            <a:ext cx="470166" cy="37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39409" y="5171829"/>
            <a:ext cx="2256798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Agrégation des Prédictions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22226" y="5594979"/>
            <a:ext cx="6876182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prédiction finale est la moyenne des prédictions de tous les arbres.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9601" y="6394262"/>
            <a:ext cx="7522661" cy="2209782"/>
          </a:xfrm>
          <a:custGeom>
            <a:avLst/>
            <a:gdLst/>
            <a:ahLst/>
            <a:cxnLst/>
            <a:rect l="l" t="t" r="r" b="b"/>
            <a:pathLst>
              <a:path w="7522661" h="2209782">
                <a:moveTo>
                  <a:pt x="47017" y="0"/>
                </a:moveTo>
                <a:lnTo>
                  <a:pt x="7428635" y="0"/>
                </a:lnTo>
                <a:cubicBezTo>
                  <a:pt x="7480564" y="0"/>
                  <a:pt x="7522661" y="42097"/>
                  <a:pt x="7522661" y="94026"/>
                </a:cubicBezTo>
                <a:lnTo>
                  <a:pt x="7522661" y="2115755"/>
                </a:lnTo>
                <a:cubicBezTo>
                  <a:pt x="7522661" y="2167685"/>
                  <a:pt x="7480564" y="2209782"/>
                  <a:pt x="7428635" y="2209782"/>
                </a:cubicBezTo>
                <a:lnTo>
                  <a:pt x="47017" y="2209782"/>
                </a:lnTo>
                <a:cubicBezTo>
                  <a:pt x="21050" y="2209782"/>
                  <a:pt x="0" y="2188732"/>
                  <a:pt x="0" y="2162765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5262" dist="1175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8269601" y="6394262"/>
            <a:ext cx="47017" cy="2209782"/>
          </a:xfrm>
          <a:custGeom>
            <a:avLst/>
            <a:gdLst/>
            <a:ahLst/>
            <a:cxnLst/>
            <a:rect l="l" t="t" r="r" b="b"/>
            <a:pathLst>
              <a:path w="47017" h="2209782">
                <a:moveTo>
                  <a:pt x="47017" y="0"/>
                </a:moveTo>
                <a:lnTo>
                  <a:pt x="47017" y="0"/>
                </a:lnTo>
                <a:lnTo>
                  <a:pt x="47017" y="2209782"/>
                </a:lnTo>
                <a:lnTo>
                  <a:pt x="47017" y="2209782"/>
                </a:lnTo>
                <a:cubicBezTo>
                  <a:pt x="21050" y="2209782"/>
                  <a:pt x="0" y="2188732"/>
                  <a:pt x="0" y="2162765"/>
                </a:cubicBezTo>
                <a:lnTo>
                  <a:pt x="0" y="47017"/>
                </a:lnTo>
                <a:cubicBezTo>
                  <a:pt x="0" y="21067"/>
                  <a:pt x="21067" y="0"/>
                  <a:pt x="4701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8557578" y="6688116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105787" y="0"/>
                </a:moveTo>
                <a:cubicBezTo>
                  <a:pt x="107688" y="0"/>
                  <a:pt x="109589" y="413"/>
                  <a:pt x="111325" y="1198"/>
                </a:cubicBezTo>
                <a:lnTo>
                  <a:pt x="189178" y="34216"/>
                </a:lnTo>
                <a:cubicBezTo>
                  <a:pt x="198269" y="38059"/>
                  <a:pt x="205046" y="47026"/>
                  <a:pt x="205004" y="57852"/>
                </a:cubicBezTo>
                <a:cubicBezTo>
                  <a:pt x="204798" y="98845"/>
                  <a:pt x="187938" y="173847"/>
                  <a:pt x="116738" y="207938"/>
                </a:cubicBezTo>
                <a:cubicBezTo>
                  <a:pt x="109837" y="211244"/>
                  <a:pt x="101820" y="211244"/>
                  <a:pt x="94919" y="207938"/>
                </a:cubicBezTo>
                <a:cubicBezTo>
                  <a:pt x="23678" y="173847"/>
                  <a:pt x="6860" y="98845"/>
                  <a:pt x="6653" y="57852"/>
                </a:cubicBezTo>
                <a:cubicBezTo>
                  <a:pt x="6612" y="47026"/>
                  <a:pt x="13389" y="38059"/>
                  <a:pt x="22480" y="34216"/>
                </a:cubicBezTo>
                <a:lnTo>
                  <a:pt x="100291" y="1198"/>
                </a:lnTo>
                <a:cubicBezTo>
                  <a:pt x="102027" y="413"/>
                  <a:pt x="103887" y="0"/>
                  <a:pt x="105787" y="0"/>
                </a:cubicBezTo>
                <a:close/>
                <a:moveTo>
                  <a:pt x="105787" y="27604"/>
                </a:moveTo>
                <a:lnTo>
                  <a:pt x="105787" y="183847"/>
                </a:lnTo>
                <a:cubicBezTo>
                  <a:pt x="162813" y="156243"/>
                  <a:pt x="178144" y="95085"/>
                  <a:pt x="178516" y="58472"/>
                </a:cubicBezTo>
                <a:lnTo>
                  <a:pt x="105787" y="27645"/>
                </a:lnTo>
                <a:lnTo>
                  <a:pt x="105787" y="27645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8798538" y="6629345"/>
            <a:ext cx="6864428" cy="3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Robustesse Face aux Outliers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28192" y="7099511"/>
            <a:ext cx="7123020" cy="61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marché tunisien comporte des biens de luxe et économiques. Random Forest est </a:t>
            </a:r>
            <a:r>
              <a:rPr lang="en-US" sz="1481" dirty="0">
                <a:solidFill>
                  <a:srgbClr val="2C3E50"/>
                </a:solidFill>
                <a:highlight>
                  <a:srgbClr val="E7A46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moins sensible aux outliers </a:t>
            </a:r>
            <a:r>
              <a:rPr lang="en-US" sz="148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28192" y="7851777"/>
            <a:ext cx="7028986" cy="517183"/>
          </a:xfrm>
          <a:custGeom>
            <a:avLst/>
            <a:gdLst/>
            <a:ahLst/>
            <a:cxnLst/>
            <a:rect l="l" t="t" r="r" b="b"/>
            <a:pathLst>
              <a:path w="7028986" h="517183">
                <a:moveTo>
                  <a:pt x="47017" y="0"/>
                </a:moveTo>
                <a:lnTo>
                  <a:pt x="6981969" y="0"/>
                </a:lnTo>
                <a:cubicBezTo>
                  <a:pt x="7007936" y="0"/>
                  <a:pt x="7028986" y="21050"/>
                  <a:pt x="7028986" y="47017"/>
                </a:cubicBezTo>
                <a:lnTo>
                  <a:pt x="7028986" y="470166"/>
                </a:lnTo>
                <a:cubicBezTo>
                  <a:pt x="7028986" y="496133"/>
                  <a:pt x="7007936" y="517183"/>
                  <a:pt x="6981969" y="517183"/>
                </a:cubicBezTo>
                <a:lnTo>
                  <a:pt x="47017" y="517183"/>
                </a:lnTo>
                <a:cubicBezTo>
                  <a:pt x="21050" y="517183"/>
                  <a:pt x="0" y="496133"/>
                  <a:pt x="0" y="470166"/>
                </a:cubicBezTo>
                <a:lnTo>
                  <a:pt x="0" y="47017"/>
                </a:lnTo>
                <a:cubicBezTo>
                  <a:pt x="0" y="21068"/>
                  <a:pt x="21068" y="0"/>
                  <a:pt x="47017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8692751" y="8028090"/>
            <a:ext cx="164558" cy="164558"/>
          </a:xfrm>
          <a:custGeom>
            <a:avLst/>
            <a:gdLst/>
            <a:ahLst/>
            <a:cxnLst/>
            <a:rect l="l" t="t" r="r" b="b"/>
            <a:pathLst>
              <a:path w="164558" h="164558">
                <a:moveTo>
                  <a:pt x="82279" y="164558"/>
                </a:moveTo>
                <a:cubicBezTo>
                  <a:pt x="127690" y="164558"/>
                  <a:pt x="164558" y="127690"/>
                  <a:pt x="164558" y="82279"/>
                </a:cubicBezTo>
                <a:cubicBezTo>
                  <a:pt x="164558" y="36868"/>
                  <a:pt x="127690" y="0"/>
                  <a:pt x="82279" y="0"/>
                </a:cubicBezTo>
                <a:cubicBezTo>
                  <a:pt x="36868" y="0"/>
                  <a:pt x="0" y="36868"/>
                  <a:pt x="0" y="82279"/>
                </a:cubicBezTo>
                <a:cubicBezTo>
                  <a:pt x="0" y="127690"/>
                  <a:pt x="36868" y="164558"/>
                  <a:pt x="82279" y="164558"/>
                </a:cubicBezTo>
                <a:close/>
                <a:moveTo>
                  <a:pt x="71994" y="51424"/>
                </a:moveTo>
                <a:cubicBezTo>
                  <a:pt x="71994" y="45748"/>
                  <a:pt x="76603" y="41140"/>
                  <a:pt x="82279" y="41140"/>
                </a:cubicBezTo>
                <a:cubicBezTo>
                  <a:pt x="87955" y="41140"/>
                  <a:pt x="92564" y="45748"/>
                  <a:pt x="92564" y="51424"/>
                </a:cubicBezTo>
                <a:cubicBezTo>
                  <a:pt x="92564" y="57101"/>
                  <a:pt x="87955" y="61709"/>
                  <a:pt x="82279" y="61709"/>
                </a:cubicBezTo>
                <a:cubicBezTo>
                  <a:pt x="76603" y="61709"/>
                  <a:pt x="71994" y="57101"/>
                  <a:pt x="71994" y="51424"/>
                </a:cubicBezTo>
                <a:close/>
                <a:moveTo>
                  <a:pt x="69423" y="71994"/>
                </a:moveTo>
                <a:lnTo>
                  <a:pt x="84850" y="71994"/>
                </a:lnTo>
                <a:cubicBezTo>
                  <a:pt x="89125" y="71994"/>
                  <a:pt x="92564" y="75433"/>
                  <a:pt x="92564" y="79708"/>
                </a:cubicBezTo>
                <a:lnTo>
                  <a:pt x="92564" y="107991"/>
                </a:lnTo>
                <a:lnTo>
                  <a:pt x="95135" y="107991"/>
                </a:lnTo>
                <a:cubicBezTo>
                  <a:pt x="99410" y="107991"/>
                  <a:pt x="102849" y="111430"/>
                  <a:pt x="102849" y="115705"/>
                </a:cubicBezTo>
                <a:cubicBezTo>
                  <a:pt x="102849" y="119980"/>
                  <a:pt x="99410" y="123419"/>
                  <a:pt x="95135" y="123419"/>
                </a:cubicBezTo>
                <a:lnTo>
                  <a:pt x="69423" y="123419"/>
                </a:lnTo>
                <a:cubicBezTo>
                  <a:pt x="65148" y="123419"/>
                  <a:pt x="61709" y="119980"/>
                  <a:pt x="61709" y="115705"/>
                </a:cubicBezTo>
                <a:cubicBezTo>
                  <a:pt x="61709" y="111430"/>
                  <a:pt x="65148" y="107991"/>
                  <a:pt x="69423" y="107991"/>
                </a:cubicBezTo>
                <a:lnTo>
                  <a:pt x="77137" y="107991"/>
                </a:lnTo>
                <a:lnTo>
                  <a:pt x="77137" y="87422"/>
                </a:lnTo>
                <a:lnTo>
                  <a:pt x="69423" y="87422"/>
                </a:lnTo>
                <a:cubicBezTo>
                  <a:pt x="65148" y="87422"/>
                  <a:pt x="61709" y="83983"/>
                  <a:pt x="61709" y="79708"/>
                </a:cubicBezTo>
                <a:cubicBezTo>
                  <a:pt x="61709" y="75433"/>
                  <a:pt x="65148" y="71994"/>
                  <a:pt x="69423" y="71994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8967847" y="7992827"/>
            <a:ext cx="6530561" cy="23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L'aggrégation des arbres lisse l'effet des valeurs extrêmes.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456" y="466456"/>
            <a:ext cx="1541637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9" b="1" kern="0" spc="73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AVANTAGES ET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6456" y="839621"/>
            <a:ext cx="15532993" cy="4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0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– Avantages et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6456" y="1446014"/>
            <a:ext cx="932912" cy="46646"/>
          </a:xfrm>
          <a:custGeom>
            <a:avLst/>
            <a:gdLst/>
            <a:ahLst/>
            <a:cxnLst/>
            <a:rect l="l" t="t" r="r" b="b"/>
            <a:pathLst>
              <a:path w="932912" h="46646">
                <a:moveTo>
                  <a:pt x="0" y="0"/>
                </a:moveTo>
                <a:lnTo>
                  <a:pt x="932912" y="0"/>
                </a:lnTo>
                <a:lnTo>
                  <a:pt x="932912" y="46646"/>
                </a:lnTo>
                <a:lnTo>
                  <a:pt x="0" y="46646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66456" y="1749211"/>
            <a:ext cx="7544930" cy="2775415"/>
          </a:xfrm>
          <a:custGeom>
            <a:avLst/>
            <a:gdLst/>
            <a:ahLst/>
            <a:cxnLst/>
            <a:rect l="l" t="t" r="r" b="b"/>
            <a:pathLst>
              <a:path w="7544930" h="2775415">
                <a:moveTo>
                  <a:pt x="46646" y="0"/>
                </a:moveTo>
                <a:lnTo>
                  <a:pt x="7498284" y="0"/>
                </a:lnTo>
                <a:cubicBezTo>
                  <a:pt x="7524046" y="0"/>
                  <a:pt x="7544930" y="20884"/>
                  <a:pt x="7544930" y="46646"/>
                </a:cubicBezTo>
                <a:lnTo>
                  <a:pt x="7544930" y="2682133"/>
                </a:lnTo>
                <a:cubicBezTo>
                  <a:pt x="7544930" y="2733651"/>
                  <a:pt x="7503166" y="2775415"/>
                  <a:pt x="7451648" y="2775415"/>
                </a:cubicBezTo>
                <a:lnTo>
                  <a:pt x="93282" y="2775415"/>
                </a:lnTo>
                <a:cubicBezTo>
                  <a:pt x="41764" y="2775415"/>
                  <a:pt x="0" y="2733651"/>
                  <a:pt x="0" y="2682133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4984" dist="116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66456" y="1749211"/>
            <a:ext cx="7544930" cy="46646"/>
          </a:xfrm>
          <a:custGeom>
            <a:avLst/>
            <a:gdLst/>
            <a:ahLst/>
            <a:cxnLst/>
            <a:rect l="l" t="t" r="r" b="b"/>
            <a:pathLst>
              <a:path w="7544930" h="46646">
                <a:moveTo>
                  <a:pt x="46646" y="0"/>
                </a:moveTo>
                <a:lnTo>
                  <a:pt x="7498284" y="0"/>
                </a:lnTo>
                <a:cubicBezTo>
                  <a:pt x="7524046" y="0"/>
                  <a:pt x="7544930" y="20884"/>
                  <a:pt x="7544930" y="46646"/>
                </a:cubicBezTo>
                <a:lnTo>
                  <a:pt x="7544930" y="46646"/>
                </a:lnTo>
                <a:lnTo>
                  <a:pt x="0" y="46646"/>
                </a:ln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28838" y="2052407"/>
            <a:ext cx="233228" cy="233228"/>
          </a:xfrm>
          <a:custGeom>
            <a:avLst/>
            <a:gdLst/>
            <a:ahLst/>
            <a:cxnLst/>
            <a:rect l="l" t="t" r="r" b="b"/>
            <a:pathLst>
              <a:path w="233228" h="233228">
                <a:moveTo>
                  <a:pt x="14577" y="14577"/>
                </a:moveTo>
                <a:cubicBezTo>
                  <a:pt x="22640" y="14577"/>
                  <a:pt x="29154" y="21091"/>
                  <a:pt x="29154" y="29154"/>
                </a:cubicBezTo>
                <a:lnTo>
                  <a:pt x="29154" y="182209"/>
                </a:lnTo>
                <a:cubicBezTo>
                  <a:pt x="29154" y="186218"/>
                  <a:pt x="32433" y="189498"/>
                  <a:pt x="36442" y="189498"/>
                </a:cubicBezTo>
                <a:lnTo>
                  <a:pt x="218651" y="189498"/>
                </a:lnTo>
                <a:cubicBezTo>
                  <a:pt x="226714" y="189498"/>
                  <a:pt x="233228" y="196012"/>
                  <a:pt x="233228" y="204075"/>
                </a:cubicBezTo>
                <a:cubicBezTo>
                  <a:pt x="233228" y="212137"/>
                  <a:pt x="226714" y="218651"/>
                  <a:pt x="218651" y="218651"/>
                </a:cubicBezTo>
                <a:lnTo>
                  <a:pt x="36442" y="218651"/>
                </a:lnTo>
                <a:cubicBezTo>
                  <a:pt x="16308" y="218651"/>
                  <a:pt x="0" y="202344"/>
                  <a:pt x="0" y="182209"/>
                </a:cubicBezTo>
                <a:lnTo>
                  <a:pt x="0" y="29154"/>
                </a:lnTo>
                <a:cubicBezTo>
                  <a:pt x="0" y="21091"/>
                  <a:pt x="6514" y="14577"/>
                  <a:pt x="14577" y="14577"/>
                </a:cubicBezTo>
                <a:close/>
                <a:moveTo>
                  <a:pt x="58307" y="43730"/>
                </a:moveTo>
                <a:cubicBezTo>
                  <a:pt x="58307" y="35668"/>
                  <a:pt x="64821" y="29154"/>
                  <a:pt x="72884" y="29154"/>
                </a:cubicBezTo>
                <a:lnTo>
                  <a:pt x="160344" y="29154"/>
                </a:lnTo>
                <a:cubicBezTo>
                  <a:pt x="168407" y="29154"/>
                  <a:pt x="174921" y="35668"/>
                  <a:pt x="174921" y="43730"/>
                </a:cubicBezTo>
                <a:cubicBezTo>
                  <a:pt x="174921" y="51793"/>
                  <a:pt x="168407" y="58307"/>
                  <a:pt x="160344" y="58307"/>
                </a:cubicBezTo>
                <a:lnTo>
                  <a:pt x="72884" y="58307"/>
                </a:lnTo>
                <a:cubicBezTo>
                  <a:pt x="64821" y="58307"/>
                  <a:pt x="58307" y="51793"/>
                  <a:pt x="58307" y="43730"/>
                </a:cubicBezTo>
                <a:close/>
                <a:moveTo>
                  <a:pt x="72884" y="80172"/>
                </a:moveTo>
                <a:lnTo>
                  <a:pt x="131191" y="80172"/>
                </a:lnTo>
                <a:cubicBezTo>
                  <a:pt x="139254" y="80172"/>
                  <a:pt x="145768" y="86686"/>
                  <a:pt x="145768" y="94749"/>
                </a:cubicBezTo>
                <a:cubicBezTo>
                  <a:pt x="145768" y="102812"/>
                  <a:pt x="139254" y="109326"/>
                  <a:pt x="131191" y="109326"/>
                </a:cubicBezTo>
                <a:lnTo>
                  <a:pt x="72884" y="109326"/>
                </a:lnTo>
                <a:cubicBezTo>
                  <a:pt x="64821" y="109326"/>
                  <a:pt x="58307" y="102812"/>
                  <a:pt x="58307" y="94749"/>
                </a:cubicBezTo>
                <a:cubicBezTo>
                  <a:pt x="58307" y="86686"/>
                  <a:pt x="64821" y="80172"/>
                  <a:pt x="72884" y="80172"/>
                </a:cubicBezTo>
                <a:close/>
                <a:moveTo>
                  <a:pt x="72884" y="131191"/>
                </a:moveTo>
                <a:lnTo>
                  <a:pt x="189498" y="131191"/>
                </a:lnTo>
                <a:cubicBezTo>
                  <a:pt x="197561" y="131191"/>
                  <a:pt x="204075" y="137705"/>
                  <a:pt x="204075" y="145768"/>
                </a:cubicBezTo>
                <a:cubicBezTo>
                  <a:pt x="204075" y="153830"/>
                  <a:pt x="197561" y="160344"/>
                  <a:pt x="189498" y="160344"/>
                </a:cubicBezTo>
                <a:lnTo>
                  <a:pt x="72884" y="160344"/>
                </a:lnTo>
                <a:cubicBezTo>
                  <a:pt x="64821" y="160344"/>
                  <a:pt x="58307" y="153830"/>
                  <a:pt x="58307" y="145768"/>
                </a:cubicBezTo>
                <a:cubicBezTo>
                  <a:pt x="58307" y="137705"/>
                  <a:pt x="64821" y="131191"/>
                  <a:pt x="72884" y="131191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91220" y="2005762"/>
            <a:ext cx="6903552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Réduction du Surapprentissage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9684" y="2472218"/>
            <a:ext cx="7171765" cy="606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réduit significativement le </a:t>
            </a:r>
            <a:r>
              <a:rPr lang="en-US" sz="1469" dirty="0">
                <a:solidFill>
                  <a:srgbClr val="2C3E50"/>
                </a:solidFill>
                <a:highlight>
                  <a:srgbClr val="E7A46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risque de surapprentissage </a:t>
            </a:r>
            <a:r>
              <a:rPr lang="en-US" sz="146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un problème majeur des arbres individuels.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3007" y="3311839"/>
            <a:ext cx="186582" cy="186582"/>
          </a:xfrm>
          <a:custGeom>
            <a:avLst/>
            <a:gdLst/>
            <a:ahLst/>
            <a:cxnLst/>
            <a:rect l="l" t="t" r="r" b="b"/>
            <a:pathLst>
              <a:path w="186582" h="186582">
                <a:moveTo>
                  <a:pt x="147152" y="12536"/>
                </a:moveTo>
                <a:cubicBezTo>
                  <a:pt x="151525" y="10714"/>
                  <a:pt x="156518" y="11734"/>
                  <a:pt x="159871" y="15051"/>
                </a:cubicBezTo>
                <a:lnTo>
                  <a:pt x="183193" y="38373"/>
                </a:lnTo>
                <a:cubicBezTo>
                  <a:pt x="185380" y="40560"/>
                  <a:pt x="186619" y="43512"/>
                  <a:pt x="186619" y="46609"/>
                </a:cubicBezTo>
                <a:cubicBezTo>
                  <a:pt x="186619" y="49707"/>
                  <a:pt x="185380" y="52659"/>
                  <a:pt x="183193" y="54845"/>
                </a:cubicBezTo>
                <a:lnTo>
                  <a:pt x="159871" y="78168"/>
                </a:lnTo>
                <a:cubicBezTo>
                  <a:pt x="156518" y="81521"/>
                  <a:pt x="151525" y="82504"/>
                  <a:pt x="147152" y="80682"/>
                </a:cubicBezTo>
                <a:cubicBezTo>
                  <a:pt x="142779" y="78860"/>
                  <a:pt x="139937" y="74669"/>
                  <a:pt x="139937" y="69968"/>
                </a:cubicBezTo>
                <a:lnTo>
                  <a:pt x="139937" y="58307"/>
                </a:lnTo>
                <a:lnTo>
                  <a:pt x="128275" y="58307"/>
                </a:lnTo>
                <a:cubicBezTo>
                  <a:pt x="124595" y="58307"/>
                  <a:pt x="121133" y="60020"/>
                  <a:pt x="118946" y="62972"/>
                </a:cubicBezTo>
                <a:lnTo>
                  <a:pt x="107139" y="78714"/>
                </a:lnTo>
                <a:lnTo>
                  <a:pt x="92562" y="59291"/>
                </a:lnTo>
                <a:lnTo>
                  <a:pt x="100288" y="48978"/>
                </a:lnTo>
                <a:cubicBezTo>
                  <a:pt x="106884" y="40159"/>
                  <a:pt x="117270" y="34984"/>
                  <a:pt x="128275" y="34984"/>
                </a:cubicBezTo>
                <a:lnTo>
                  <a:pt x="139937" y="34984"/>
                </a:lnTo>
                <a:lnTo>
                  <a:pt x="139937" y="23323"/>
                </a:lnTo>
                <a:cubicBezTo>
                  <a:pt x="139937" y="18622"/>
                  <a:pt x="142779" y="14358"/>
                  <a:pt x="147152" y="12536"/>
                </a:cubicBezTo>
                <a:close/>
                <a:moveTo>
                  <a:pt x="56121" y="107868"/>
                </a:moveTo>
                <a:lnTo>
                  <a:pt x="70697" y="127292"/>
                </a:lnTo>
                <a:lnTo>
                  <a:pt x="62972" y="137605"/>
                </a:lnTo>
                <a:cubicBezTo>
                  <a:pt x="56376" y="146424"/>
                  <a:pt x="45990" y="151598"/>
                  <a:pt x="34984" y="151598"/>
                </a:cubicBezTo>
                <a:lnTo>
                  <a:pt x="11661" y="151598"/>
                </a:lnTo>
                <a:cubicBezTo>
                  <a:pt x="5211" y="151598"/>
                  <a:pt x="0" y="146387"/>
                  <a:pt x="0" y="139937"/>
                </a:cubicBezTo>
                <a:cubicBezTo>
                  <a:pt x="0" y="133487"/>
                  <a:pt x="5211" y="128275"/>
                  <a:pt x="11661" y="128275"/>
                </a:cubicBezTo>
                <a:lnTo>
                  <a:pt x="34984" y="128275"/>
                </a:lnTo>
                <a:cubicBezTo>
                  <a:pt x="38665" y="128275"/>
                  <a:pt x="42127" y="126563"/>
                  <a:pt x="44313" y="123611"/>
                </a:cubicBezTo>
                <a:lnTo>
                  <a:pt x="56121" y="107868"/>
                </a:lnTo>
                <a:close/>
                <a:moveTo>
                  <a:pt x="159834" y="171496"/>
                </a:moveTo>
                <a:cubicBezTo>
                  <a:pt x="156481" y="174848"/>
                  <a:pt x="151489" y="175832"/>
                  <a:pt x="147116" y="174010"/>
                </a:cubicBezTo>
                <a:cubicBezTo>
                  <a:pt x="142743" y="172188"/>
                  <a:pt x="139937" y="167961"/>
                  <a:pt x="139937" y="163260"/>
                </a:cubicBezTo>
                <a:lnTo>
                  <a:pt x="139937" y="151598"/>
                </a:lnTo>
                <a:lnTo>
                  <a:pt x="128275" y="151598"/>
                </a:lnTo>
                <a:cubicBezTo>
                  <a:pt x="117270" y="151598"/>
                  <a:pt x="106884" y="146424"/>
                  <a:pt x="100288" y="137605"/>
                </a:cubicBezTo>
                <a:lnTo>
                  <a:pt x="44313" y="62972"/>
                </a:lnTo>
                <a:cubicBezTo>
                  <a:pt x="42127" y="60020"/>
                  <a:pt x="38665" y="58307"/>
                  <a:pt x="34984" y="58307"/>
                </a:cubicBezTo>
                <a:lnTo>
                  <a:pt x="11661" y="58307"/>
                </a:lnTo>
                <a:cubicBezTo>
                  <a:pt x="5211" y="58307"/>
                  <a:pt x="0" y="53096"/>
                  <a:pt x="0" y="46646"/>
                </a:cubicBezTo>
                <a:cubicBezTo>
                  <a:pt x="0" y="40195"/>
                  <a:pt x="5211" y="34984"/>
                  <a:pt x="11661" y="34984"/>
                </a:cubicBezTo>
                <a:lnTo>
                  <a:pt x="34984" y="34984"/>
                </a:lnTo>
                <a:cubicBezTo>
                  <a:pt x="45990" y="34984"/>
                  <a:pt x="56376" y="40159"/>
                  <a:pt x="62972" y="48978"/>
                </a:cubicBezTo>
                <a:lnTo>
                  <a:pt x="118946" y="123611"/>
                </a:lnTo>
                <a:cubicBezTo>
                  <a:pt x="121133" y="126563"/>
                  <a:pt x="124595" y="128275"/>
                  <a:pt x="128275" y="128275"/>
                </a:cubicBezTo>
                <a:lnTo>
                  <a:pt x="139937" y="128275"/>
                </a:lnTo>
                <a:lnTo>
                  <a:pt x="139937" y="116614"/>
                </a:lnTo>
                <a:cubicBezTo>
                  <a:pt x="139937" y="111913"/>
                  <a:pt x="142779" y="107649"/>
                  <a:pt x="147152" y="105827"/>
                </a:cubicBezTo>
                <a:cubicBezTo>
                  <a:pt x="151525" y="104005"/>
                  <a:pt x="156518" y="105026"/>
                  <a:pt x="159871" y="108342"/>
                </a:cubicBezTo>
                <a:lnTo>
                  <a:pt x="183193" y="131665"/>
                </a:lnTo>
                <a:cubicBezTo>
                  <a:pt x="185380" y="133851"/>
                  <a:pt x="186619" y="136803"/>
                  <a:pt x="186619" y="139900"/>
                </a:cubicBezTo>
                <a:cubicBezTo>
                  <a:pt x="186619" y="142998"/>
                  <a:pt x="185380" y="145950"/>
                  <a:pt x="183193" y="148136"/>
                </a:cubicBezTo>
                <a:lnTo>
                  <a:pt x="159871" y="171459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72849" y="3265194"/>
            <a:ext cx="4454657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Bagging Efficace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2849" y="3498422"/>
            <a:ext cx="4454657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L'aggrégation sur des échantillons aléatoires réduit la variance.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9684" y="3871587"/>
            <a:ext cx="233228" cy="186582"/>
          </a:xfrm>
          <a:custGeom>
            <a:avLst/>
            <a:gdLst/>
            <a:ahLst/>
            <a:cxnLst/>
            <a:rect l="l" t="t" r="r" b="b"/>
            <a:pathLst>
              <a:path w="233228" h="186582">
                <a:moveTo>
                  <a:pt x="139937" y="11661"/>
                </a:moveTo>
                <a:lnTo>
                  <a:pt x="186582" y="11661"/>
                </a:lnTo>
                <a:cubicBezTo>
                  <a:pt x="193033" y="11661"/>
                  <a:pt x="198244" y="16873"/>
                  <a:pt x="198244" y="23323"/>
                </a:cubicBezTo>
                <a:cubicBezTo>
                  <a:pt x="198244" y="29773"/>
                  <a:pt x="193033" y="34984"/>
                  <a:pt x="186582" y="34984"/>
                </a:cubicBezTo>
                <a:lnTo>
                  <a:pt x="145185" y="34984"/>
                </a:lnTo>
                <a:cubicBezTo>
                  <a:pt x="143290" y="44386"/>
                  <a:pt x="136839" y="52148"/>
                  <a:pt x="128275" y="55865"/>
                </a:cubicBezTo>
                <a:lnTo>
                  <a:pt x="128275" y="163260"/>
                </a:lnTo>
                <a:lnTo>
                  <a:pt x="186582" y="163260"/>
                </a:lnTo>
                <a:cubicBezTo>
                  <a:pt x="193033" y="163260"/>
                  <a:pt x="198244" y="168471"/>
                  <a:pt x="198244" y="174921"/>
                </a:cubicBezTo>
                <a:cubicBezTo>
                  <a:pt x="198244" y="181371"/>
                  <a:pt x="193033" y="186582"/>
                  <a:pt x="186582" y="186582"/>
                </a:cubicBezTo>
                <a:lnTo>
                  <a:pt x="46646" y="186582"/>
                </a:lnTo>
                <a:cubicBezTo>
                  <a:pt x="40195" y="186582"/>
                  <a:pt x="34984" y="181371"/>
                  <a:pt x="34984" y="174921"/>
                </a:cubicBezTo>
                <a:cubicBezTo>
                  <a:pt x="34984" y="168471"/>
                  <a:pt x="40195" y="163260"/>
                  <a:pt x="46646" y="163260"/>
                </a:cubicBezTo>
                <a:lnTo>
                  <a:pt x="104953" y="163260"/>
                </a:lnTo>
                <a:lnTo>
                  <a:pt x="104953" y="55865"/>
                </a:lnTo>
                <a:cubicBezTo>
                  <a:pt x="96389" y="52112"/>
                  <a:pt x="89939" y="44350"/>
                  <a:pt x="88044" y="34984"/>
                </a:cubicBezTo>
                <a:lnTo>
                  <a:pt x="46646" y="34984"/>
                </a:lnTo>
                <a:cubicBezTo>
                  <a:pt x="40195" y="34984"/>
                  <a:pt x="34984" y="29773"/>
                  <a:pt x="34984" y="23323"/>
                </a:cubicBezTo>
                <a:cubicBezTo>
                  <a:pt x="34984" y="16873"/>
                  <a:pt x="40195" y="11661"/>
                  <a:pt x="46646" y="11661"/>
                </a:cubicBezTo>
                <a:lnTo>
                  <a:pt x="93291" y="11661"/>
                </a:lnTo>
                <a:cubicBezTo>
                  <a:pt x="98612" y="4592"/>
                  <a:pt x="107066" y="0"/>
                  <a:pt x="116614" y="0"/>
                </a:cubicBezTo>
                <a:cubicBezTo>
                  <a:pt x="126162" y="0"/>
                  <a:pt x="134616" y="4592"/>
                  <a:pt x="139937" y="11661"/>
                </a:cubicBezTo>
                <a:close/>
                <a:moveTo>
                  <a:pt x="160199" y="116614"/>
                </a:moveTo>
                <a:lnTo>
                  <a:pt x="212966" y="116614"/>
                </a:lnTo>
                <a:lnTo>
                  <a:pt x="186582" y="71353"/>
                </a:lnTo>
                <a:lnTo>
                  <a:pt x="160199" y="116614"/>
                </a:lnTo>
                <a:close/>
                <a:moveTo>
                  <a:pt x="186582" y="151598"/>
                </a:moveTo>
                <a:cubicBezTo>
                  <a:pt x="163661" y="151598"/>
                  <a:pt x="144601" y="139208"/>
                  <a:pt x="140666" y="122846"/>
                </a:cubicBezTo>
                <a:cubicBezTo>
                  <a:pt x="139718" y="118837"/>
                  <a:pt x="141030" y="114719"/>
                  <a:pt x="143107" y="111148"/>
                </a:cubicBezTo>
                <a:lnTo>
                  <a:pt x="177800" y="51675"/>
                </a:lnTo>
                <a:cubicBezTo>
                  <a:pt x="179622" y="48541"/>
                  <a:pt x="182975" y="46646"/>
                  <a:pt x="186582" y="46646"/>
                </a:cubicBezTo>
                <a:cubicBezTo>
                  <a:pt x="190190" y="46646"/>
                  <a:pt x="193543" y="48577"/>
                  <a:pt x="195365" y="51675"/>
                </a:cubicBezTo>
                <a:lnTo>
                  <a:pt x="230058" y="111148"/>
                </a:lnTo>
                <a:cubicBezTo>
                  <a:pt x="232135" y="114719"/>
                  <a:pt x="233447" y="118837"/>
                  <a:pt x="232499" y="122846"/>
                </a:cubicBezTo>
                <a:cubicBezTo>
                  <a:pt x="228564" y="139172"/>
                  <a:pt x="209504" y="151598"/>
                  <a:pt x="186582" y="151598"/>
                </a:cubicBezTo>
                <a:close/>
                <a:moveTo>
                  <a:pt x="46208" y="71353"/>
                </a:moveTo>
                <a:lnTo>
                  <a:pt x="19824" y="116614"/>
                </a:lnTo>
                <a:lnTo>
                  <a:pt x="72629" y="116614"/>
                </a:lnTo>
                <a:lnTo>
                  <a:pt x="46208" y="71353"/>
                </a:lnTo>
                <a:close/>
                <a:moveTo>
                  <a:pt x="328" y="122846"/>
                </a:moveTo>
                <a:cubicBezTo>
                  <a:pt x="-620" y="118837"/>
                  <a:pt x="692" y="114719"/>
                  <a:pt x="2770" y="111148"/>
                </a:cubicBezTo>
                <a:lnTo>
                  <a:pt x="37462" y="51675"/>
                </a:lnTo>
                <a:cubicBezTo>
                  <a:pt x="39284" y="48541"/>
                  <a:pt x="42637" y="46646"/>
                  <a:pt x="46245" y="46646"/>
                </a:cubicBezTo>
                <a:cubicBezTo>
                  <a:pt x="49853" y="46646"/>
                  <a:pt x="53205" y="48577"/>
                  <a:pt x="55027" y="51675"/>
                </a:cubicBezTo>
                <a:lnTo>
                  <a:pt x="89720" y="111148"/>
                </a:lnTo>
                <a:cubicBezTo>
                  <a:pt x="91797" y="114719"/>
                  <a:pt x="93109" y="118837"/>
                  <a:pt x="92162" y="122846"/>
                </a:cubicBezTo>
                <a:cubicBezTo>
                  <a:pt x="88226" y="139172"/>
                  <a:pt x="69167" y="151598"/>
                  <a:pt x="46245" y="151598"/>
                </a:cubicBezTo>
                <a:cubicBezTo>
                  <a:pt x="23323" y="151598"/>
                  <a:pt x="4264" y="139208"/>
                  <a:pt x="328" y="122846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72849" y="3824941"/>
            <a:ext cx="3171902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Biais-Variance Trade-off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2849" y="4058169"/>
            <a:ext cx="3171902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Meilleur équilibre que les arbres individuels.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779" y="4711208"/>
            <a:ext cx="7521607" cy="3101934"/>
          </a:xfrm>
          <a:custGeom>
            <a:avLst/>
            <a:gdLst/>
            <a:ahLst/>
            <a:cxnLst/>
            <a:rect l="l" t="t" r="r" b="b"/>
            <a:pathLst>
              <a:path w="7521607" h="3101934">
                <a:moveTo>
                  <a:pt x="46646" y="0"/>
                </a:moveTo>
                <a:lnTo>
                  <a:pt x="7428301" y="0"/>
                </a:lnTo>
                <a:cubicBezTo>
                  <a:pt x="7479832" y="0"/>
                  <a:pt x="7521607" y="41775"/>
                  <a:pt x="7521607" y="93306"/>
                </a:cubicBezTo>
                <a:lnTo>
                  <a:pt x="7521607" y="3008628"/>
                </a:lnTo>
                <a:cubicBezTo>
                  <a:pt x="7521607" y="3060159"/>
                  <a:pt x="7479832" y="3101934"/>
                  <a:pt x="7428301" y="3101934"/>
                </a:cubicBezTo>
                <a:lnTo>
                  <a:pt x="46646" y="3101934"/>
                </a:lnTo>
                <a:cubicBezTo>
                  <a:pt x="20884" y="3101934"/>
                  <a:pt x="0" y="3081050"/>
                  <a:pt x="0" y="3055288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4984" dist="116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89779" y="4711208"/>
            <a:ext cx="46646" cy="3101934"/>
          </a:xfrm>
          <a:custGeom>
            <a:avLst/>
            <a:gdLst/>
            <a:ahLst/>
            <a:cxnLst/>
            <a:rect l="l" t="t" r="r" b="b"/>
            <a:pathLst>
              <a:path w="46646" h="3101934">
                <a:moveTo>
                  <a:pt x="46646" y="0"/>
                </a:moveTo>
                <a:lnTo>
                  <a:pt x="46646" y="0"/>
                </a:lnTo>
                <a:lnTo>
                  <a:pt x="46646" y="3101934"/>
                </a:lnTo>
                <a:lnTo>
                  <a:pt x="46646" y="3101934"/>
                </a:lnTo>
                <a:cubicBezTo>
                  <a:pt x="20884" y="3101934"/>
                  <a:pt x="0" y="3081050"/>
                  <a:pt x="0" y="3055288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62364" y="5002743"/>
            <a:ext cx="236143" cy="209905"/>
          </a:xfrm>
          <a:custGeom>
            <a:avLst/>
            <a:gdLst/>
            <a:ahLst/>
            <a:cxnLst/>
            <a:rect l="l" t="t" r="r" b="b"/>
            <a:pathLst>
              <a:path w="236143" h="209905">
                <a:moveTo>
                  <a:pt x="126886" y="-7748"/>
                </a:moveTo>
                <a:cubicBezTo>
                  <a:pt x="125205" y="-11028"/>
                  <a:pt x="121802" y="-13119"/>
                  <a:pt x="118113" y="-13119"/>
                </a:cubicBezTo>
                <a:cubicBezTo>
                  <a:pt x="114423" y="-13119"/>
                  <a:pt x="111020" y="-11028"/>
                  <a:pt x="109339" y="-7748"/>
                </a:cubicBezTo>
                <a:lnTo>
                  <a:pt x="79165" y="51369"/>
                </a:lnTo>
                <a:lnTo>
                  <a:pt x="13611" y="61783"/>
                </a:lnTo>
                <a:cubicBezTo>
                  <a:pt x="9962" y="62357"/>
                  <a:pt x="6929" y="64939"/>
                  <a:pt x="5781" y="68465"/>
                </a:cubicBezTo>
                <a:cubicBezTo>
                  <a:pt x="4633" y="71991"/>
                  <a:pt x="5576" y="75845"/>
                  <a:pt x="8158" y="78469"/>
                </a:cubicBezTo>
                <a:lnTo>
                  <a:pt x="55059" y="125410"/>
                </a:lnTo>
                <a:lnTo>
                  <a:pt x="44728" y="190965"/>
                </a:lnTo>
                <a:cubicBezTo>
                  <a:pt x="44154" y="194613"/>
                  <a:pt x="45671" y="198303"/>
                  <a:pt x="48664" y="200476"/>
                </a:cubicBezTo>
                <a:cubicBezTo>
                  <a:pt x="51656" y="202649"/>
                  <a:pt x="55592" y="202977"/>
                  <a:pt x="58913" y="201296"/>
                </a:cubicBezTo>
                <a:lnTo>
                  <a:pt x="118113" y="171204"/>
                </a:lnTo>
                <a:lnTo>
                  <a:pt x="177272" y="201296"/>
                </a:lnTo>
                <a:cubicBezTo>
                  <a:pt x="180551" y="202977"/>
                  <a:pt x="184528" y="202649"/>
                  <a:pt x="187521" y="200476"/>
                </a:cubicBezTo>
                <a:cubicBezTo>
                  <a:pt x="190514" y="198303"/>
                  <a:pt x="192031" y="194654"/>
                  <a:pt x="191457" y="190965"/>
                </a:cubicBezTo>
                <a:lnTo>
                  <a:pt x="181084" y="125410"/>
                </a:lnTo>
                <a:lnTo>
                  <a:pt x="227985" y="78469"/>
                </a:lnTo>
                <a:cubicBezTo>
                  <a:pt x="230609" y="75845"/>
                  <a:pt x="231511" y="71991"/>
                  <a:pt x="230363" y="68465"/>
                </a:cubicBezTo>
                <a:cubicBezTo>
                  <a:pt x="229215" y="64939"/>
                  <a:pt x="226222" y="62357"/>
                  <a:pt x="222532" y="61783"/>
                </a:cubicBezTo>
                <a:lnTo>
                  <a:pt x="157019" y="51369"/>
                </a:lnTo>
                <a:lnTo>
                  <a:pt x="126886" y="-7748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014542" y="4944436"/>
            <a:ext cx="6868568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Estimation de l'Importance des Variables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6330" y="5410892"/>
            <a:ext cx="7125119" cy="303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permet d'</a:t>
            </a:r>
            <a:r>
              <a:rPr lang="en-US" sz="1469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identifier les caractéristiques les plus influentes</a:t>
            </a:r>
            <a:r>
              <a:rPr lang="en-US" sz="146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 les prix.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6330" y="5854026"/>
            <a:ext cx="7031828" cy="1725888"/>
          </a:xfrm>
          <a:custGeom>
            <a:avLst/>
            <a:gdLst/>
            <a:ahLst/>
            <a:cxnLst/>
            <a:rect l="l" t="t" r="r" b="b"/>
            <a:pathLst>
              <a:path w="7031828" h="1725888">
                <a:moveTo>
                  <a:pt x="46651" y="0"/>
                </a:moveTo>
                <a:lnTo>
                  <a:pt x="6985177" y="0"/>
                </a:lnTo>
                <a:cubicBezTo>
                  <a:pt x="7010942" y="0"/>
                  <a:pt x="7031828" y="20886"/>
                  <a:pt x="7031828" y="46651"/>
                </a:cubicBezTo>
                <a:lnTo>
                  <a:pt x="7031828" y="1679237"/>
                </a:lnTo>
                <a:cubicBezTo>
                  <a:pt x="7031828" y="1705002"/>
                  <a:pt x="7010942" y="1725888"/>
                  <a:pt x="6985177" y="1725888"/>
                </a:cubicBezTo>
                <a:lnTo>
                  <a:pt x="46651" y="1725888"/>
                </a:lnTo>
                <a:cubicBezTo>
                  <a:pt x="20886" y="1725888"/>
                  <a:pt x="0" y="1705002"/>
                  <a:pt x="0" y="1679237"/>
                </a:cubicBezTo>
                <a:lnTo>
                  <a:pt x="0" y="46651"/>
                </a:lnTo>
                <a:cubicBezTo>
                  <a:pt x="0" y="20904"/>
                  <a:pt x="20904" y="0"/>
                  <a:pt x="46651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86267" y="5993963"/>
            <a:ext cx="6751954" cy="419811"/>
          </a:xfrm>
          <a:custGeom>
            <a:avLst/>
            <a:gdLst/>
            <a:ahLst/>
            <a:cxnLst/>
            <a:rect l="l" t="t" r="r" b="b"/>
            <a:pathLst>
              <a:path w="6751954" h="419811">
                <a:moveTo>
                  <a:pt x="46645" y="0"/>
                </a:moveTo>
                <a:lnTo>
                  <a:pt x="6705309" y="0"/>
                </a:lnTo>
                <a:cubicBezTo>
                  <a:pt x="6731070" y="0"/>
                  <a:pt x="6751954" y="20884"/>
                  <a:pt x="6751954" y="46645"/>
                </a:cubicBezTo>
                <a:lnTo>
                  <a:pt x="6751954" y="373165"/>
                </a:lnTo>
                <a:cubicBezTo>
                  <a:pt x="6751954" y="398927"/>
                  <a:pt x="6731070" y="419811"/>
                  <a:pt x="6705309" y="419811"/>
                </a:cubicBezTo>
                <a:lnTo>
                  <a:pt x="46645" y="419811"/>
                </a:lnTo>
                <a:cubicBezTo>
                  <a:pt x="20884" y="419811"/>
                  <a:pt x="0" y="398927"/>
                  <a:pt x="0" y="373165"/>
                </a:cubicBezTo>
                <a:lnTo>
                  <a:pt x="0" y="46645"/>
                </a:lnTo>
                <a:cubicBezTo>
                  <a:pt x="0" y="20884"/>
                  <a:pt x="20884" y="0"/>
                  <a:pt x="4664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79558" y="6087254"/>
            <a:ext cx="618055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Surface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50812" y="6157222"/>
            <a:ext cx="932912" cy="93291"/>
          </a:xfrm>
          <a:custGeom>
            <a:avLst/>
            <a:gdLst/>
            <a:ahLst/>
            <a:cxnLst/>
            <a:rect l="l" t="t" r="r" b="b"/>
            <a:pathLst>
              <a:path w="932912" h="93291">
                <a:moveTo>
                  <a:pt x="46646" y="0"/>
                </a:moveTo>
                <a:lnTo>
                  <a:pt x="886267" y="0"/>
                </a:lnTo>
                <a:cubicBezTo>
                  <a:pt x="912011" y="0"/>
                  <a:pt x="932912" y="20901"/>
                  <a:pt x="932912" y="46646"/>
                </a:cubicBezTo>
                <a:lnTo>
                  <a:pt x="932912" y="46646"/>
                </a:lnTo>
                <a:cubicBezTo>
                  <a:pt x="932912" y="72390"/>
                  <a:pt x="912011" y="93291"/>
                  <a:pt x="886267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050812" y="6157222"/>
            <a:ext cx="839621" cy="93291"/>
          </a:xfrm>
          <a:custGeom>
            <a:avLst/>
            <a:gdLst/>
            <a:ahLst/>
            <a:cxnLst/>
            <a:rect l="l" t="t" r="r" b="b"/>
            <a:pathLst>
              <a:path w="839621" h="93291">
                <a:moveTo>
                  <a:pt x="46646" y="0"/>
                </a:moveTo>
                <a:lnTo>
                  <a:pt x="792976" y="0"/>
                </a:lnTo>
                <a:cubicBezTo>
                  <a:pt x="818720" y="0"/>
                  <a:pt x="839621" y="20901"/>
                  <a:pt x="839621" y="46646"/>
                </a:cubicBezTo>
                <a:lnTo>
                  <a:pt x="839621" y="46646"/>
                </a:lnTo>
                <a:cubicBezTo>
                  <a:pt x="839621" y="72390"/>
                  <a:pt x="818720" y="93291"/>
                  <a:pt x="792976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077016" y="6087254"/>
            <a:ext cx="548086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6267" y="6507065"/>
            <a:ext cx="6751954" cy="419811"/>
          </a:xfrm>
          <a:custGeom>
            <a:avLst/>
            <a:gdLst/>
            <a:ahLst/>
            <a:cxnLst/>
            <a:rect l="l" t="t" r="r" b="b"/>
            <a:pathLst>
              <a:path w="6751954" h="419811">
                <a:moveTo>
                  <a:pt x="46645" y="0"/>
                </a:moveTo>
                <a:lnTo>
                  <a:pt x="6705309" y="0"/>
                </a:lnTo>
                <a:cubicBezTo>
                  <a:pt x="6731070" y="0"/>
                  <a:pt x="6751954" y="20884"/>
                  <a:pt x="6751954" y="46645"/>
                </a:cubicBezTo>
                <a:lnTo>
                  <a:pt x="6751954" y="373165"/>
                </a:lnTo>
                <a:cubicBezTo>
                  <a:pt x="6751954" y="398927"/>
                  <a:pt x="6731070" y="419811"/>
                  <a:pt x="6705309" y="419811"/>
                </a:cubicBezTo>
                <a:lnTo>
                  <a:pt x="46645" y="419811"/>
                </a:lnTo>
                <a:cubicBezTo>
                  <a:pt x="20884" y="419811"/>
                  <a:pt x="0" y="398927"/>
                  <a:pt x="0" y="373165"/>
                </a:cubicBezTo>
                <a:lnTo>
                  <a:pt x="0" y="46645"/>
                </a:lnTo>
                <a:cubicBezTo>
                  <a:pt x="0" y="20884"/>
                  <a:pt x="20884" y="0"/>
                  <a:pt x="4664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979558" y="6600356"/>
            <a:ext cx="909590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Localisation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50812" y="6670324"/>
            <a:ext cx="932912" cy="93291"/>
          </a:xfrm>
          <a:custGeom>
            <a:avLst/>
            <a:gdLst/>
            <a:ahLst/>
            <a:cxnLst/>
            <a:rect l="l" t="t" r="r" b="b"/>
            <a:pathLst>
              <a:path w="932912" h="93291">
                <a:moveTo>
                  <a:pt x="46646" y="0"/>
                </a:moveTo>
                <a:lnTo>
                  <a:pt x="886267" y="0"/>
                </a:lnTo>
                <a:cubicBezTo>
                  <a:pt x="912011" y="0"/>
                  <a:pt x="932912" y="20901"/>
                  <a:pt x="932912" y="46646"/>
                </a:cubicBezTo>
                <a:lnTo>
                  <a:pt x="932912" y="46646"/>
                </a:lnTo>
                <a:cubicBezTo>
                  <a:pt x="932912" y="72390"/>
                  <a:pt x="912011" y="93291"/>
                  <a:pt x="886267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050812" y="6670324"/>
            <a:ext cx="792976" cy="93291"/>
          </a:xfrm>
          <a:custGeom>
            <a:avLst/>
            <a:gdLst/>
            <a:ahLst/>
            <a:cxnLst/>
            <a:rect l="l" t="t" r="r" b="b"/>
            <a:pathLst>
              <a:path w="792976" h="93291">
                <a:moveTo>
                  <a:pt x="46646" y="0"/>
                </a:moveTo>
                <a:lnTo>
                  <a:pt x="746330" y="0"/>
                </a:lnTo>
                <a:cubicBezTo>
                  <a:pt x="772074" y="0"/>
                  <a:pt x="792976" y="20901"/>
                  <a:pt x="792976" y="46646"/>
                </a:cubicBezTo>
                <a:lnTo>
                  <a:pt x="792976" y="46646"/>
                </a:lnTo>
                <a:cubicBezTo>
                  <a:pt x="792976" y="72390"/>
                  <a:pt x="772074" y="93291"/>
                  <a:pt x="746330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077016" y="6600356"/>
            <a:ext cx="548086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86267" y="7020166"/>
            <a:ext cx="6751954" cy="419811"/>
          </a:xfrm>
          <a:custGeom>
            <a:avLst/>
            <a:gdLst/>
            <a:ahLst/>
            <a:cxnLst/>
            <a:rect l="l" t="t" r="r" b="b"/>
            <a:pathLst>
              <a:path w="6751954" h="419811">
                <a:moveTo>
                  <a:pt x="46645" y="0"/>
                </a:moveTo>
                <a:lnTo>
                  <a:pt x="6705309" y="0"/>
                </a:lnTo>
                <a:cubicBezTo>
                  <a:pt x="6731070" y="0"/>
                  <a:pt x="6751954" y="20884"/>
                  <a:pt x="6751954" y="46645"/>
                </a:cubicBezTo>
                <a:lnTo>
                  <a:pt x="6751954" y="373165"/>
                </a:lnTo>
                <a:cubicBezTo>
                  <a:pt x="6751954" y="398927"/>
                  <a:pt x="6731070" y="419811"/>
                  <a:pt x="6705309" y="419811"/>
                </a:cubicBezTo>
                <a:lnTo>
                  <a:pt x="46645" y="419811"/>
                </a:lnTo>
                <a:cubicBezTo>
                  <a:pt x="20884" y="419811"/>
                  <a:pt x="0" y="398927"/>
                  <a:pt x="0" y="373165"/>
                </a:cubicBezTo>
                <a:lnTo>
                  <a:pt x="0" y="46645"/>
                </a:lnTo>
                <a:cubicBezTo>
                  <a:pt x="0" y="20884"/>
                  <a:pt x="20884" y="0"/>
                  <a:pt x="4664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979558" y="7113458"/>
            <a:ext cx="1376046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Nombre de pièces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50812" y="7183426"/>
            <a:ext cx="932912" cy="93291"/>
          </a:xfrm>
          <a:custGeom>
            <a:avLst/>
            <a:gdLst/>
            <a:ahLst/>
            <a:cxnLst/>
            <a:rect l="l" t="t" r="r" b="b"/>
            <a:pathLst>
              <a:path w="932912" h="93291">
                <a:moveTo>
                  <a:pt x="46646" y="0"/>
                </a:moveTo>
                <a:lnTo>
                  <a:pt x="886267" y="0"/>
                </a:lnTo>
                <a:cubicBezTo>
                  <a:pt x="912011" y="0"/>
                  <a:pt x="932912" y="20901"/>
                  <a:pt x="932912" y="46646"/>
                </a:cubicBezTo>
                <a:lnTo>
                  <a:pt x="932912" y="46646"/>
                </a:lnTo>
                <a:cubicBezTo>
                  <a:pt x="932912" y="72390"/>
                  <a:pt x="912011" y="93291"/>
                  <a:pt x="886267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050812" y="7183426"/>
            <a:ext cx="559747" cy="93291"/>
          </a:xfrm>
          <a:custGeom>
            <a:avLst/>
            <a:gdLst/>
            <a:ahLst/>
            <a:cxnLst/>
            <a:rect l="l" t="t" r="r" b="b"/>
            <a:pathLst>
              <a:path w="559747" h="93291">
                <a:moveTo>
                  <a:pt x="46646" y="0"/>
                </a:moveTo>
                <a:lnTo>
                  <a:pt x="513102" y="0"/>
                </a:lnTo>
                <a:cubicBezTo>
                  <a:pt x="538846" y="0"/>
                  <a:pt x="559747" y="20901"/>
                  <a:pt x="559747" y="46646"/>
                </a:cubicBezTo>
                <a:lnTo>
                  <a:pt x="559747" y="46646"/>
                </a:lnTo>
                <a:cubicBezTo>
                  <a:pt x="559747" y="72390"/>
                  <a:pt x="538846" y="93291"/>
                  <a:pt x="513102" y="93291"/>
                </a:cubicBezTo>
                <a:lnTo>
                  <a:pt x="46646" y="93291"/>
                </a:lnTo>
                <a:cubicBezTo>
                  <a:pt x="20884" y="93291"/>
                  <a:pt x="0" y="72407"/>
                  <a:pt x="0" y="4664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077016" y="7113458"/>
            <a:ext cx="548086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43156" y="1725888"/>
            <a:ext cx="7544930" cy="2518864"/>
          </a:xfrm>
          <a:custGeom>
            <a:avLst/>
            <a:gdLst/>
            <a:ahLst/>
            <a:cxnLst/>
            <a:rect l="l" t="t" r="r" b="b"/>
            <a:pathLst>
              <a:path w="7544930" h="2518864">
                <a:moveTo>
                  <a:pt x="93299" y="0"/>
                </a:moveTo>
                <a:lnTo>
                  <a:pt x="7451631" y="0"/>
                </a:lnTo>
                <a:cubicBezTo>
                  <a:pt x="7503158" y="0"/>
                  <a:pt x="7544930" y="41771"/>
                  <a:pt x="7544930" y="93299"/>
                </a:cubicBezTo>
                <a:lnTo>
                  <a:pt x="7544930" y="2425565"/>
                </a:lnTo>
                <a:cubicBezTo>
                  <a:pt x="7544930" y="2477092"/>
                  <a:pt x="7503158" y="2518864"/>
                  <a:pt x="7451631" y="2518864"/>
                </a:cubicBezTo>
                <a:lnTo>
                  <a:pt x="93299" y="2518864"/>
                </a:lnTo>
                <a:cubicBezTo>
                  <a:pt x="41771" y="2518864"/>
                  <a:pt x="0" y="2477092"/>
                  <a:pt x="0" y="2425565"/>
                </a:cubicBezTo>
                <a:lnTo>
                  <a:pt x="0" y="93299"/>
                </a:lnTo>
                <a:cubicBezTo>
                  <a:pt x="0" y="41806"/>
                  <a:pt x="41806" y="0"/>
                  <a:pt x="93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495E"/>
              </a:gs>
            </a:gsLst>
            <a:lin ang="2700000" scaled="1"/>
          </a:gradFill>
          <a:ln/>
          <a:effectLst>
            <a:outerShdw blurRad="174921" dist="11661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8505538" y="2005762"/>
            <a:ext cx="233228" cy="233228"/>
          </a:xfrm>
          <a:custGeom>
            <a:avLst/>
            <a:gdLst/>
            <a:ahLst/>
            <a:cxnLst/>
            <a:rect l="l" t="t" r="r" b="b"/>
            <a:pathLst>
              <a:path w="233228" h="233228">
                <a:moveTo>
                  <a:pt x="0" y="116614"/>
                </a:moveTo>
                <a:cubicBezTo>
                  <a:pt x="0" y="52253"/>
                  <a:pt x="52253" y="0"/>
                  <a:pt x="116614" y="0"/>
                </a:cubicBezTo>
                <a:cubicBezTo>
                  <a:pt x="180975" y="0"/>
                  <a:pt x="233228" y="52253"/>
                  <a:pt x="233228" y="116614"/>
                </a:cubicBezTo>
                <a:cubicBezTo>
                  <a:pt x="233228" y="180975"/>
                  <a:pt x="180975" y="233228"/>
                  <a:pt x="116614" y="233228"/>
                </a:cubicBezTo>
                <a:cubicBezTo>
                  <a:pt x="52253" y="233228"/>
                  <a:pt x="0" y="180975"/>
                  <a:pt x="0" y="116614"/>
                </a:cubicBezTo>
                <a:close/>
                <a:moveTo>
                  <a:pt x="131191" y="43730"/>
                </a:moveTo>
                <a:cubicBezTo>
                  <a:pt x="131191" y="35685"/>
                  <a:pt x="124659" y="29154"/>
                  <a:pt x="116614" y="29154"/>
                </a:cubicBezTo>
                <a:cubicBezTo>
                  <a:pt x="108569" y="29154"/>
                  <a:pt x="102037" y="35685"/>
                  <a:pt x="102037" y="43730"/>
                </a:cubicBezTo>
                <a:cubicBezTo>
                  <a:pt x="102037" y="51775"/>
                  <a:pt x="108569" y="58307"/>
                  <a:pt x="116614" y="58307"/>
                </a:cubicBezTo>
                <a:cubicBezTo>
                  <a:pt x="124659" y="58307"/>
                  <a:pt x="131191" y="51775"/>
                  <a:pt x="131191" y="43730"/>
                </a:cubicBezTo>
                <a:close/>
                <a:moveTo>
                  <a:pt x="116614" y="189498"/>
                </a:moveTo>
                <a:cubicBezTo>
                  <a:pt x="132694" y="189498"/>
                  <a:pt x="145768" y="176424"/>
                  <a:pt x="145768" y="160344"/>
                </a:cubicBezTo>
                <a:cubicBezTo>
                  <a:pt x="145768" y="152965"/>
                  <a:pt x="143034" y="146178"/>
                  <a:pt x="138479" y="141076"/>
                </a:cubicBezTo>
                <a:lnTo>
                  <a:pt x="170138" y="77803"/>
                </a:lnTo>
                <a:cubicBezTo>
                  <a:pt x="172826" y="72383"/>
                  <a:pt x="170639" y="65823"/>
                  <a:pt x="165264" y="63136"/>
                </a:cubicBezTo>
                <a:cubicBezTo>
                  <a:pt x="159889" y="60448"/>
                  <a:pt x="153284" y="62635"/>
                  <a:pt x="150596" y="68010"/>
                </a:cubicBezTo>
                <a:lnTo>
                  <a:pt x="118937" y="131282"/>
                </a:lnTo>
                <a:cubicBezTo>
                  <a:pt x="118163" y="131236"/>
                  <a:pt x="117388" y="131191"/>
                  <a:pt x="116614" y="131191"/>
                </a:cubicBezTo>
                <a:cubicBezTo>
                  <a:pt x="100534" y="131191"/>
                  <a:pt x="87461" y="144264"/>
                  <a:pt x="87461" y="160344"/>
                </a:cubicBezTo>
                <a:cubicBezTo>
                  <a:pt x="87461" y="176424"/>
                  <a:pt x="100534" y="189498"/>
                  <a:pt x="116614" y="189498"/>
                </a:cubicBezTo>
                <a:close/>
                <a:moveTo>
                  <a:pt x="80172" y="65595"/>
                </a:moveTo>
                <a:cubicBezTo>
                  <a:pt x="80172" y="57550"/>
                  <a:pt x="73641" y="51019"/>
                  <a:pt x="65595" y="51019"/>
                </a:cubicBezTo>
                <a:cubicBezTo>
                  <a:pt x="57550" y="51019"/>
                  <a:pt x="51019" y="57550"/>
                  <a:pt x="51019" y="65595"/>
                </a:cubicBezTo>
                <a:cubicBezTo>
                  <a:pt x="51019" y="73641"/>
                  <a:pt x="57550" y="80172"/>
                  <a:pt x="65595" y="80172"/>
                </a:cubicBezTo>
                <a:cubicBezTo>
                  <a:pt x="73641" y="80172"/>
                  <a:pt x="80172" y="73641"/>
                  <a:pt x="80172" y="65595"/>
                </a:cubicBezTo>
                <a:close/>
                <a:moveTo>
                  <a:pt x="43730" y="131191"/>
                </a:moveTo>
                <a:cubicBezTo>
                  <a:pt x="51775" y="131191"/>
                  <a:pt x="58307" y="124659"/>
                  <a:pt x="58307" y="116614"/>
                </a:cubicBezTo>
                <a:cubicBezTo>
                  <a:pt x="58307" y="108569"/>
                  <a:pt x="51775" y="102037"/>
                  <a:pt x="43730" y="102037"/>
                </a:cubicBezTo>
                <a:cubicBezTo>
                  <a:pt x="35685" y="102037"/>
                  <a:pt x="29154" y="108569"/>
                  <a:pt x="29154" y="116614"/>
                </a:cubicBezTo>
                <a:cubicBezTo>
                  <a:pt x="29154" y="124659"/>
                  <a:pt x="35685" y="131191"/>
                  <a:pt x="43730" y="131191"/>
                </a:cubicBezTo>
                <a:close/>
                <a:moveTo>
                  <a:pt x="204075" y="116614"/>
                </a:moveTo>
                <a:cubicBezTo>
                  <a:pt x="204075" y="108569"/>
                  <a:pt x="197543" y="102037"/>
                  <a:pt x="189498" y="102037"/>
                </a:cubicBezTo>
                <a:cubicBezTo>
                  <a:pt x="181453" y="102037"/>
                  <a:pt x="174921" y="108569"/>
                  <a:pt x="174921" y="116614"/>
                </a:cubicBezTo>
                <a:cubicBezTo>
                  <a:pt x="174921" y="124659"/>
                  <a:pt x="181453" y="131191"/>
                  <a:pt x="189498" y="131191"/>
                </a:cubicBezTo>
                <a:cubicBezTo>
                  <a:pt x="197543" y="131191"/>
                  <a:pt x="204075" y="124659"/>
                  <a:pt x="204075" y="116614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8767920" y="1959116"/>
            <a:ext cx="6903552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Intermédiaire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76385" y="2472218"/>
            <a:ext cx="2262313" cy="839621"/>
          </a:xfrm>
          <a:custGeom>
            <a:avLst/>
            <a:gdLst/>
            <a:ahLst/>
            <a:cxnLst/>
            <a:rect l="l" t="t" r="r" b="b"/>
            <a:pathLst>
              <a:path w="2262313" h="839621">
                <a:moveTo>
                  <a:pt x="93290" y="0"/>
                </a:moveTo>
                <a:lnTo>
                  <a:pt x="2169022" y="0"/>
                </a:lnTo>
                <a:cubicBezTo>
                  <a:pt x="2220545" y="0"/>
                  <a:pt x="2262313" y="41767"/>
                  <a:pt x="2262313" y="93290"/>
                </a:cubicBezTo>
                <a:lnTo>
                  <a:pt x="2262313" y="746331"/>
                </a:lnTo>
                <a:cubicBezTo>
                  <a:pt x="2262313" y="797854"/>
                  <a:pt x="2220545" y="839621"/>
                  <a:pt x="2169022" y="839621"/>
                </a:cubicBezTo>
                <a:lnTo>
                  <a:pt x="93290" y="839621"/>
                </a:lnTo>
                <a:cubicBezTo>
                  <a:pt x="41767" y="839621"/>
                  <a:pt x="0" y="797854"/>
                  <a:pt x="0" y="746331"/>
                </a:cubicBezTo>
                <a:lnTo>
                  <a:pt x="0" y="93290"/>
                </a:lnTo>
                <a:cubicBezTo>
                  <a:pt x="0" y="41767"/>
                  <a:pt x="41767" y="0"/>
                  <a:pt x="932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8546353" y="2612155"/>
            <a:ext cx="2122376" cy="3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04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~0,82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81337" y="2985320"/>
            <a:ext cx="2052407" cy="18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0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Random Forest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882096" y="2472218"/>
            <a:ext cx="2262313" cy="839621"/>
          </a:xfrm>
          <a:custGeom>
            <a:avLst/>
            <a:gdLst/>
            <a:ahLst/>
            <a:cxnLst/>
            <a:rect l="l" t="t" r="r" b="b"/>
            <a:pathLst>
              <a:path w="2262313" h="839621">
                <a:moveTo>
                  <a:pt x="93290" y="0"/>
                </a:moveTo>
                <a:lnTo>
                  <a:pt x="2169022" y="0"/>
                </a:lnTo>
                <a:cubicBezTo>
                  <a:pt x="2220545" y="0"/>
                  <a:pt x="2262313" y="41767"/>
                  <a:pt x="2262313" y="93290"/>
                </a:cubicBezTo>
                <a:lnTo>
                  <a:pt x="2262313" y="746331"/>
                </a:lnTo>
                <a:cubicBezTo>
                  <a:pt x="2262313" y="797854"/>
                  <a:pt x="2220545" y="839621"/>
                  <a:pt x="2169022" y="839621"/>
                </a:cubicBezTo>
                <a:lnTo>
                  <a:pt x="93290" y="839621"/>
                </a:lnTo>
                <a:cubicBezTo>
                  <a:pt x="41767" y="839621"/>
                  <a:pt x="0" y="797854"/>
                  <a:pt x="0" y="746331"/>
                </a:cubicBezTo>
                <a:lnTo>
                  <a:pt x="0" y="93290"/>
                </a:lnTo>
                <a:cubicBezTo>
                  <a:pt x="0" y="41767"/>
                  <a:pt x="41767" y="0"/>
                  <a:pt x="932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10952065" y="2612155"/>
            <a:ext cx="2122376" cy="3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04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~0,72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987049" y="2985320"/>
            <a:ext cx="2052407" cy="18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0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Linéaire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3287808" y="2472218"/>
            <a:ext cx="2262313" cy="839621"/>
          </a:xfrm>
          <a:custGeom>
            <a:avLst/>
            <a:gdLst/>
            <a:ahLst/>
            <a:cxnLst/>
            <a:rect l="l" t="t" r="r" b="b"/>
            <a:pathLst>
              <a:path w="2262313" h="839621">
                <a:moveTo>
                  <a:pt x="93290" y="0"/>
                </a:moveTo>
                <a:lnTo>
                  <a:pt x="2169022" y="0"/>
                </a:lnTo>
                <a:cubicBezTo>
                  <a:pt x="2220545" y="0"/>
                  <a:pt x="2262313" y="41767"/>
                  <a:pt x="2262313" y="93290"/>
                </a:cubicBezTo>
                <a:lnTo>
                  <a:pt x="2262313" y="746331"/>
                </a:lnTo>
                <a:cubicBezTo>
                  <a:pt x="2262313" y="797854"/>
                  <a:pt x="2220545" y="839621"/>
                  <a:pt x="2169022" y="839621"/>
                </a:cubicBezTo>
                <a:lnTo>
                  <a:pt x="93290" y="839621"/>
                </a:lnTo>
                <a:cubicBezTo>
                  <a:pt x="41767" y="839621"/>
                  <a:pt x="0" y="797854"/>
                  <a:pt x="0" y="746331"/>
                </a:cubicBezTo>
                <a:lnTo>
                  <a:pt x="0" y="93290"/>
                </a:lnTo>
                <a:cubicBezTo>
                  <a:pt x="0" y="41767"/>
                  <a:pt x="41767" y="0"/>
                  <a:pt x="932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3357776" y="2612155"/>
            <a:ext cx="2122376" cy="3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04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~0,86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3392760" y="2985320"/>
            <a:ext cx="2052407" cy="18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0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XGBoost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76385" y="3498422"/>
            <a:ext cx="7078473" cy="513102"/>
          </a:xfrm>
          <a:custGeom>
            <a:avLst/>
            <a:gdLst/>
            <a:ahLst/>
            <a:cxnLst/>
            <a:rect l="l" t="t" r="r" b="b"/>
            <a:pathLst>
              <a:path w="7078473" h="513102">
                <a:moveTo>
                  <a:pt x="93292" y="0"/>
                </a:moveTo>
                <a:lnTo>
                  <a:pt x="6985181" y="0"/>
                </a:lnTo>
                <a:cubicBezTo>
                  <a:pt x="7036705" y="0"/>
                  <a:pt x="7078473" y="41768"/>
                  <a:pt x="7078473" y="93292"/>
                </a:cubicBezTo>
                <a:lnTo>
                  <a:pt x="7078473" y="419810"/>
                </a:lnTo>
                <a:cubicBezTo>
                  <a:pt x="7078473" y="471334"/>
                  <a:pt x="7036705" y="513102"/>
                  <a:pt x="6985181" y="513102"/>
                </a:cubicBezTo>
                <a:lnTo>
                  <a:pt x="93292" y="513102"/>
                </a:lnTo>
                <a:cubicBezTo>
                  <a:pt x="41803" y="513102"/>
                  <a:pt x="0" y="471299"/>
                  <a:pt x="0" y="419810"/>
                </a:cubicBezTo>
                <a:lnTo>
                  <a:pt x="0" y="93292"/>
                </a:lnTo>
                <a:cubicBezTo>
                  <a:pt x="0" y="41803"/>
                  <a:pt x="41803" y="0"/>
                  <a:pt x="9329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8660052" y="3673343"/>
            <a:ext cx="122445" cy="163260"/>
          </a:xfrm>
          <a:custGeom>
            <a:avLst/>
            <a:gdLst/>
            <a:ahLst/>
            <a:cxnLst/>
            <a:rect l="l" t="t" r="r" b="b"/>
            <a:pathLst>
              <a:path w="122445" h="163260">
                <a:moveTo>
                  <a:pt x="68429" y="5548"/>
                </a:moveTo>
                <a:cubicBezTo>
                  <a:pt x="64443" y="1562"/>
                  <a:pt x="57970" y="1562"/>
                  <a:pt x="53984" y="5548"/>
                </a:cubicBezTo>
                <a:lnTo>
                  <a:pt x="2965" y="56567"/>
                </a:lnTo>
                <a:cubicBezTo>
                  <a:pt x="-1020" y="60553"/>
                  <a:pt x="-1020" y="67026"/>
                  <a:pt x="2965" y="71012"/>
                </a:cubicBezTo>
                <a:cubicBezTo>
                  <a:pt x="6951" y="74997"/>
                  <a:pt x="13424" y="74997"/>
                  <a:pt x="17410" y="71012"/>
                </a:cubicBezTo>
                <a:lnTo>
                  <a:pt x="51019" y="37403"/>
                </a:lnTo>
                <a:lnTo>
                  <a:pt x="51019" y="155607"/>
                </a:lnTo>
                <a:cubicBezTo>
                  <a:pt x="51019" y="161251"/>
                  <a:pt x="55578" y="165811"/>
                  <a:pt x="61222" y="165811"/>
                </a:cubicBezTo>
                <a:cubicBezTo>
                  <a:pt x="66866" y="165811"/>
                  <a:pt x="71426" y="161251"/>
                  <a:pt x="71426" y="155607"/>
                </a:cubicBezTo>
                <a:lnTo>
                  <a:pt x="71426" y="37403"/>
                </a:lnTo>
                <a:lnTo>
                  <a:pt x="105035" y="71012"/>
                </a:lnTo>
                <a:cubicBezTo>
                  <a:pt x="109020" y="74997"/>
                  <a:pt x="115493" y="74997"/>
                  <a:pt x="119479" y="71012"/>
                </a:cubicBezTo>
                <a:cubicBezTo>
                  <a:pt x="123465" y="67026"/>
                  <a:pt x="123465" y="60553"/>
                  <a:pt x="119479" y="56567"/>
                </a:cubicBezTo>
                <a:lnTo>
                  <a:pt x="68461" y="5548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8911889" y="3638359"/>
            <a:ext cx="6584662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Amélioration de </a:t>
            </a:r>
            <a:r>
              <a:rPr lang="en-US" sz="128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points</a:t>
            </a:r>
            <a:r>
              <a:rPr lang="en-US" sz="128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 rapport à la régression linéaire.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66479" y="4431334"/>
            <a:ext cx="7521607" cy="3078611"/>
          </a:xfrm>
          <a:custGeom>
            <a:avLst/>
            <a:gdLst/>
            <a:ahLst/>
            <a:cxnLst/>
            <a:rect l="l" t="t" r="r" b="b"/>
            <a:pathLst>
              <a:path w="7521607" h="3078611">
                <a:moveTo>
                  <a:pt x="46646" y="0"/>
                </a:moveTo>
                <a:lnTo>
                  <a:pt x="7428325" y="0"/>
                </a:lnTo>
                <a:cubicBezTo>
                  <a:pt x="7479843" y="0"/>
                  <a:pt x="7521607" y="41764"/>
                  <a:pt x="7521607" y="93282"/>
                </a:cubicBezTo>
                <a:lnTo>
                  <a:pt x="7521607" y="2985329"/>
                </a:lnTo>
                <a:cubicBezTo>
                  <a:pt x="7521607" y="3036847"/>
                  <a:pt x="7479843" y="3078611"/>
                  <a:pt x="7428325" y="3078611"/>
                </a:cubicBezTo>
                <a:lnTo>
                  <a:pt x="46646" y="3078611"/>
                </a:lnTo>
                <a:cubicBezTo>
                  <a:pt x="20884" y="3078611"/>
                  <a:pt x="0" y="3057727"/>
                  <a:pt x="0" y="303196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4984" dist="116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8266479" y="4431334"/>
            <a:ext cx="46646" cy="3078611"/>
          </a:xfrm>
          <a:custGeom>
            <a:avLst/>
            <a:gdLst/>
            <a:ahLst/>
            <a:cxnLst/>
            <a:rect l="l" t="t" r="r" b="b"/>
            <a:pathLst>
              <a:path w="46646" h="3078611">
                <a:moveTo>
                  <a:pt x="46646" y="0"/>
                </a:moveTo>
                <a:lnTo>
                  <a:pt x="46646" y="0"/>
                </a:lnTo>
                <a:lnTo>
                  <a:pt x="46646" y="3078611"/>
                </a:lnTo>
                <a:lnTo>
                  <a:pt x="46646" y="3078611"/>
                </a:lnTo>
                <a:cubicBezTo>
                  <a:pt x="20884" y="3078611"/>
                  <a:pt x="0" y="3057727"/>
                  <a:pt x="0" y="3031966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8552184" y="4722869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3119" y="26238"/>
                </a:moveTo>
                <a:cubicBezTo>
                  <a:pt x="5863" y="26238"/>
                  <a:pt x="0" y="32101"/>
                  <a:pt x="0" y="39357"/>
                </a:cubicBezTo>
                <a:cubicBezTo>
                  <a:pt x="0" y="46614"/>
                  <a:pt x="5863" y="52476"/>
                  <a:pt x="13119" y="52476"/>
                </a:cubicBezTo>
                <a:lnTo>
                  <a:pt x="48664" y="52476"/>
                </a:lnTo>
                <a:cubicBezTo>
                  <a:pt x="53706" y="64079"/>
                  <a:pt x="65267" y="72155"/>
                  <a:pt x="78714" y="72155"/>
                </a:cubicBezTo>
                <a:cubicBezTo>
                  <a:pt x="92162" y="72155"/>
                  <a:pt x="103723" y="64079"/>
                  <a:pt x="108765" y="52476"/>
                </a:cubicBezTo>
                <a:lnTo>
                  <a:pt x="196786" y="52476"/>
                </a:lnTo>
                <a:cubicBezTo>
                  <a:pt x="204043" y="52476"/>
                  <a:pt x="209905" y="46614"/>
                  <a:pt x="209905" y="39357"/>
                </a:cubicBezTo>
                <a:cubicBezTo>
                  <a:pt x="209905" y="32101"/>
                  <a:pt x="204043" y="26238"/>
                  <a:pt x="196786" y="26238"/>
                </a:cubicBezTo>
                <a:lnTo>
                  <a:pt x="108765" y="26238"/>
                </a:lnTo>
                <a:cubicBezTo>
                  <a:pt x="103723" y="14636"/>
                  <a:pt x="92162" y="6560"/>
                  <a:pt x="78714" y="6560"/>
                </a:cubicBezTo>
                <a:cubicBezTo>
                  <a:pt x="65267" y="6560"/>
                  <a:pt x="53706" y="14636"/>
                  <a:pt x="48664" y="26238"/>
                </a:cubicBezTo>
                <a:lnTo>
                  <a:pt x="13119" y="26238"/>
                </a:lnTo>
                <a:close/>
                <a:moveTo>
                  <a:pt x="13119" y="91834"/>
                </a:moveTo>
                <a:cubicBezTo>
                  <a:pt x="5863" y="91834"/>
                  <a:pt x="0" y="97696"/>
                  <a:pt x="0" y="104953"/>
                </a:cubicBezTo>
                <a:cubicBezTo>
                  <a:pt x="0" y="112209"/>
                  <a:pt x="5863" y="118072"/>
                  <a:pt x="13119" y="118072"/>
                </a:cubicBezTo>
                <a:lnTo>
                  <a:pt x="114259" y="118072"/>
                </a:lnTo>
                <a:cubicBezTo>
                  <a:pt x="119302" y="129674"/>
                  <a:pt x="130863" y="137750"/>
                  <a:pt x="144310" y="137750"/>
                </a:cubicBezTo>
                <a:cubicBezTo>
                  <a:pt x="157757" y="137750"/>
                  <a:pt x="169318" y="129674"/>
                  <a:pt x="174361" y="118072"/>
                </a:cubicBezTo>
                <a:lnTo>
                  <a:pt x="196786" y="118072"/>
                </a:lnTo>
                <a:cubicBezTo>
                  <a:pt x="204043" y="118072"/>
                  <a:pt x="209905" y="112209"/>
                  <a:pt x="209905" y="104953"/>
                </a:cubicBezTo>
                <a:cubicBezTo>
                  <a:pt x="209905" y="97696"/>
                  <a:pt x="204043" y="91834"/>
                  <a:pt x="196786" y="91834"/>
                </a:cubicBezTo>
                <a:lnTo>
                  <a:pt x="174361" y="91834"/>
                </a:lnTo>
                <a:cubicBezTo>
                  <a:pt x="169318" y="80231"/>
                  <a:pt x="157757" y="72155"/>
                  <a:pt x="144310" y="72155"/>
                </a:cubicBezTo>
                <a:cubicBezTo>
                  <a:pt x="130863" y="72155"/>
                  <a:pt x="119302" y="80231"/>
                  <a:pt x="114259" y="91834"/>
                </a:cubicBezTo>
                <a:lnTo>
                  <a:pt x="13119" y="91834"/>
                </a:lnTo>
                <a:close/>
                <a:moveTo>
                  <a:pt x="13119" y="157429"/>
                </a:moveTo>
                <a:cubicBezTo>
                  <a:pt x="5863" y="157429"/>
                  <a:pt x="0" y="163292"/>
                  <a:pt x="0" y="170548"/>
                </a:cubicBezTo>
                <a:cubicBezTo>
                  <a:pt x="0" y="177805"/>
                  <a:pt x="5863" y="183667"/>
                  <a:pt x="13119" y="183667"/>
                </a:cubicBezTo>
                <a:lnTo>
                  <a:pt x="35545" y="183667"/>
                </a:lnTo>
                <a:cubicBezTo>
                  <a:pt x="40587" y="195269"/>
                  <a:pt x="52148" y="203346"/>
                  <a:pt x="65595" y="203346"/>
                </a:cubicBezTo>
                <a:cubicBezTo>
                  <a:pt x="79042" y="203346"/>
                  <a:pt x="90604" y="195269"/>
                  <a:pt x="95646" y="183667"/>
                </a:cubicBezTo>
                <a:lnTo>
                  <a:pt x="196786" y="183667"/>
                </a:lnTo>
                <a:cubicBezTo>
                  <a:pt x="204043" y="183667"/>
                  <a:pt x="209905" y="177805"/>
                  <a:pt x="209905" y="170548"/>
                </a:cubicBezTo>
                <a:cubicBezTo>
                  <a:pt x="209905" y="163292"/>
                  <a:pt x="204043" y="157429"/>
                  <a:pt x="196786" y="157429"/>
                </a:cubicBezTo>
                <a:lnTo>
                  <a:pt x="95646" y="157429"/>
                </a:lnTo>
                <a:cubicBezTo>
                  <a:pt x="90604" y="145827"/>
                  <a:pt x="79042" y="137750"/>
                  <a:pt x="65595" y="137750"/>
                </a:cubicBezTo>
                <a:cubicBezTo>
                  <a:pt x="52148" y="137750"/>
                  <a:pt x="40587" y="145827"/>
                  <a:pt x="35545" y="157429"/>
                </a:cubicBezTo>
                <a:lnTo>
                  <a:pt x="13119" y="157429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8791242" y="4664562"/>
            <a:ext cx="6868568" cy="32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Facilité de Réglage des Hyperparamètres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23030" y="5131019"/>
            <a:ext cx="7125119" cy="606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Moins sensible au réglage que XGBoost, Random Forest permet un </a:t>
            </a:r>
            <a:r>
              <a:rPr lang="en-US" sz="1469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ajustement plus simple</a:t>
            </a:r>
            <a:r>
              <a:rPr lang="en-US" sz="146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23030" y="5877349"/>
            <a:ext cx="7031828" cy="1399369"/>
          </a:xfrm>
          <a:custGeom>
            <a:avLst/>
            <a:gdLst/>
            <a:ahLst/>
            <a:cxnLst/>
            <a:rect l="l" t="t" r="r" b="b"/>
            <a:pathLst>
              <a:path w="7031828" h="1399369">
                <a:moveTo>
                  <a:pt x="46641" y="0"/>
                </a:moveTo>
                <a:lnTo>
                  <a:pt x="6985187" y="0"/>
                </a:lnTo>
                <a:cubicBezTo>
                  <a:pt x="7010946" y="0"/>
                  <a:pt x="7031828" y="20882"/>
                  <a:pt x="7031828" y="46641"/>
                </a:cubicBezTo>
                <a:lnTo>
                  <a:pt x="7031828" y="1352728"/>
                </a:lnTo>
                <a:cubicBezTo>
                  <a:pt x="7031828" y="1378487"/>
                  <a:pt x="7010946" y="1399369"/>
                  <a:pt x="6985187" y="1399369"/>
                </a:cubicBezTo>
                <a:lnTo>
                  <a:pt x="46641" y="1399369"/>
                </a:lnTo>
                <a:cubicBezTo>
                  <a:pt x="20882" y="1399369"/>
                  <a:pt x="0" y="1378487"/>
                  <a:pt x="0" y="1352728"/>
                </a:cubicBezTo>
                <a:lnTo>
                  <a:pt x="0" y="46641"/>
                </a:lnTo>
                <a:cubicBezTo>
                  <a:pt x="0" y="20899"/>
                  <a:pt x="20899" y="0"/>
                  <a:pt x="46641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8662967" y="6017286"/>
            <a:ext cx="6833584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Paramètres Clés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62967" y="6343805"/>
            <a:ext cx="6833584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n_estimators:</a:t>
            </a:r>
            <a:r>
              <a:rPr lang="en-US" sz="128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Nombre d'arbres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62967" y="6623679"/>
            <a:ext cx="6833584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max_depth:</a:t>
            </a:r>
            <a:r>
              <a:rPr lang="en-US" sz="128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Profondeur maximale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62967" y="6903552"/>
            <a:ext cx="6833584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min_samples_split:</a:t>
            </a:r>
            <a:r>
              <a:rPr lang="en-US" sz="1286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Échantillons min pour splitter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66479" y="7696528"/>
            <a:ext cx="7521607" cy="979558"/>
          </a:xfrm>
          <a:custGeom>
            <a:avLst/>
            <a:gdLst/>
            <a:ahLst/>
            <a:cxnLst/>
            <a:rect l="l" t="t" r="r" b="b"/>
            <a:pathLst>
              <a:path w="7521607" h="979558">
                <a:moveTo>
                  <a:pt x="46646" y="0"/>
                </a:moveTo>
                <a:lnTo>
                  <a:pt x="7428314" y="0"/>
                </a:lnTo>
                <a:cubicBezTo>
                  <a:pt x="7479804" y="0"/>
                  <a:pt x="7521607" y="41803"/>
                  <a:pt x="7521607" y="93293"/>
                </a:cubicBezTo>
                <a:lnTo>
                  <a:pt x="7521607" y="886265"/>
                </a:lnTo>
                <a:cubicBezTo>
                  <a:pt x="7521607" y="937755"/>
                  <a:pt x="7479804" y="979558"/>
                  <a:pt x="7428314" y="979558"/>
                </a:cubicBezTo>
                <a:lnTo>
                  <a:pt x="46646" y="979558"/>
                </a:lnTo>
                <a:cubicBezTo>
                  <a:pt x="20901" y="979558"/>
                  <a:pt x="0" y="958657"/>
                  <a:pt x="0" y="932912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4984" dist="116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8266479" y="7696528"/>
            <a:ext cx="46646" cy="979558"/>
          </a:xfrm>
          <a:custGeom>
            <a:avLst/>
            <a:gdLst/>
            <a:ahLst/>
            <a:cxnLst/>
            <a:rect l="l" t="t" r="r" b="b"/>
            <a:pathLst>
              <a:path w="46646" h="979558">
                <a:moveTo>
                  <a:pt x="46646" y="0"/>
                </a:moveTo>
                <a:lnTo>
                  <a:pt x="46646" y="0"/>
                </a:lnTo>
                <a:lnTo>
                  <a:pt x="46646" y="979558"/>
                </a:lnTo>
                <a:lnTo>
                  <a:pt x="46646" y="979558"/>
                </a:lnTo>
                <a:cubicBezTo>
                  <a:pt x="20901" y="979558"/>
                  <a:pt x="0" y="958657"/>
                  <a:pt x="0" y="932912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8499707" y="7929756"/>
            <a:ext cx="186582" cy="186582"/>
          </a:xfrm>
          <a:custGeom>
            <a:avLst/>
            <a:gdLst/>
            <a:ahLst/>
            <a:cxnLst/>
            <a:rect l="l" t="t" r="r" b="b"/>
            <a:pathLst>
              <a:path w="186582" h="186582">
                <a:moveTo>
                  <a:pt x="93291" y="186582"/>
                </a:moveTo>
                <a:cubicBezTo>
                  <a:pt x="144780" y="186582"/>
                  <a:pt x="186582" y="144780"/>
                  <a:pt x="186582" y="93291"/>
                </a:cubicBezTo>
                <a:cubicBezTo>
                  <a:pt x="186582" y="41802"/>
                  <a:pt x="144780" y="0"/>
                  <a:pt x="93291" y="0"/>
                </a:cubicBezTo>
                <a:cubicBezTo>
                  <a:pt x="41802" y="0"/>
                  <a:pt x="0" y="41802"/>
                  <a:pt x="0" y="93291"/>
                </a:cubicBezTo>
                <a:cubicBezTo>
                  <a:pt x="0" y="144780"/>
                  <a:pt x="41802" y="186582"/>
                  <a:pt x="93291" y="186582"/>
                </a:cubicBezTo>
                <a:close/>
                <a:moveTo>
                  <a:pt x="124048" y="77512"/>
                </a:moveTo>
                <a:lnTo>
                  <a:pt x="94895" y="124158"/>
                </a:lnTo>
                <a:cubicBezTo>
                  <a:pt x="93364" y="126599"/>
                  <a:pt x="90740" y="128130"/>
                  <a:pt x="87861" y="128275"/>
                </a:cubicBezTo>
                <a:cubicBezTo>
                  <a:pt x="84982" y="128421"/>
                  <a:pt x="82213" y="127109"/>
                  <a:pt x="80500" y="124777"/>
                </a:cubicBezTo>
                <a:lnTo>
                  <a:pt x="63008" y="101454"/>
                </a:lnTo>
                <a:cubicBezTo>
                  <a:pt x="60093" y="97591"/>
                  <a:pt x="60894" y="92125"/>
                  <a:pt x="64757" y="89210"/>
                </a:cubicBezTo>
                <a:cubicBezTo>
                  <a:pt x="68620" y="86294"/>
                  <a:pt x="74086" y="87096"/>
                  <a:pt x="77002" y="90959"/>
                </a:cubicBezTo>
                <a:lnTo>
                  <a:pt x="86841" y="104078"/>
                </a:lnTo>
                <a:lnTo>
                  <a:pt x="109216" y="68256"/>
                </a:lnTo>
                <a:cubicBezTo>
                  <a:pt x="111767" y="64174"/>
                  <a:pt x="117161" y="62899"/>
                  <a:pt x="121279" y="65486"/>
                </a:cubicBezTo>
                <a:cubicBezTo>
                  <a:pt x="125397" y="68073"/>
                  <a:pt x="126636" y="73430"/>
                  <a:pt x="124048" y="77548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8709613" y="7883110"/>
            <a:ext cx="6985182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Capacité de Généralisation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476385" y="8256275"/>
            <a:ext cx="7206749" cy="23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Meilleure capacité à généraliser que les arbres individuels grâce au bagging.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rchitect.pub/d974a0132b53794a77fca7e318dcaa2bc0a61e69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18794" b="1879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100000">
                <a:srgbClr val="E7A46F">
                  <a:alpha val="3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08000" y="2120900"/>
            <a:ext cx="103632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Regressor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96570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8000" y="5473700"/>
            <a:ext cx="99822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FFFFFF">
                    <a:alpha val="95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Gradient Boosting pour une Performance Optimale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7264400"/>
            <a:ext cx="8661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Algorithme de boosting séquentiel offrant la précision maximale pour la prédiction immobilière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065" y="445065"/>
            <a:ext cx="15454883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b="1" kern="0" spc="70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ALGORITHME DE BOOSTING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5065" y="801117"/>
            <a:ext cx="15566149" cy="445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5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 – Principe du Gradient Boosting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5065" y="1379702"/>
            <a:ext cx="890130" cy="44507"/>
          </a:xfrm>
          <a:custGeom>
            <a:avLst/>
            <a:gdLst/>
            <a:ahLst/>
            <a:cxnLst/>
            <a:rect l="l" t="t" r="r" b="b"/>
            <a:pathLst>
              <a:path w="890130" h="44507">
                <a:moveTo>
                  <a:pt x="0" y="0"/>
                </a:moveTo>
                <a:lnTo>
                  <a:pt x="890130" y="0"/>
                </a:lnTo>
                <a:lnTo>
                  <a:pt x="890130" y="44507"/>
                </a:lnTo>
                <a:lnTo>
                  <a:pt x="0" y="44507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45065" y="1668994"/>
            <a:ext cx="7577232" cy="4784449"/>
          </a:xfrm>
          <a:custGeom>
            <a:avLst/>
            <a:gdLst/>
            <a:ahLst/>
            <a:cxnLst/>
            <a:rect l="l" t="t" r="r" b="b"/>
            <a:pathLst>
              <a:path w="7577232" h="4784449">
                <a:moveTo>
                  <a:pt x="44507" y="0"/>
                </a:moveTo>
                <a:lnTo>
                  <a:pt x="7532726" y="0"/>
                </a:lnTo>
                <a:cubicBezTo>
                  <a:pt x="7557306" y="0"/>
                  <a:pt x="7577232" y="19926"/>
                  <a:pt x="7577232" y="44507"/>
                </a:cubicBezTo>
                <a:lnTo>
                  <a:pt x="7577232" y="4695458"/>
                </a:lnTo>
                <a:cubicBezTo>
                  <a:pt x="7577232" y="4744606"/>
                  <a:pt x="7537390" y="4784449"/>
                  <a:pt x="7488241" y="4784449"/>
                </a:cubicBezTo>
                <a:lnTo>
                  <a:pt x="88991" y="4784449"/>
                </a:lnTo>
                <a:cubicBezTo>
                  <a:pt x="39843" y="4784449"/>
                  <a:pt x="0" y="4744606"/>
                  <a:pt x="0" y="4695458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3380" dist="111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45065" y="1668994"/>
            <a:ext cx="7577232" cy="44507"/>
          </a:xfrm>
          <a:custGeom>
            <a:avLst/>
            <a:gdLst/>
            <a:ahLst/>
            <a:cxnLst/>
            <a:rect l="l" t="t" r="r" b="b"/>
            <a:pathLst>
              <a:path w="7577232" h="44507">
                <a:moveTo>
                  <a:pt x="44507" y="0"/>
                </a:moveTo>
                <a:lnTo>
                  <a:pt x="7532726" y="0"/>
                </a:lnTo>
                <a:cubicBezTo>
                  <a:pt x="7557306" y="0"/>
                  <a:pt x="7577232" y="19926"/>
                  <a:pt x="7577232" y="44507"/>
                </a:cubicBezTo>
                <a:lnTo>
                  <a:pt x="7577232" y="44507"/>
                </a:lnTo>
                <a:lnTo>
                  <a:pt x="0" y="44507"/>
                </a:ln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95414" y="1958286"/>
            <a:ext cx="222533" cy="222533"/>
          </a:xfrm>
          <a:custGeom>
            <a:avLst/>
            <a:gdLst/>
            <a:ahLst/>
            <a:cxnLst/>
            <a:rect l="l" t="t" r="r" b="b"/>
            <a:pathLst>
              <a:path w="222533" h="222533">
                <a:moveTo>
                  <a:pt x="208668" y="83450"/>
                </a:moveTo>
                <a:lnTo>
                  <a:pt x="212101" y="83450"/>
                </a:lnTo>
                <a:cubicBezTo>
                  <a:pt x="217882" y="83450"/>
                  <a:pt x="222533" y="78799"/>
                  <a:pt x="222533" y="73018"/>
                </a:cubicBezTo>
                <a:lnTo>
                  <a:pt x="222533" y="10431"/>
                </a:lnTo>
                <a:cubicBezTo>
                  <a:pt x="222533" y="6215"/>
                  <a:pt x="220012" y="2390"/>
                  <a:pt x="216100" y="782"/>
                </a:cubicBezTo>
                <a:cubicBezTo>
                  <a:pt x="212188" y="-826"/>
                  <a:pt x="207711" y="87"/>
                  <a:pt x="204713" y="3042"/>
                </a:cubicBezTo>
                <a:lnTo>
                  <a:pt x="182242" y="25556"/>
                </a:lnTo>
                <a:cubicBezTo>
                  <a:pt x="162988" y="9605"/>
                  <a:pt x="138214" y="0"/>
                  <a:pt x="111266" y="0"/>
                </a:cubicBezTo>
                <a:cubicBezTo>
                  <a:pt x="55198" y="0"/>
                  <a:pt x="8823" y="41464"/>
                  <a:pt x="1130" y="95402"/>
                </a:cubicBezTo>
                <a:cubicBezTo>
                  <a:pt x="43" y="103008"/>
                  <a:pt x="5303" y="110049"/>
                  <a:pt x="12909" y="111136"/>
                </a:cubicBezTo>
                <a:cubicBezTo>
                  <a:pt x="20515" y="112222"/>
                  <a:pt x="27556" y="106920"/>
                  <a:pt x="28642" y="99357"/>
                </a:cubicBezTo>
                <a:cubicBezTo>
                  <a:pt x="34423" y="58893"/>
                  <a:pt x="69237" y="27817"/>
                  <a:pt x="111266" y="27817"/>
                </a:cubicBezTo>
                <a:cubicBezTo>
                  <a:pt x="130564" y="27817"/>
                  <a:pt x="148297" y="34336"/>
                  <a:pt x="162423" y="45332"/>
                </a:cubicBezTo>
                <a:lnTo>
                  <a:pt x="142125" y="65630"/>
                </a:lnTo>
                <a:cubicBezTo>
                  <a:pt x="139126" y="68629"/>
                  <a:pt x="138257" y="73105"/>
                  <a:pt x="139865" y="77017"/>
                </a:cubicBezTo>
                <a:cubicBezTo>
                  <a:pt x="141473" y="80929"/>
                  <a:pt x="145298" y="83450"/>
                  <a:pt x="149514" y="83450"/>
                </a:cubicBezTo>
                <a:lnTo>
                  <a:pt x="208668" y="83450"/>
                </a:lnTo>
                <a:close/>
                <a:moveTo>
                  <a:pt x="221446" y="127130"/>
                </a:moveTo>
                <a:cubicBezTo>
                  <a:pt x="222533" y="119524"/>
                  <a:pt x="217230" y="112483"/>
                  <a:pt x="209667" y="111397"/>
                </a:cubicBezTo>
                <a:cubicBezTo>
                  <a:pt x="202105" y="110310"/>
                  <a:pt x="195020" y="115613"/>
                  <a:pt x="193934" y="123175"/>
                </a:cubicBezTo>
                <a:cubicBezTo>
                  <a:pt x="188153" y="163596"/>
                  <a:pt x="153339" y="194672"/>
                  <a:pt x="111310" y="194672"/>
                </a:cubicBezTo>
                <a:cubicBezTo>
                  <a:pt x="92012" y="194672"/>
                  <a:pt x="74279" y="188153"/>
                  <a:pt x="60153" y="177157"/>
                </a:cubicBezTo>
                <a:lnTo>
                  <a:pt x="80407" y="156903"/>
                </a:lnTo>
                <a:cubicBezTo>
                  <a:pt x="83406" y="153904"/>
                  <a:pt x="84275" y="149427"/>
                  <a:pt x="82667" y="145515"/>
                </a:cubicBezTo>
                <a:cubicBezTo>
                  <a:pt x="81059" y="141604"/>
                  <a:pt x="77234" y="139083"/>
                  <a:pt x="73018" y="139083"/>
                </a:cubicBezTo>
                <a:lnTo>
                  <a:pt x="10431" y="139083"/>
                </a:lnTo>
                <a:cubicBezTo>
                  <a:pt x="4651" y="139083"/>
                  <a:pt x="0" y="143733"/>
                  <a:pt x="0" y="149514"/>
                </a:cubicBezTo>
                <a:lnTo>
                  <a:pt x="0" y="212101"/>
                </a:lnTo>
                <a:cubicBezTo>
                  <a:pt x="0" y="216317"/>
                  <a:pt x="2521" y="220142"/>
                  <a:pt x="6433" y="221750"/>
                </a:cubicBezTo>
                <a:cubicBezTo>
                  <a:pt x="10344" y="223358"/>
                  <a:pt x="14821" y="222446"/>
                  <a:pt x="17820" y="219490"/>
                </a:cubicBezTo>
                <a:lnTo>
                  <a:pt x="40334" y="196976"/>
                </a:lnTo>
                <a:cubicBezTo>
                  <a:pt x="59545" y="212927"/>
                  <a:pt x="84319" y="222533"/>
                  <a:pt x="111266" y="222533"/>
                </a:cubicBezTo>
                <a:cubicBezTo>
                  <a:pt x="167334" y="222533"/>
                  <a:pt x="213709" y="181068"/>
                  <a:pt x="221402" y="12713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45763" y="1913780"/>
            <a:ext cx="6965268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Fonctionnement Itératif du Boosting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98" y="2358845"/>
            <a:ext cx="7221180" cy="57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</a:t>
            </a:r>
            <a:r>
              <a:rPr lang="en-US" sz="1402" dirty="0">
                <a:solidFill>
                  <a:srgbClr val="2C3E50"/>
                </a:solidFill>
                <a:highlight>
                  <a:srgbClr val="E7A46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</a:t>
            </a:r>
            <a:r>
              <a:rPr lang="en-US" sz="140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construit une suite d'arbres où chacun corrige les erreurs du précédent. C'est un processus d'apprentissage séquentiel.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98" y="3115455"/>
            <a:ext cx="7132167" cy="3115455"/>
          </a:xfrm>
          <a:custGeom>
            <a:avLst/>
            <a:gdLst/>
            <a:ahLst/>
            <a:cxnLst/>
            <a:rect l="l" t="t" r="r" b="b"/>
            <a:pathLst>
              <a:path w="7132167" h="3115455">
                <a:moveTo>
                  <a:pt x="44520" y="0"/>
                </a:moveTo>
                <a:lnTo>
                  <a:pt x="7087647" y="0"/>
                </a:lnTo>
                <a:cubicBezTo>
                  <a:pt x="7112235" y="0"/>
                  <a:pt x="7132167" y="19932"/>
                  <a:pt x="7132167" y="44520"/>
                </a:cubicBezTo>
                <a:lnTo>
                  <a:pt x="7132167" y="3070935"/>
                </a:lnTo>
                <a:cubicBezTo>
                  <a:pt x="7132167" y="3095523"/>
                  <a:pt x="7112235" y="3115455"/>
                  <a:pt x="7087647" y="3115455"/>
                </a:cubicBezTo>
                <a:lnTo>
                  <a:pt x="44520" y="3115455"/>
                </a:lnTo>
                <a:cubicBezTo>
                  <a:pt x="19932" y="3115455"/>
                  <a:pt x="0" y="3095523"/>
                  <a:pt x="0" y="3070935"/>
                </a:cubicBezTo>
                <a:lnTo>
                  <a:pt x="0" y="44520"/>
                </a:lnTo>
                <a:cubicBezTo>
                  <a:pt x="0" y="19949"/>
                  <a:pt x="19949" y="0"/>
                  <a:pt x="44520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845624" y="3293481"/>
            <a:ext cx="356052" cy="356052"/>
          </a:xfrm>
          <a:custGeom>
            <a:avLst/>
            <a:gdLst/>
            <a:ahLst/>
            <a:cxnLst/>
            <a:rect l="l" t="t" r="r" b="b"/>
            <a:pathLst>
              <a:path w="356052" h="356052">
                <a:moveTo>
                  <a:pt x="178026" y="0"/>
                </a:moveTo>
                <a:lnTo>
                  <a:pt x="178026" y="0"/>
                </a:lnTo>
                <a:cubicBezTo>
                  <a:pt x="276281" y="0"/>
                  <a:pt x="356052" y="79771"/>
                  <a:pt x="356052" y="178026"/>
                </a:cubicBezTo>
                <a:lnTo>
                  <a:pt x="356052" y="178026"/>
                </a:lnTo>
                <a:cubicBezTo>
                  <a:pt x="356052" y="276281"/>
                  <a:pt x="276281" y="356052"/>
                  <a:pt x="178026" y="356052"/>
                </a:cubicBezTo>
                <a:lnTo>
                  <a:pt x="178026" y="356052"/>
                </a:lnTo>
                <a:cubicBezTo>
                  <a:pt x="79771" y="356052"/>
                  <a:pt x="0" y="276281"/>
                  <a:pt x="0" y="178026"/>
                </a:cubicBezTo>
                <a:lnTo>
                  <a:pt x="0" y="178026"/>
                </a:lnTo>
                <a:cubicBezTo>
                  <a:pt x="0" y="79771"/>
                  <a:pt x="79771" y="0"/>
                  <a:pt x="17802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01117" y="3293481"/>
            <a:ext cx="445065" cy="3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5195" y="3293481"/>
            <a:ext cx="3716293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Initialisation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5195" y="3516014"/>
            <a:ext cx="3716293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Prédiction initiale = moyenne des prix (modèle simple)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5624" y="3872066"/>
            <a:ext cx="356052" cy="356052"/>
          </a:xfrm>
          <a:custGeom>
            <a:avLst/>
            <a:gdLst/>
            <a:ahLst/>
            <a:cxnLst/>
            <a:rect l="l" t="t" r="r" b="b"/>
            <a:pathLst>
              <a:path w="356052" h="356052">
                <a:moveTo>
                  <a:pt x="178026" y="0"/>
                </a:moveTo>
                <a:lnTo>
                  <a:pt x="178026" y="0"/>
                </a:lnTo>
                <a:cubicBezTo>
                  <a:pt x="276281" y="0"/>
                  <a:pt x="356052" y="79771"/>
                  <a:pt x="356052" y="178026"/>
                </a:cubicBezTo>
                <a:lnTo>
                  <a:pt x="356052" y="178026"/>
                </a:lnTo>
                <a:cubicBezTo>
                  <a:pt x="356052" y="276281"/>
                  <a:pt x="276281" y="356052"/>
                  <a:pt x="178026" y="356052"/>
                </a:cubicBezTo>
                <a:lnTo>
                  <a:pt x="178026" y="356052"/>
                </a:lnTo>
                <a:cubicBezTo>
                  <a:pt x="79771" y="356052"/>
                  <a:pt x="0" y="276281"/>
                  <a:pt x="0" y="178026"/>
                </a:cubicBezTo>
                <a:lnTo>
                  <a:pt x="0" y="178026"/>
                </a:lnTo>
                <a:cubicBezTo>
                  <a:pt x="0" y="79771"/>
                  <a:pt x="79771" y="0"/>
                  <a:pt x="17802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01117" y="3872066"/>
            <a:ext cx="445065" cy="3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35195" y="3872066"/>
            <a:ext cx="3137708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 des Résidus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5195" y="4094598"/>
            <a:ext cx="3137708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Différences = Prix réels - Prédictions actuelles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5624" y="4450650"/>
            <a:ext cx="356052" cy="356052"/>
          </a:xfrm>
          <a:custGeom>
            <a:avLst/>
            <a:gdLst/>
            <a:ahLst/>
            <a:cxnLst/>
            <a:rect l="l" t="t" r="r" b="b"/>
            <a:pathLst>
              <a:path w="356052" h="356052">
                <a:moveTo>
                  <a:pt x="178026" y="0"/>
                </a:moveTo>
                <a:lnTo>
                  <a:pt x="178026" y="0"/>
                </a:lnTo>
                <a:cubicBezTo>
                  <a:pt x="276281" y="0"/>
                  <a:pt x="356052" y="79771"/>
                  <a:pt x="356052" y="178026"/>
                </a:cubicBezTo>
                <a:lnTo>
                  <a:pt x="356052" y="178026"/>
                </a:lnTo>
                <a:cubicBezTo>
                  <a:pt x="356052" y="276281"/>
                  <a:pt x="276281" y="356052"/>
                  <a:pt x="178026" y="356052"/>
                </a:cubicBezTo>
                <a:lnTo>
                  <a:pt x="178026" y="356052"/>
                </a:lnTo>
                <a:cubicBezTo>
                  <a:pt x="79771" y="356052"/>
                  <a:pt x="0" y="276281"/>
                  <a:pt x="0" y="178026"/>
                </a:cubicBezTo>
                <a:lnTo>
                  <a:pt x="0" y="178026"/>
                </a:lnTo>
                <a:cubicBezTo>
                  <a:pt x="0" y="79771"/>
                  <a:pt x="79771" y="0"/>
                  <a:pt x="17802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01117" y="4450650"/>
            <a:ext cx="445065" cy="3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5195" y="4450650"/>
            <a:ext cx="3560520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Entraînement d'un Arbre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5195" y="4673183"/>
            <a:ext cx="3560520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Nouvel arbre apprend à prédire les résidus (erreurs)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5624" y="5029235"/>
            <a:ext cx="356052" cy="356052"/>
          </a:xfrm>
          <a:custGeom>
            <a:avLst/>
            <a:gdLst/>
            <a:ahLst/>
            <a:cxnLst/>
            <a:rect l="l" t="t" r="r" b="b"/>
            <a:pathLst>
              <a:path w="356052" h="356052">
                <a:moveTo>
                  <a:pt x="178026" y="0"/>
                </a:moveTo>
                <a:lnTo>
                  <a:pt x="178026" y="0"/>
                </a:lnTo>
                <a:cubicBezTo>
                  <a:pt x="276281" y="0"/>
                  <a:pt x="356052" y="79771"/>
                  <a:pt x="356052" y="178026"/>
                </a:cubicBezTo>
                <a:lnTo>
                  <a:pt x="356052" y="178026"/>
                </a:lnTo>
                <a:cubicBezTo>
                  <a:pt x="356052" y="276281"/>
                  <a:pt x="276281" y="356052"/>
                  <a:pt x="178026" y="356052"/>
                </a:cubicBezTo>
                <a:lnTo>
                  <a:pt x="178026" y="356052"/>
                </a:lnTo>
                <a:cubicBezTo>
                  <a:pt x="79771" y="356052"/>
                  <a:pt x="0" y="276281"/>
                  <a:pt x="0" y="178026"/>
                </a:cubicBezTo>
                <a:lnTo>
                  <a:pt x="0" y="178026"/>
                </a:lnTo>
                <a:cubicBezTo>
                  <a:pt x="0" y="79771"/>
                  <a:pt x="79771" y="0"/>
                  <a:pt x="17802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01117" y="5029235"/>
            <a:ext cx="445065" cy="3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35195" y="5029235"/>
            <a:ext cx="4272624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Mise à Jour des Prédictions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35195" y="5251767"/>
            <a:ext cx="4272624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Ajouter les prédictions de l'arbre (pondérées) aux précédentes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5624" y="5607819"/>
            <a:ext cx="356052" cy="356052"/>
          </a:xfrm>
          <a:custGeom>
            <a:avLst/>
            <a:gdLst/>
            <a:ahLst/>
            <a:cxnLst/>
            <a:rect l="l" t="t" r="r" b="b"/>
            <a:pathLst>
              <a:path w="356052" h="356052">
                <a:moveTo>
                  <a:pt x="178026" y="0"/>
                </a:moveTo>
                <a:lnTo>
                  <a:pt x="178026" y="0"/>
                </a:lnTo>
                <a:cubicBezTo>
                  <a:pt x="276281" y="0"/>
                  <a:pt x="356052" y="79771"/>
                  <a:pt x="356052" y="178026"/>
                </a:cubicBezTo>
                <a:lnTo>
                  <a:pt x="356052" y="178026"/>
                </a:lnTo>
                <a:cubicBezTo>
                  <a:pt x="356052" y="276281"/>
                  <a:pt x="276281" y="356052"/>
                  <a:pt x="178026" y="356052"/>
                </a:cubicBezTo>
                <a:lnTo>
                  <a:pt x="178026" y="356052"/>
                </a:lnTo>
                <a:cubicBezTo>
                  <a:pt x="79771" y="356052"/>
                  <a:pt x="0" y="276281"/>
                  <a:pt x="0" y="178026"/>
                </a:cubicBezTo>
                <a:lnTo>
                  <a:pt x="0" y="178026"/>
                </a:lnTo>
                <a:cubicBezTo>
                  <a:pt x="0" y="79771"/>
                  <a:pt x="79771" y="0"/>
                  <a:pt x="178026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801117" y="5607819"/>
            <a:ext cx="445065" cy="3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35195" y="5607819"/>
            <a:ext cx="3560520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Répétition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35195" y="5830352"/>
            <a:ext cx="3560520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Itérer jusqu'à convergence ou nombre max d'arbres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7318" y="6631469"/>
            <a:ext cx="7554979" cy="2069552"/>
          </a:xfrm>
          <a:custGeom>
            <a:avLst/>
            <a:gdLst/>
            <a:ahLst/>
            <a:cxnLst/>
            <a:rect l="l" t="t" r="r" b="b"/>
            <a:pathLst>
              <a:path w="7554979" h="2069552">
                <a:moveTo>
                  <a:pt x="44507" y="0"/>
                </a:moveTo>
                <a:lnTo>
                  <a:pt x="7465967" y="0"/>
                </a:lnTo>
                <a:cubicBezTo>
                  <a:pt x="7515127" y="0"/>
                  <a:pt x="7554979" y="39852"/>
                  <a:pt x="7554979" y="89011"/>
                </a:cubicBezTo>
                <a:lnTo>
                  <a:pt x="7554979" y="1980541"/>
                </a:lnTo>
                <a:cubicBezTo>
                  <a:pt x="7554979" y="2029701"/>
                  <a:pt x="7515127" y="2069552"/>
                  <a:pt x="7465967" y="2069552"/>
                </a:cubicBezTo>
                <a:lnTo>
                  <a:pt x="44507" y="2069552"/>
                </a:lnTo>
                <a:cubicBezTo>
                  <a:pt x="19926" y="2069552"/>
                  <a:pt x="0" y="2049626"/>
                  <a:pt x="0" y="2025046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3380" dist="111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67318" y="6631469"/>
            <a:ext cx="44507" cy="2069552"/>
          </a:xfrm>
          <a:custGeom>
            <a:avLst/>
            <a:gdLst/>
            <a:ahLst/>
            <a:cxnLst/>
            <a:rect l="l" t="t" r="r" b="b"/>
            <a:pathLst>
              <a:path w="44507" h="2069552">
                <a:moveTo>
                  <a:pt x="44507" y="0"/>
                </a:moveTo>
                <a:lnTo>
                  <a:pt x="44507" y="0"/>
                </a:lnTo>
                <a:lnTo>
                  <a:pt x="44507" y="2069552"/>
                </a:lnTo>
                <a:lnTo>
                  <a:pt x="44507" y="2069552"/>
                </a:lnTo>
                <a:cubicBezTo>
                  <a:pt x="19926" y="2069552"/>
                  <a:pt x="0" y="2049626"/>
                  <a:pt x="0" y="2025046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95414" y="6865128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25035" y="25035"/>
                </a:moveTo>
                <a:cubicBezTo>
                  <a:pt x="25035" y="18111"/>
                  <a:pt x="19441" y="12517"/>
                  <a:pt x="12517" y="12517"/>
                </a:cubicBezTo>
                <a:cubicBezTo>
                  <a:pt x="5594" y="12517"/>
                  <a:pt x="0" y="18111"/>
                  <a:pt x="0" y="25035"/>
                </a:cubicBezTo>
                <a:lnTo>
                  <a:pt x="0" y="156468"/>
                </a:lnTo>
                <a:cubicBezTo>
                  <a:pt x="0" y="173758"/>
                  <a:pt x="14004" y="187762"/>
                  <a:pt x="31294" y="187762"/>
                </a:cubicBezTo>
                <a:lnTo>
                  <a:pt x="187762" y="187762"/>
                </a:lnTo>
                <a:cubicBezTo>
                  <a:pt x="194686" y="187762"/>
                  <a:pt x="200279" y="182168"/>
                  <a:pt x="200279" y="175244"/>
                </a:cubicBezTo>
                <a:cubicBezTo>
                  <a:pt x="200279" y="168321"/>
                  <a:pt x="194686" y="162727"/>
                  <a:pt x="187762" y="162727"/>
                </a:cubicBezTo>
                <a:lnTo>
                  <a:pt x="31294" y="162727"/>
                </a:lnTo>
                <a:cubicBezTo>
                  <a:pt x="27851" y="162727"/>
                  <a:pt x="25035" y="159910"/>
                  <a:pt x="25035" y="156468"/>
                </a:cubicBezTo>
                <a:lnTo>
                  <a:pt x="25035" y="25035"/>
                </a:lnTo>
                <a:close/>
                <a:moveTo>
                  <a:pt x="184085" y="58910"/>
                </a:moveTo>
                <a:cubicBezTo>
                  <a:pt x="188974" y="54021"/>
                  <a:pt x="188974" y="46080"/>
                  <a:pt x="184085" y="41190"/>
                </a:cubicBezTo>
                <a:cubicBezTo>
                  <a:pt x="179195" y="36301"/>
                  <a:pt x="171254" y="36301"/>
                  <a:pt x="166365" y="41190"/>
                </a:cubicBezTo>
                <a:lnTo>
                  <a:pt x="125175" y="82420"/>
                </a:lnTo>
                <a:lnTo>
                  <a:pt x="102721" y="60006"/>
                </a:lnTo>
                <a:cubicBezTo>
                  <a:pt x="97832" y="55116"/>
                  <a:pt x="89891" y="55116"/>
                  <a:pt x="85001" y="60006"/>
                </a:cubicBezTo>
                <a:lnTo>
                  <a:pt x="47449" y="97558"/>
                </a:lnTo>
                <a:cubicBezTo>
                  <a:pt x="42559" y="102448"/>
                  <a:pt x="42559" y="110388"/>
                  <a:pt x="47449" y="115278"/>
                </a:cubicBezTo>
                <a:cubicBezTo>
                  <a:pt x="52339" y="120168"/>
                  <a:pt x="60279" y="120168"/>
                  <a:pt x="65169" y="115278"/>
                </a:cubicBezTo>
                <a:lnTo>
                  <a:pt x="93881" y="86566"/>
                </a:lnTo>
                <a:lnTo>
                  <a:pt x="116334" y="109019"/>
                </a:lnTo>
                <a:cubicBezTo>
                  <a:pt x="121224" y="113909"/>
                  <a:pt x="129164" y="113909"/>
                  <a:pt x="134054" y="109019"/>
                </a:cubicBezTo>
                <a:lnTo>
                  <a:pt x="184124" y="58949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923510" y="6809495"/>
            <a:ext cx="7020901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Utilisation de la Descente de Gradient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98" y="7254560"/>
            <a:ext cx="7254560" cy="51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7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L'algorithme utilise le </a:t>
            </a:r>
            <a:r>
              <a:rPr lang="en-US" sz="1227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</a:t>
            </a:r>
            <a:r>
              <a:rPr lang="en-US" sz="1227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(vecteur des dérivées partielles) pour déterminer la direction et l'amplitude de la correction.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9851" y="7894341"/>
            <a:ext cx="7154420" cy="623091"/>
          </a:xfrm>
          <a:custGeom>
            <a:avLst/>
            <a:gdLst/>
            <a:ahLst/>
            <a:cxnLst/>
            <a:rect l="l" t="t" r="r" b="b"/>
            <a:pathLst>
              <a:path w="7154420" h="623091">
                <a:moveTo>
                  <a:pt x="44507" y="0"/>
                </a:moveTo>
                <a:lnTo>
                  <a:pt x="7109913" y="0"/>
                </a:lnTo>
                <a:cubicBezTo>
                  <a:pt x="7134494" y="0"/>
                  <a:pt x="7154420" y="19927"/>
                  <a:pt x="7154420" y="44507"/>
                </a:cubicBezTo>
                <a:lnTo>
                  <a:pt x="7154420" y="578584"/>
                </a:lnTo>
                <a:cubicBezTo>
                  <a:pt x="7154420" y="603164"/>
                  <a:pt x="7134494" y="623091"/>
                  <a:pt x="7109913" y="623091"/>
                </a:cubicBezTo>
                <a:lnTo>
                  <a:pt x="44507" y="623091"/>
                </a:lnTo>
                <a:cubicBezTo>
                  <a:pt x="19926" y="623091"/>
                  <a:pt x="0" y="603165"/>
                  <a:pt x="0" y="578585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89851" y="7894341"/>
            <a:ext cx="44507" cy="623091"/>
          </a:xfrm>
          <a:custGeom>
            <a:avLst/>
            <a:gdLst/>
            <a:ahLst/>
            <a:cxnLst/>
            <a:rect l="l" t="t" r="r" b="b"/>
            <a:pathLst>
              <a:path w="44507" h="623091">
                <a:moveTo>
                  <a:pt x="44507" y="0"/>
                </a:moveTo>
                <a:lnTo>
                  <a:pt x="44507" y="0"/>
                </a:lnTo>
                <a:lnTo>
                  <a:pt x="44507" y="623091"/>
                </a:lnTo>
                <a:lnTo>
                  <a:pt x="44507" y="623091"/>
                </a:lnTo>
                <a:cubicBezTo>
                  <a:pt x="19943" y="623091"/>
                  <a:pt x="0" y="603148"/>
                  <a:pt x="0" y="578585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12244" y="8027860"/>
            <a:ext cx="6931888" cy="3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Résidus = -∇(Fonction de Perte) / ∇(Prédiction)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051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(Direction de plus grande pente)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1005" y="1646741"/>
            <a:ext cx="7577232" cy="4072345"/>
          </a:xfrm>
          <a:custGeom>
            <a:avLst/>
            <a:gdLst/>
            <a:ahLst/>
            <a:cxnLst/>
            <a:rect l="l" t="t" r="r" b="b"/>
            <a:pathLst>
              <a:path w="7577232" h="4072345">
                <a:moveTo>
                  <a:pt x="89021" y="0"/>
                </a:moveTo>
                <a:lnTo>
                  <a:pt x="7488211" y="0"/>
                </a:lnTo>
                <a:cubicBezTo>
                  <a:pt x="7537376" y="0"/>
                  <a:pt x="7577232" y="39856"/>
                  <a:pt x="7577232" y="89021"/>
                </a:cubicBezTo>
                <a:lnTo>
                  <a:pt x="7577232" y="3983324"/>
                </a:lnTo>
                <a:cubicBezTo>
                  <a:pt x="7577232" y="4032489"/>
                  <a:pt x="7537376" y="4072345"/>
                  <a:pt x="7488211" y="4072345"/>
                </a:cubicBezTo>
                <a:lnTo>
                  <a:pt x="89021" y="4072345"/>
                </a:lnTo>
                <a:cubicBezTo>
                  <a:pt x="39856" y="4072345"/>
                  <a:pt x="0" y="4032489"/>
                  <a:pt x="0" y="3983324"/>
                </a:cubicBezTo>
                <a:lnTo>
                  <a:pt x="0" y="89021"/>
                </a:lnTo>
                <a:cubicBezTo>
                  <a:pt x="0" y="39856"/>
                  <a:pt x="39856" y="0"/>
                  <a:pt x="89021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495E"/>
              </a:gs>
            </a:gsLst>
            <a:lin ang="2700000" scaled="1"/>
          </a:gradFill>
          <a:ln/>
          <a:effectLst>
            <a:outerShdw blurRad="166899" dist="11126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8491354" y="1913780"/>
            <a:ext cx="222533" cy="222533"/>
          </a:xfrm>
          <a:custGeom>
            <a:avLst/>
            <a:gdLst/>
            <a:ahLst/>
            <a:cxnLst/>
            <a:rect l="l" t="t" r="r" b="b"/>
            <a:pathLst>
              <a:path w="222533" h="222533">
                <a:moveTo>
                  <a:pt x="55633" y="139083"/>
                </a:moveTo>
                <a:lnTo>
                  <a:pt x="10649" y="139083"/>
                </a:lnTo>
                <a:cubicBezTo>
                  <a:pt x="-174" y="139083"/>
                  <a:pt x="-6824" y="127304"/>
                  <a:pt x="-1260" y="118003"/>
                </a:cubicBezTo>
                <a:lnTo>
                  <a:pt x="21732" y="79668"/>
                </a:lnTo>
                <a:cubicBezTo>
                  <a:pt x="25513" y="73366"/>
                  <a:pt x="32293" y="69541"/>
                  <a:pt x="39639" y="69541"/>
                </a:cubicBezTo>
                <a:lnTo>
                  <a:pt x="80929" y="69541"/>
                </a:lnTo>
                <a:cubicBezTo>
                  <a:pt x="114004" y="13517"/>
                  <a:pt x="163335" y="10692"/>
                  <a:pt x="196324" y="15516"/>
                </a:cubicBezTo>
                <a:cubicBezTo>
                  <a:pt x="201887" y="16342"/>
                  <a:pt x="206234" y="20689"/>
                  <a:pt x="207016" y="26208"/>
                </a:cubicBezTo>
                <a:cubicBezTo>
                  <a:pt x="211841" y="59197"/>
                  <a:pt x="209015" y="108528"/>
                  <a:pt x="152991" y="141604"/>
                </a:cubicBezTo>
                <a:lnTo>
                  <a:pt x="152991" y="182894"/>
                </a:lnTo>
                <a:cubicBezTo>
                  <a:pt x="152991" y="190239"/>
                  <a:pt x="149166" y="197020"/>
                  <a:pt x="142864" y="200801"/>
                </a:cubicBezTo>
                <a:lnTo>
                  <a:pt x="104529" y="223793"/>
                </a:lnTo>
                <a:cubicBezTo>
                  <a:pt x="95272" y="229356"/>
                  <a:pt x="83450" y="222663"/>
                  <a:pt x="83450" y="211884"/>
                </a:cubicBezTo>
                <a:lnTo>
                  <a:pt x="83450" y="166899"/>
                </a:lnTo>
                <a:cubicBezTo>
                  <a:pt x="83450" y="151557"/>
                  <a:pt x="70976" y="139083"/>
                  <a:pt x="55633" y="139083"/>
                </a:cubicBezTo>
                <a:lnTo>
                  <a:pt x="55590" y="139083"/>
                </a:lnTo>
                <a:close/>
                <a:moveTo>
                  <a:pt x="173854" y="69541"/>
                </a:moveTo>
                <a:cubicBezTo>
                  <a:pt x="173854" y="58027"/>
                  <a:pt x="164505" y="48679"/>
                  <a:pt x="152991" y="48679"/>
                </a:cubicBezTo>
                <a:cubicBezTo>
                  <a:pt x="141477" y="48679"/>
                  <a:pt x="132129" y="58027"/>
                  <a:pt x="132129" y="69541"/>
                </a:cubicBezTo>
                <a:cubicBezTo>
                  <a:pt x="132129" y="81056"/>
                  <a:pt x="141477" y="90404"/>
                  <a:pt x="152991" y="90404"/>
                </a:cubicBezTo>
                <a:cubicBezTo>
                  <a:pt x="164505" y="90404"/>
                  <a:pt x="173854" y="81056"/>
                  <a:pt x="173854" y="69541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8741703" y="1869273"/>
            <a:ext cx="6965268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Optimisations d'XGBoost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63537" y="2358845"/>
            <a:ext cx="7210053" cy="51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(eXtreme Gradient Boosting)</a:t>
            </a:r>
            <a:r>
              <a:rPr lang="en-US" sz="122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pousse le gradient boosting à son maximum via des optimisations logicielles et matérielles.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63537" y="3043132"/>
            <a:ext cx="7132167" cy="756611"/>
          </a:xfrm>
          <a:custGeom>
            <a:avLst/>
            <a:gdLst/>
            <a:ahLst/>
            <a:cxnLst/>
            <a:rect l="l" t="t" r="r" b="b"/>
            <a:pathLst>
              <a:path w="7132167" h="756611">
                <a:moveTo>
                  <a:pt x="44504" y="0"/>
                </a:moveTo>
                <a:lnTo>
                  <a:pt x="7087663" y="0"/>
                </a:lnTo>
                <a:cubicBezTo>
                  <a:pt x="7112242" y="0"/>
                  <a:pt x="7132167" y="19925"/>
                  <a:pt x="7132167" y="44504"/>
                </a:cubicBezTo>
                <a:lnTo>
                  <a:pt x="7132167" y="712107"/>
                </a:lnTo>
                <a:cubicBezTo>
                  <a:pt x="7132167" y="736685"/>
                  <a:pt x="7112242" y="756611"/>
                  <a:pt x="7087663" y="756611"/>
                </a:cubicBezTo>
                <a:lnTo>
                  <a:pt x="44504" y="756611"/>
                </a:lnTo>
                <a:cubicBezTo>
                  <a:pt x="19925" y="756611"/>
                  <a:pt x="0" y="736685"/>
                  <a:pt x="0" y="712107"/>
                </a:cubicBezTo>
                <a:lnTo>
                  <a:pt x="0" y="44504"/>
                </a:lnTo>
                <a:cubicBezTo>
                  <a:pt x="0" y="19925"/>
                  <a:pt x="19925" y="0"/>
                  <a:pt x="445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8597057" y="3176652"/>
            <a:ext cx="6943014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Taux d'Apprentissage Faible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97057" y="3443691"/>
            <a:ext cx="6943014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Chaque arbre contribue faiblement (learning_rate: 0.01-0.3), évitant les corrections brusques.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63537" y="3888756"/>
            <a:ext cx="7132167" cy="756611"/>
          </a:xfrm>
          <a:custGeom>
            <a:avLst/>
            <a:gdLst/>
            <a:ahLst/>
            <a:cxnLst/>
            <a:rect l="l" t="t" r="r" b="b"/>
            <a:pathLst>
              <a:path w="7132167" h="756611">
                <a:moveTo>
                  <a:pt x="44504" y="0"/>
                </a:moveTo>
                <a:lnTo>
                  <a:pt x="7087663" y="0"/>
                </a:lnTo>
                <a:cubicBezTo>
                  <a:pt x="7112242" y="0"/>
                  <a:pt x="7132167" y="19925"/>
                  <a:pt x="7132167" y="44504"/>
                </a:cubicBezTo>
                <a:lnTo>
                  <a:pt x="7132167" y="712107"/>
                </a:lnTo>
                <a:cubicBezTo>
                  <a:pt x="7132167" y="736685"/>
                  <a:pt x="7112242" y="756611"/>
                  <a:pt x="7087663" y="756611"/>
                </a:cubicBezTo>
                <a:lnTo>
                  <a:pt x="44504" y="756611"/>
                </a:lnTo>
                <a:cubicBezTo>
                  <a:pt x="19925" y="756611"/>
                  <a:pt x="0" y="736685"/>
                  <a:pt x="0" y="712107"/>
                </a:cubicBezTo>
                <a:lnTo>
                  <a:pt x="0" y="44504"/>
                </a:lnTo>
                <a:cubicBezTo>
                  <a:pt x="0" y="19925"/>
                  <a:pt x="19925" y="0"/>
                  <a:pt x="445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8597057" y="4022275"/>
            <a:ext cx="6943014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Arbres Peu Profonds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97057" y="4289314"/>
            <a:ext cx="6943014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max_depth faible (3-6) pour éviter le surapprentissage et garantir des arbres faibles.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63537" y="4734379"/>
            <a:ext cx="7132167" cy="756611"/>
          </a:xfrm>
          <a:custGeom>
            <a:avLst/>
            <a:gdLst/>
            <a:ahLst/>
            <a:cxnLst/>
            <a:rect l="l" t="t" r="r" b="b"/>
            <a:pathLst>
              <a:path w="7132167" h="756611">
                <a:moveTo>
                  <a:pt x="44504" y="0"/>
                </a:moveTo>
                <a:lnTo>
                  <a:pt x="7087663" y="0"/>
                </a:lnTo>
                <a:cubicBezTo>
                  <a:pt x="7112242" y="0"/>
                  <a:pt x="7132167" y="19925"/>
                  <a:pt x="7132167" y="44504"/>
                </a:cubicBezTo>
                <a:lnTo>
                  <a:pt x="7132167" y="712107"/>
                </a:lnTo>
                <a:cubicBezTo>
                  <a:pt x="7132167" y="736685"/>
                  <a:pt x="7112242" y="756611"/>
                  <a:pt x="7087663" y="756611"/>
                </a:cubicBezTo>
                <a:lnTo>
                  <a:pt x="44504" y="756611"/>
                </a:lnTo>
                <a:cubicBezTo>
                  <a:pt x="19925" y="756611"/>
                  <a:pt x="0" y="736685"/>
                  <a:pt x="0" y="712107"/>
                </a:cubicBezTo>
                <a:lnTo>
                  <a:pt x="0" y="44504"/>
                </a:lnTo>
                <a:cubicBezTo>
                  <a:pt x="0" y="19925"/>
                  <a:pt x="19925" y="0"/>
                  <a:pt x="445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8597057" y="4867899"/>
            <a:ext cx="6943014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Régularisation L1/L2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97057" y="5134938"/>
            <a:ext cx="6943014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Pénalisation des complexités pour un modèle plus robuste.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63258" y="5891548"/>
            <a:ext cx="7554979" cy="2403351"/>
          </a:xfrm>
          <a:custGeom>
            <a:avLst/>
            <a:gdLst/>
            <a:ahLst/>
            <a:cxnLst/>
            <a:rect l="l" t="t" r="r" b="b"/>
            <a:pathLst>
              <a:path w="7554979" h="2403351">
                <a:moveTo>
                  <a:pt x="44507" y="0"/>
                </a:moveTo>
                <a:lnTo>
                  <a:pt x="7465959" y="0"/>
                </a:lnTo>
                <a:cubicBezTo>
                  <a:pt x="7515123" y="0"/>
                  <a:pt x="7554979" y="39856"/>
                  <a:pt x="7554979" y="89020"/>
                </a:cubicBezTo>
                <a:lnTo>
                  <a:pt x="7554979" y="2314331"/>
                </a:lnTo>
                <a:cubicBezTo>
                  <a:pt x="7554979" y="2363495"/>
                  <a:pt x="7515123" y="2403351"/>
                  <a:pt x="7465959" y="2403351"/>
                </a:cubicBezTo>
                <a:lnTo>
                  <a:pt x="44507" y="2403351"/>
                </a:lnTo>
                <a:cubicBezTo>
                  <a:pt x="19926" y="2403351"/>
                  <a:pt x="0" y="2383425"/>
                  <a:pt x="0" y="2358845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3380" dist="111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8263258" y="5891548"/>
            <a:ext cx="44507" cy="2403351"/>
          </a:xfrm>
          <a:custGeom>
            <a:avLst/>
            <a:gdLst/>
            <a:ahLst/>
            <a:cxnLst/>
            <a:rect l="l" t="t" r="r" b="b"/>
            <a:pathLst>
              <a:path w="44507" h="2403351">
                <a:moveTo>
                  <a:pt x="44507" y="0"/>
                </a:moveTo>
                <a:lnTo>
                  <a:pt x="44507" y="0"/>
                </a:lnTo>
                <a:lnTo>
                  <a:pt x="44507" y="2403351"/>
                </a:lnTo>
                <a:lnTo>
                  <a:pt x="44507" y="2403351"/>
                </a:lnTo>
                <a:cubicBezTo>
                  <a:pt x="19926" y="2403351"/>
                  <a:pt x="0" y="2383425"/>
                  <a:pt x="0" y="2358845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8510825" y="6169714"/>
            <a:ext cx="250349" cy="200279"/>
          </a:xfrm>
          <a:custGeom>
            <a:avLst/>
            <a:gdLst/>
            <a:ahLst/>
            <a:cxnLst/>
            <a:rect l="l" t="t" r="r" b="b"/>
            <a:pathLst>
              <a:path w="250349" h="200279">
                <a:moveTo>
                  <a:pt x="162688" y="82341"/>
                </a:moveTo>
                <a:cubicBezTo>
                  <a:pt x="167460" y="81051"/>
                  <a:pt x="172467" y="83319"/>
                  <a:pt x="174618" y="87740"/>
                </a:cubicBezTo>
                <a:lnTo>
                  <a:pt x="181894" y="102448"/>
                </a:lnTo>
                <a:cubicBezTo>
                  <a:pt x="185923" y="102995"/>
                  <a:pt x="189874" y="104090"/>
                  <a:pt x="193590" y="105616"/>
                </a:cubicBezTo>
                <a:lnTo>
                  <a:pt x="207281" y="96502"/>
                </a:lnTo>
                <a:cubicBezTo>
                  <a:pt x="211389" y="93764"/>
                  <a:pt x="216826" y="94311"/>
                  <a:pt x="220307" y="97793"/>
                </a:cubicBezTo>
                <a:lnTo>
                  <a:pt x="227818" y="105303"/>
                </a:lnTo>
                <a:cubicBezTo>
                  <a:pt x="231299" y="108784"/>
                  <a:pt x="231847" y="114261"/>
                  <a:pt x="229109" y="118329"/>
                </a:cubicBezTo>
                <a:lnTo>
                  <a:pt x="219994" y="131981"/>
                </a:lnTo>
                <a:cubicBezTo>
                  <a:pt x="220737" y="133819"/>
                  <a:pt x="221402" y="135736"/>
                  <a:pt x="221950" y="137731"/>
                </a:cubicBezTo>
                <a:cubicBezTo>
                  <a:pt x="222498" y="139726"/>
                  <a:pt x="222850" y="141682"/>
                  <a:pt x="223124" y="143677"/>
                </a:cubicBezTo>
                <a:lnTo>
                  <a:pt x="237871" y="150953"/>
                </a:lnTo>
                <a:cubicBezTo>
                  <a:pt x="242291" y="153143"/>
                  <a:pt x="244560" y="158150"/>
                  <a:pt x="243269" y="162883"/>
                </a:cubicBezTo>
                <a:lnTo>
                  <a:pt x="240531" y="173132"/>
                </a:lnTo>
                <a:cubicBezTo>
                  <a:pt x="239240" y="177865"/>
                  <a:pt x="234820" y="181073"/>
                  <a:pt x="229891" y="180760"/>
                </a:cubicBezTo>
                <a:lnTo>
                  <a:pt x="213462" y="179704"/>
                </a:lnTo>
                <a:cubicBezTo>
                  <a:pt x="210997" y="182872"/>
                  <a:pt x="208142" y="185806"/>
                  <a:pt x="204895" y="188309"/>
                </a:cubicBezTo>
                <a:lnTo>
                  <a:pt x="205951" y="204699"/>
                </a:lnTo>
                <a:cubicBezTo>
                  <a:pt x="206264" y="209628"/>
                  <a:pt x="203057" y="214088"/>
                  <a:pt x="198323" y="215339"/>
                </a:cubicBezTo>
                <a:lnTo>
                  <a:pt x="188075" y="218078"/>
                </a:lnTo>
                <a:cubicBezTo>
                  <a:pt x="183302" y="219368"/>
                  <a:pt x="178335" y="217100"/>
                  <a:pt x="176144" y="212679"/>
                </a:cubicBezTo>
                <a:lnTo>
                  <a:pt x="168868" y="197971"/>
                </a:lnTo>
                <a:cubicBezTo>
                  <a:pt x="164839" y="197424"/>
                  <a:pt x="160888" y="196328"/>
                  <a:pt x="157172" y="194803"/>
                </a:cubicBezTo>
                <a:lnTo>
                  <a:pt x="143481" y="203917"/>
                </a:lnTo>
                <a:cubicBezTo>
                  <a:pt x="139374" y="206655"/>
                  <a:pt x="133937" y="206108"/>
                  <a:pt x="130455" y="202626"/>
                </a:cubicBezTo>
                <a:lnTo>
                  <a:pt x="122945" y="195116"/>
                </a:lnTo>
                <a:cubicBezTo>
                  <a:pt x="119463" y="191634"/>
                  <a:pt x="118916" y="186197"/>
                  <a:pt x="121654" y="182090"/>
                </a:cubicBezTo>
                <a:lnTo>
                  <a:pt x="130768" y="168399"/>
                </a:lnTo>
                <a:cubicBezTo>
                  <a:pt x="130025" y="166560"/>
                  <a:pt x="129360" y="164644"/>
                  <a:pt x="128812" y="162649"/>
                </a:cubicBezTo>
                <a:cubicBezTo>
                  <a:pt x="128265" y="160654"/>
                  <a:pt x="127913" y="158659"/>
                  <a:pt x="127639" y="156703"/>
                </a:cubicBezTo>
                <a:lnTo>
                  <a:pt x="112892" y="149427"/>
                </a:lnTo>
                <a:cubicBezTo>
                  <a:pt x="108472" y="147237"/>
                  <a:pt x="106242" y="142230"/>
                  <a:pt x="107494" y="137496"/>
                </a:cubicBezTo>
                <a:lnTo>
                  <a:pt x="110232" y="127248"/>
                </a:lnTo>
                <a:cubicBezTo>
                  <a:pt x="111523" y="122515"/>
                  <a:pt x="115943" y="119307"/>
                  <a:pt x="120872" y="119620"/>
                </a:cubicBezTo>
                <a:lnTo>
                  <a:pt x="137262" y="120676"/>
                </a:lnTo>
                <a:cubicBezTo>
                  <a:pt x="139726" y="117508"/>
                  <a:pt x="142582" y="114574"/>
                  <a:pt x="145828" y="112070"/>
                </a:cubicBezTo>
                <a:lnTo>
                  <a:pt x="144772" y="95719"/>
                </a:lnTo>
                <a:cubicBezTo>
                  <a:pt x="144459" y="90791"/>
                  <a:pt x="147667" y="86331"/>
                  <a:pt x="152400" y="85080"/>
                </a:cubicBezTo>
                <a:lnTo>
                  <a:pt x="162649" y="82341"/>
                </a:lnTo>
                <a:close/>
                <a:moveTo>
                  <a:pt x="175401" y="132998"/>
                </a:moveTo>
                <a:cubicBezTo>
                  <a:pt x="165902" y="133009"/>
                  <a:pt x="158198" y="140730"/>
                  <a:pt x="158209" y="150229"/>
                </a:cubicBezTo>
                <a:cubicBezTo>
                  <a:pt x="158220" y="159728"/>
                  <a:pt x="165941" y="167432"/>
                  <a:pt x="175440" y="167421"/>
                </a:cubicBezTo>
                <a:cubicBezTo>
                  <a:pt x="184939" y="167410"/>
                  <a:pt x="192643" y="159689"/>
                  <a:pt x="192632" y="150190"/>
                </a:cubicBezTo>
                <a:cubicBezTo>
                  <a:pt x="192621" y="140691"/>
                  <a:pt x="184900" y="132987"/>
                  <a:pt x="175401" y="132998"/>
                </a:cubicBezTo>
                <a:close/>
                <a:moveTo>
                  <a:pt x="87974" y="-17798"/>
                </a:moveTo>
                <a:lnTo>
                  <a:pt x="98223" y="-15060"/>
                </a:lnTo>
                <a:cubicBezTo>
                  <a:pt x="102956" y="-13769"/>
                  <a:pt x="106164" y="-9310"/>
                  <a:pt x="105851" y="-4420"/>
                </a:cubicBezTo>
                <a:lnTo>
                  <a:pt x="104795" y="11931"/>
                </a:lnTo>
                <a:cubicBezTo>
                  <a:pt x="108041" y="14434"/>
                  <a:pt x="110897" y="17329"/>
                  <a:pt x="113361" y="20536"/>
                </a:cubicBezTo>
                <a:lnTo>
                  <a:pt x="129790" y="19480"/>
                </a:lnTo>
                <a:cubicBezTo>
                  <a:pt x="134680" y="19167"/>
                  <a:pt x="139139" y="22375"/>
                  <a:pt x="140430" y="27108"/>
                </a:cubicBezTo>
                <a:lnTo>
                  <a:pt x="143168" y="37357"/>
                </a:lnTo>
                <a:cubicBezTo>
                  <a:pt x="144420" y="42090"/>
                  <a:pt x="142190" y="47097"/>
                  <a:pt x="137770" y="49287"/>
                </a:cubicBezTo>
                <a:lnTo>
                  <a:pt x="123023" y="56563"/>
                </a:lnTo>
                <a:cubicBezTo>
                  <a:pt x="122749" y="58558"/>
                  <a:pt x="122358" y="60553"/>
                  <a:pt x="121850" y="62509"/>
                </a:cubicBezTo>
                <a:cubicBezTo>
                  <a:pt x="121341" y="64465"/>
                  <a:pt x="120637" y="66421"/>
                  <a:pt x="119894" y="68259"/>
                </a:cubicBezTo>
                <a:lnTo>
                  <a:pt x="129008" y="81950"/>
                </a:lnTo>
                <a:cubicBezTo>
                  <a:pt x="131746" y="86057"/>
                  <a:pt x="131199" y="91495"/>
                  <a:pt x="127717" y="94976"/>
                </a:cubicBezTo>
                <a:lnTo>
                  <a:pt x="120207" y="102487"/>
                </a:lnTo>
                <a:cubicBezTo>
                  <a:pt x="116725" y="105968"/>
                  <a:pt x="111288" y="106516"/>
                  <a:pt x="107181" y="103778"/>
                </a:cubicBezTo>
                <a:lnTo>
                  <a:pt x="93490" y="94663"/>
                </a:lnTo>
                <a:cubicBezTo>
                  <a:pt x="89774" y="96189"/>
                  <a:pt x="85823" y="97284"/>
                  <a:pt x="81794" y="97832"/>
                </a:cubicBezTo>
                <a:lnTo>
                  <a:pt x="74518" y="112540"/>
                </a:lnTo>
                <a:cubicBezTo>
                  <a:pt x="72327" y="116960"/>
                  <a:pt x="67320" y="119190"/>
                  <a:pt x="62587" y="117938"/>
                </a:cubicBezTo>
                <a:lnTo>
                  <a:pt x="52339" y="115200"/>
                </a:lnTo>
                <a:cubicBezTo>
                  <a:pt x="47566" y="113909"/>
                  <a:pt x="44398" y="109449"/>
                  <a:pt x="44711" y="104560"/>
                </a:cubicBezTo>
                <a:lnTo>
                  <a:pt x="45767" y="88170"/>
                </a:lnTo>
                <a:cubicBezTo>
                  <a:pt x="42520" y="85666"/>
                  <a:pt x="39665" y="82772"/>
                  <a:pt x="37200" y="79564"/>
                </a:cubicBezTo>
                <a:lnTo>
                  <a:pt x="20771" y="80620"/>
                </a:lnTo>
                <a:cubicBezTo>
                  <a:pt x="15882" y="80933"/>
                  <a:pt x="11422" y="77726"/>
                  <a:pt x="10131" y="72992"/>
                </a:cubicBezTo>
                <a:lnTo>
                  <a:pt x="7393" y="62744"/>
                </a:lnTo>
                <a:cubicBezTo>
                  <a:pt x="6141" y="58011"/>
                  <a:pt x="8371" y="53004"/>
                  <a:pt x="12791" y="50813"/>
                </a:cubicBezTo>
                <a:lnTo>
                  <a:pt x="27538" y="43537"/>
                </a:lnTo>
                <a:cubicBezTo>
                  <a:pt x="27812" y="41542"/>
                  <a:pt x="28203" y="39586"/>
                  <a:pt x="28712" y="37591"/>
                </a:cubicBezTo>
                <a:cubicBezTo>
                  <a:pt x="29260" y="35597"/>
                  <a:pt x="29885" y="33680"/>
                  <a:pt x="30668" y="31841"/>
                </a:cubicBezTo>
                <a:lnTo>
                  <a:pt x="21553" y="18189"/>
                </a:lnTo>
                <a:cubicBezTo>
                  <a:pt x="18815" y="14082"/>
                  <a:pt x="19363" y="8645"/>
                  <a:pt x="22844" y="5163"/>
                </a:cubicBezTo>
                <a:lnTo>
                  <a:pt x="30355" y="-2347"/>
                </a:lnTo>
                <a:cubicBezTo>
                  <a:pt x="33836" y="-5828"/>
                  <a:pt x="39274" y="-6376"/>
                  <a:pt x="43381" y="-3638"/>
                </a:cubicBezTo>
                <a:lnTo>
                  <a:pt x="57072" y="5476"/>
                </a:lnTo>
                <a:cubicBezTo>
                  <a:pt x="60788" y="3951"/>
                  <a:pt x="64739" y="2856"/>
                  <a:pt x="68768" y="2308"/>
                </a:cubicBezTo>
                <a:lnTo>
                  <a:pt x="76044" y="-12400"/>
                </a:lnTo>
                <a:cubicBezTo>
                  <a:pt x="78234" y="-16820"/>
                  <a:pt x="83202" y="-19050"/>
                  <a:pt x="87974" y="-17798"/>
                </a:cubicBezTo>
                <a:close/>
                <a:moveTo>
                  <a:pt x="75261" y="32858"/>
                </a:moveTo>
                <a:cubicBezTo>
                  <a:pt x="65762" y="32858"/>
                  <a:pt x="58050" y="40571"/>
                  <a:pt x="58050" y="50070"/>
                </a:cubicBezTo>
                <a:cubicBezTo>
                  <a:pt x="58050" y="59569"/>
                  <a:pt x="65762" y="67281"/>
                  <a:pt x="75261" y="67281"/>
                </a:cubicBezTo>
                <a:cubicBezTo>
                  <a:pt x="84760" y="67281"/>
                  <a:pt x="92473" y="59569"/>
                  <a:pt x="92473" y="50070"/>
                </a:cubicBezTo>
                <a:cubicBezTo>
                  <a:pt x="92473" y="40571"/>
                  <a:pt x="84760" y="32858"/>
                  <a:pt x="75261" y="32858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8763956" y="6114081"/>
            <a:ext cx="6931888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Autres Optimisations Clés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30297" y="6603652"/>
            <a:ext cx="178026" cy="178026"/>
          </a:xfrm>
          <a:custGeom>
            <a:avLst/>
            <a:gdLst/>
            <a:ahLst/>
            <a:cxnLst/>
            <a:rect l="l" t="t" r="r" b="b"/>
            <a:pathLst>
              <a:path w="178026" h="178026">
                <a:moveTo>
                  <a:pt x="61196" y="8345"/>
                </a:moveTo>
                <a:cubicBezTo>
                  <a:pt x="61196" y="3720"/>
                  <a:pt x="57476" y="0"/>
                  <a:pt x="52851" y="0"/>
                </a:cubicBezTo>
                <a:cubicBezTo>
                  <a:pt x="48227" y="0"/>
                  <a:pt x="44507" y="3720"/>
                  <a:pt x="44507" y="8345"/>
                </a:cubicBezTo>
                <a:lnTo>
                  <a:pt x="44507" y="22253"/>
                </a:lnTo>
                <a:cubicBezTo>
                  <a:pt x="32232" y="22253"/>
                  <a:pt x="22253" y="32232"/>
                  <a:pt x="22253" y="44507"/>
                </a:cubicBezTo>
                <a:lnTo>
                  <a:pt x="8345" y="44507"/>
                </a:lnTo>
                <a:cubicBezTo>
                  <a:pt x="3720" y="44507"/>
                  <a:pt x="0" y="48227"/>
                  <a:pt x="0" y="52851"/>
                </a:cubicBezTo>
                <a:cubicBezTo>
                  <a:pt x="0" y="57476"/>
                  <a:pt x="3720" y="61196"/>
                  <a:pt x="8345" y="61196"/>
                </a:cubicBezTo>
                <a:lnTo>
                  <a:pt x="22253" y="61196"/>
                </a:lnTo>
                <a:lnTo>
                  <a:pt x="22253" y="80668"/>
                </a:lnTo>
                <a:lnTo>
                  <a:pt x="8345" y="80668"/>
                </a:lnTo>
                <a:cubicBezTo>
                  <a:pt x="3720" y="80668"/>
                  <a:pt x="0" y="84389"/>
                  <a:pt x="0" y="89013"/>
                </a:cubicBezTo>
                <a:cubicBezTo>
                  <a:pt x="0" y="93638"/>
                  <a:pt x="3720" y="97358"/>
                  <a:pt x="8345" y="97358"/>
                </a:cubicBezTo>
                <a:lnTo>
                  <a:pt x="22253" y="97358"/>
                </a:lnTo>
                <a:lnTo>
                  <a:pt x="22253" y="116830"/>
                </a:lnTo>
                <a:lnTo>
                  <a:pt x="8345" y="116830"/>
                </a:lnTo>
                <a:cubicBezTo>
                  <a:pt x="3720" y="116830"/>
                  <a:pt x="0" y="120550"/>
                  <a:pt x="0" y="125175"/>
                </a:cubicBezTo>
                <a:cubicBezTo>
                  <a:pt x="0" y="129799"/>
                  <a:pt x="3720" y="133520"/>
                  <a:pt x="8345" y="133520"/>
                </a:cubicBezTo>
                <a:lnTo>
                  <a:pt x="22253" y="133520"/>
                </a:lnTo>
                <a:cubicBezTo>
                  <a:pt x="22253" y="145794"/>
                  <a:pt x="32232" y="155773"/>
                  <a:pt x="44507" y="155773"/>
                </a:cubicBezTo>
                <a:lnTo>
                  <a:pt x="44507" y="169681"/>
                </a:lnTo>
                <a:cubicBezTo>
                  <a:pt x="44507" y="174306"/>
                  <a:pt x="48227" y="178026"/>
                  <a:pt x="52851" y="178026"/>
                </a:cubicBezTo>
                <a:cubicBezTo>
                  <a:pt x="57476" y="178026"/>
                  <a:pt x="61196" y="174306"/>
                  <a:pt x="61196" y="169681"/>
                </a:cubicBezTo>
                <a:lnTo>
                  <a:pt x="61196" y="155773"/>
                </a:lnTo>
                <a:lnTo>
                  <a:pt x="80668" y="155773"/>
                </a:lnTo>
                <a:lnTo>
                  <a:pt x="80668" y="169681"/>
                </a:lnTo>
                <a:cubicBezTo>
                  <a:pt x="80668" y="174306"/>
                  <a:pt x="84389" y="178026"/>
                  <a:pt x="89013" y="178026"/>
                </a:cubicBezTo>
                <a:cubicBezTo>
                  <a:pt x="93638" y="178026"/>
                  <a:pt x="97358" y="174306"/>
                  <a:pt x="97358" y="169681"/>
                </a:cubicBezTo>
                <a:lnTo>
                  <a:pt x="97358" y="155773"/>
                </a:lnTo>
                <a:lnTo>
                  <a:pt x="116830" y="155773"/>
                </a:lnTo>
                <a:lnTo>
                  <a:pt x="116830" y="169681"/>
                </a:lnTo>
                <a:cubicBezTo>
                  <a:pt x="116830" y="174306"/>
                  <a:pt x="120550" y="178026"/>
                  <a:pt x="125175" y="178026"/>
                </a:cubicBezTo>
                <a:cubicBezTo>
                  <a:pt x="129799" y="178026"/>
                  <a:pt x="133520" y="174306"/>
                  <a:pt x="133520" y="169681"/>
                </a:cubicBezTo>
                <a:lnTo>
                  <a:pt x="133520" y="155773"/>
                </a:lnTo>
                <a:cubicBezTo>
                  <a:pt x="145794" y="155773"/>
                  <a:pt x="155773" y="145794"/>
                  <a:pt x="155773" y="133520"/>
                </a:cubicBezTo>
                <a:lnTo>
                  <a:pt x="169681" y="133520"/>
                </a:lnTo>
                <a:cubicBezTo>
                  <a:pt x="174306" y="133520"/>
                  <a:pt x="178026" y="129799"/>
                  <a:pt x="178026" y="125175"/>
                </a:cubicBezTo>
                <a:cubicBezTo>
                  <a:pt x="178026" y="120550"/>
                  <a:pt x="174306" y="116830"/>
                  <a:pt x="169681" y="116830"/>
                </a:cubicBezTo>
                <a:lnTo>
                  <a:pt x="155773" y="116830"/>
                </a:lnTo>
                <a:lnTo>
                  <a:pt x="155773" y="97358"/>
                </a:lnTo>
                <a:lnTo>
                  <a:pt x="169681" y="97358"/>
                </a:lnTo>
                <a:cubicBezTo>
                  <a:pt x="174306" y="97358"/>
                  <a:pt x="178026" y="93638"/>
                  <a:pt x="178026" y="89013"/>
                </a:cubicBezTo>
                <a:cubicBezTo>
                  <a:pt x="178026" y="84389"/>
                  <a:pt x="174306" y="80668"/>
                  <a:pt x="169681" y="80668"/>
                </a:cubicBezTo>
                <a:lnTo>
                  <a:pt x="155773" y="80668"/>
                </a:lnTo>
                <a:lnTo>
                  <a:pt x="155773" y="61196"/>
                </a:lnTo>
                <a:lnTo>
                  <a:pt x="169681" y="61196"/>
                </a:lnTo>
                <a:cubicBezTo>
                  <a:pt x="174306" y="61196"/>
                  <a:pt x="178026" y="57476"/>
                  <a:pt x="178026" y="52851"/>
                </a:cubicBezTo>
                <a:cubicBezTo>
                  <a:pt x="178026" y="48227"/>
                  <a:pt x="174306" y="44507"/>
                  <a:pt x="169681" y="44507"/>
                </a:cubicBezTo>
                <a:lnTo>
                  <a:pt x="155773" y="44507"/>
                </a:lnTo>
                <a:cubicBezTo>
                  <a:pt x="155773" y="32232"/>
                  <a:pt x="145794" y="22253"/>
                  <a:pt x="133520" y="22253"/>
                </a:cubicBezTo>
                <a:lnTo>
                  <a:pt x="133520" y="8345"/>
                </a:lnTo>
                <a:cubicBezTo>
                  <a:pt x="133520" y="3720"/>
                  <a:pt x="129799" y="0"/>
                  <a:pt x="125175" y="0"/>
                </a:cubicBezTo>
                <a:cubicBezTo>
                  <a:pt x="120550" y="0"/>
                  <a:pt x="116830" y="3720"/>
                  <a:pt x="116830" y="8345"/>
                </a:cubicBezTo>
                <a:lnTo>
                  <a:pt x="116830" y="22253"/>
                </a:lnTo>
                <a:lnTo>
                  <a:pt x="97358" y="22253"/>
                </a:lnTo>
                <a:lnTo>
                  <a:pt x="97358" y="8345"/>
                </a:lnTo>
                <a:cubicBezTo>
                  <a:pt x="97358" y="3720"/>
                  <a:pt x="93638" y="0"/>
                  <a:pt x="89013" y="0"/>
                </a:cubicBezTo>
                <a:cubicBezTo>
                  <a:pt x="84389" y="0"/>
                  <a:pt x="80668" y="3720"/>
                  <a:pt x="80668" y="8345"/>
                </a:cubicBezTo>
                <a:lnTo>
                  <a:pt x="80668" y="22253"/>
                </a:lnTo>
                <a:lnTo>
                  <a:pt x="61196" y="22253"/>
                </a:lnTo>
                <a:lnTo>
                  <a:pt x="61196" y="8345"/>
                </a:lnTo>
                <a:close/>
                <a:moveTo>
                  <a:pt x="55633" y="44507"/>
                </a:moveTo>
                <a:lnTo>
                  <a:pt x="122393" y="44507"/>
                </a:lnTo>
                <a:cubicBezTo>
                  <a:pt x="128547" y="44507"/>
                  <a:pt x="133520" y="49479"/>
                  <a:pt x="133520" y="55633"/>
                </a:cubicBezTo>
                <a:lnTo>
                  <a:pt x="133520" y="122393"/>
                </a:lnTo>
                <a:cubicBezTo>
                  <a:pt x="133520" y="128547"/>
                  <a:pt x="128547" y="133520"/>
                  <a:pt x="122393" y="133520"/>
                </a:cubicBezTo>
                <a:lnTo>
                  <a:pt x="55633" y="133520"/>
                </a:lnTo>
                <a:cubicBezTo>
                  <a:pt x="49479" y="133520"/>
                  <a:pt x="44507" y="128547"/>
                  <a:pt x="44507" y="122393"/>
                </a:cubicBezTo>
                <a:lnTo>
                  <a:pt x="44507" y="55633"/>
                </a:lnTo>
                <a:cubicBezTo>
                  <a:pt x="44507" y="49479"/>
                  <a:pt x="49479" y="44507"/>
                  <a:pt x="55633" y="44507"/>
                </a:cubicBezTo>
                <a:close/>
                <a:moveTo>
                  <a:pt x="61196" y="61196"/>
                </a:moveTo>
                <a:lnTo>
                  <a:pt x="61196" y="116830"/>
                </a:lnTo>
                <a:lnTo>
                  <a:pt x="116830" y="116830"/>
                </a:lnTo>
                <a:lnTo>
                  <a:pt x="116830" y="61196"/>
                </a:lnTo>
                <a:lnTo>
                  <a:pt x="61196" y="61196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8864096" y="6559146"/>
            <a:ext cx="2403351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Parallélisation CPU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64096" y="6781678"/>
            <a:ext cx="2403351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Construction des arbres accélérée.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30297" y="7137730"/>
            <a:ext cx="178026" cy="178026"/>
          </a:xfrm>
          <a:custGeom>
            <a:avLst/>
            <a:gdLst/>
            <a:ahLst/>
            <a:cxnLst/>
            <a:rect l="l" t="t" r="r" b="b"/>
            <a:pathLst>
              <a:path w="178026" h="178026">
                <a:moveTo>
                  <a:pt x="22253" y="22253"/>
                </a:moveTo>
                <a:cubicBezTo>
                  <a:pt x="9979" y="22253"/>
                  <a:pt x="0" y="32232"/>
                  <a:pt x="0" y="44507"/>
                </a:cubicBezTo>
                <a:lnTo>
                  <a:pt x="0" y="47080"/>
                </a:lnTo>
                <a:cubicBezTo>
                  <a:pt x="0" y="49444"/>
                  <a:pt x="1530" y="51461"/>
                  <a:pt x="3512" y="52747"/>
                </a:cubicBezTo>
                <a:cubicBezTo>
                  <a:pt x="8102" y="55737"/>
                  <a:pt x="11127" y="60884"/>
                  <a:pt x="11127" y="66760"/>
                </a:cubicBezTo>
                <a:cubicBezTo>
                  <a:pt x="11127" y="72636"/>
                  <a:pt x="8102" y="77782"/>
                  <a:pt x="3512" y="80772"/>
                </a:cubicBezTo>
                <a:cubicBezTo>
                  <a:pt x="1530" y="82059"/>
                  <a:pt x="0" y="84076"/>
                  <a:pt x="0" y="86440"/>
                </a:cubicBezTo>
                <a:lnTo>
                  <a:pt x="0" y="105703"/>
                </a:lnTo>
                <a:lnTo>
                  <a:pt x="178026" y="105703"/>
                </a:lnTo>
                <a:lnTo>
                  <a:pt x="178026" y="86440"/>
                </a:lnTo>
                <a:cubicBezTo>
                  <a:pt x="178026" y="84076"/>
                  <a:pt x="176496" y="82059"/>
                  <a:pt x="174514" y="80772"/>
                </a:cubicBezTo>
                <a:cubicBezTo>
                  <a:pt x="169924" y="77782"/>
                  <a:pt x="166899" y="72636"/>
                  <a:pt x="166899" y="66760"/>
                </a:cubicBezTo>
                <a:cubicBezTo>
                  <a:pt x="166899" y="60884"/>
                  <a:pt x="169924" y="55737"/>
                  <a:pt x="174514" y="52747"/>
                </a:cubicBezTo>
                <a:cubicBezTo>
                  <a:pt x="176496" y="51461"/>
                  <a:pt x="178026" y="49444"/>
                  <a:pt x="178026" y="47080"/>
                </a:cubicBezTo>
                <a:lnTo>
                  <a:pt x="178026" y="44507"/>
                </a:lnTo>
                <a:cubicBezTo>
                  <a:pt x="178026" y="32232"/>
                  <a:pt x="168047" y="22253"/>
                  <a:pt x="155773" y="22253"/>
                </a:cubicBezTo>
                <a:lnTo>
                  <a:pt x="22253" y="22253"/>
                </a:lnTo>
                <a:close/>
                <a:moveTo>
                  <a:pt x="178026" y="144646"/>
                </a:moveTo>
                <a:lnTo>
                  <a:pt x="178026" y="122393"/>
                </a:lnTo>
                <a:lnTo>
                  <a:pt x="0" y="122393"/>
                </a:lnTo>
                <a:lnTo>
                  <a:pt x="0" y="144646"/>
                </a:lnTo>
                <a:cubicBezTo>
                  <a:pt x="0" y="150801"/>
                  <a:pt x="4972" y="155773"/>
                  <a:pt x="11127" y="155773"/>
                </a:cubicBezTo>
                <a:lnTo>
                  <a:pt x="33380" y="155773"/>
                </a:lnTo>
                <a:lnTo>
                  <a:pt x="33380" y="147428"/>
                </a:lnTo>
                <a:cubicBezTo>
                  <a:pt x="33380" y="142803"/>
                  <a:pt x="37100" y="139083"/>
                  <a:pt x="41725" y="139083"/>
                </a:cubicBezTo>
                <a:cubicBezTo>
                  <a:pt x="46349" y="139083"/>
                  <a:pt x="50070" y="142803"/>
                  <a:pt x="50070" y="147428"/>
                </a:cubicBezTo>
                <a:lnTo>
                  <a:pt x="50070" y="155773"/>
                </a:lnTo>
                <a:lnTo>
                  <a:pt x="80668" y="155773"/>
                </a:lnTo>
                <a:lnTo>
                  <a:pt x="80668" y="147428"/>
                </a:lnTo>
                <a:cubicBezTo>
                  <a:pt x="80668" y="142803"/>
                  <a:pt x="84389" y="139083"/>
                  <a:pt x="89013" y="139083"/>
                </a:cubicBezTo>
                <a:cubicBezTo>
                  <a:pt x="93638" y="139083"/>
                  <a:pt x="97358" y="142803"/>
                  <a:pt x="97358" y="147428"/>
                </a:cubicBezTo>
                <a:lnTo>
                  <a:pt x="97358" y="155773"/>
                </a:lnTo>
                <a:lnTo>
                  <a:pt x="127956" y="155773"/>
                </a:lnTo>
                <a:lnTo>
                  <a:pt x="127956" y="147428"/>
                </a:lnTo>
                <a:cubicBezTo>
                  <a:pt x="127956" y="142803"/>
                  <a:pt x="131677" y="139083"/>
                  <a:pt x="136301" y="139083"/>
                </a:cubicBezTo>
                <a:cubicBezTo>
                  <a:pt x="140926" y="139083"/>
                  <a:pt x="144646" y="142803"/>
                  <a:pt x="144646" y="147428"/>
                </a:cubicBezTo>
                <a:lnTo>
                  <a:pt x="144646" y="155773"/>
                </a:lnTo>
                <a:lnTo>
                  <a:pt x="166899" y="155773"/>
                </a:lnTo>
                <a:cubicBezTo>
                  <a:pt x="173054" y="155773"/>
                  <a:pt x="178026" y="150801"/>
                  <a:pt x="178026" y="144646"/>
                </a:cubicBezTo>
                <a:close/>
                <a:moveTo>
                  <a:pt x="55633" y="55633"/>
                </a:moveTo>
                <a:lnTo>
                  <a:pt x="55633" y="77886"/>
                </a:lnTo>
                <a:cubicBezTo>
                  <a:pt x="55633" y="84041"/>
                  <a:pt x="50661" y="89013"/>
                  <a:pt x="44507" y="89013"/>
                </a:cubicBezTo>
                <a:cubicBezTo>
                  <a:pt x="38352" y="89013"/>
                  <a:pt x="33380" y="84041"/>
                  <a:pt x="33380" y="77886"/>
                </a:cubicBezTo>
                <a:lnTo>
                  <a:pt x="33380" y="55633"/>
                </a:lnTo>
                <a:cubicBezTo>
                  <a:pt x="33380" y="49479"/>
                  <a:pt x="38352" y="44507"/>
                  <a:pt x="44507" y="44507"/>
                </a:cubicBezTo>
                <a:cubicBezTo>
                  <a:pt x="50661" y="44507"/>
                  <a:pt x="55633" y="49479"/>
                  <a:pt x="55633" y="55633"/>
                </a:cubicBezTo>
                <a:close/>
                <a:moveTo>
                  <a:pt x="100140" y="55633"/>
                </a:moveTo>
                <a:lnTo>
                  <a:pt x="100140" y="77886"/>
                </a:lnTo>
                <a:cubicBezTo>
                  <a:pt x="100140" y="84041"/>
                  <a:pt x="95167" y="89013"/>
                  <a:pt x="89013" y="89013"/>
                </a:cubicBezTo>
                <a:cubicBezTo>
                  <a:pt x="82859" y="89013"/>
                  <a:pt x="77886" y="84041"/>
                  <a:pt x="77886" y="77886"/>
                </a:cubicBezTo>
                <a:lnTo>
                  <a:pt x="77886" y="55633"/>
                </a:lnTo>
                <a:cubicBezTo>
                  <a:pt x="77886" y="49479"/>
                  <a:pt x="82859" y="44507"/>
                  <a:pt x="89013" y="44507"/>
                </a:cubicBezTo>
                <a:cubicBezTo>
                  <a:pt x="95167" y="44507"/>
                  <a:pt x="100140" y="49479"/>
                  <a:pt x="100140" y="55633"/>
                </a:cubicBezTo>
                <a:close/>
                <a:moveTo>
                  <a:pt x="144646" y="55633"/>
                </a:moveTo>
                <a:lnTo>
                  <a:pt x="144646" y="77886"/>
                </a:lnTo>
                <a:cubicBezTo>
                  <a:pt x="144646" y="84041"/>
                  <a:pt x="139674" y="89013"/>
                  <a:pt x="133520" y="89013"/>
                </a:cubicBezTo>
                <a:cubicBezTo>
                  <a:pt x="127365" y="89013"/>
                  <a:pt x="122393" y="84041"/>
                  <a:pt x="122393" y="77886"/>
                </a:cubicBezTo>
                <a:lnTo>
                  <a:pt x="122393" y="55633"/>
                </a:lnTo>
                <a:cubicBezTo>
                  <a:pt x="122393" y="49479"/>
                  <a:pt x="127365" y="44507"/>
                  <a:pt x="133520" y="44507"/>
                </a:cubicBezTo>
                <a:cubicBezTo>
                  <a:pt x="139674" y="44507"/>
                  <a:pt x="144646" y="49479"/>
                  <a:pt x="144646" y="55633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8864096" y="7093224"/>
            <a:ext cx="3104329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de la Mémoire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64096" y="7315756"/>
            <a:ext cx="3104329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Optimisée pour des datasets de grande taille.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541424" y="7671808"/>
            <a:ext cx="155773" cy="178026"/>
          </a:xfrm>
          <a:custGeom>
            <a:avLst/>
            <a:gdLst/>
            <a:ahLst/>
            <a:cxnLst/>
            <a:rect l="l" t="t" r="r" b="b"/>
            <a:pathLst>
              <a:path w="155773" h="178026">
                <a:moveTo>
                  <a:pt x="155773" y="71558"/>
                </a:moveTo>
                <a:cubicBezTo>
                  <a:pt x="150627" y="74966"/>
                  <a:pt x="144716" y="77713"/>
                  <a:pt x="138561" y="79903"/>
                </a:cubicBezTo>
                <a:cubicBezTo>
                  <a:pt x="122219" y="85745"/>
                  <a:pt x="100766" y="89013"/>
                  <a:pt x="77886" y="89013"/>
                </a:cubicBezTo>
                <a:cubicBezTo>
                  <a:pt x="55007" y="89013"/>
                  <a:pt x="33519" y="85710"/>
                  <a:pt x="17211" y="79903"/>
                </a:cubicBezTo>
                <a:cubicBezTo>
                  <a:pt x="11092" y="77713"/>
                  <a:pt x="5146" y="74966"/>
                  <a:pt x="0" y="71558"/>
                </a:cubicBezTo>
                <a:lnTo>
                  <a:pt x="0" y="100140"/>
                </a:lnTo>
                <a:cubicBezTo>
                  <a:pt x="0" y="115508"/>
                  <a:pt x="34875" y="127956"/>
                  <a:pt x="77886" y="127956"/>
                </a:cubicBezTo>
                <a:cubicBezTo>
                  <a:pt x="120898" y="127956"/>
                  <a:pt x="155773" y="115508"/>
                  <a:pt x="155773" y="100140"/>
                </a:cubicBezTo>
                <a:lnTo>
                  <a:pt x="155773" y="71558"/>
                </a:lnTo>
                <a:close/>
                <a:moveTo>
                  <a:pt x="155773" y="44507"/>
                </a:moveTo>
                <a:lnTo>
                  <a:pt x="155773" y="27817"/>
                </a:lnTo>
                <a:cubicBezTo>
                  <a:pt x="155773" y="12448"/>
                  <a:pt x="120898" y="0"/>
                  <a:pt x="77886" y="0"/>
                </a:cubicBezTo>
                <a:cubicBezTo>
                  <a:pt x="34875" y="0"/>
                  <a:pt x="0" y="12448"/>
                  <a:pt x="0" y="27817"/>
                </a:cubicBezTo>
                <a:lnTo>
                  <a:pt x="0" y="44507"/>
                </a:lnTo>
                <a:cubicBezTo>
                  <a:pt x="0" y="59875"/>
                  <a:pt x="34875" y="72323"/>
                  <a:pt x="77886" y="72323"/>
                </a:cubicBezTo>
                <a:cubicBezTo>
                  <a:pt x="120898" y="72323"/>
                  <a:pt x="155773" y="59875"/>
                  <a:pt x="155773" y="44507"/>
                </a:cubicBezTo>
                <a:close/>
                <a:moveTo>
                  <a:pt x="138561" y="135536"/>
                </a:moveTo>
                <a:cubicBezTo>
                  <a:pt x="122254" y="141343"/>
                  <a:pt x="100800" y="144646"/>
                  <a:pt x="77886" y="144646"/>
                </a:cubicBezTo>
                <a:cubicBezTo>
                  <a:pt x="54972" y="144646"/>
                  <a:pt x="33519" y="141343"/>
                  <a:pt x="17211" y="135536"/>
                </a:cubicBezTo>
                <a:cubicBezTo>
                  <a:pt x="11092" y="133346"/>
                  <a:pt x="5146" y="130599"/>
                  <a:pt x="0" y="127191"/>
                </a:cubicBezTo>
                <a:lnTo>
                  <a:pt x="0" y="150209"/>
                </a:lnTo>
                <a:cubicBezTo>
                  <a:pt x="0" y="165578"/>
                  <a:pt x="34875" y="178026"/>
                  <a:pt x="77886" y="178026"/>
                </a:cubicBezTo>
                <a:cubicBezTo>
                  <a:pt x="120898" y="178026"/>
                  <a:pt x="155773" y="165578"/>
                  <a:pt x="155773" y="150209"/>
                </a:cubicBezTo>
                <a:lnTo>
                  <a:pt x="155773" y="127191"/>
                </a:lnTo>
                <a:cubicBezTo>
                  <a:pt x="150627" y="130599"/>
                  <a:pt x="144716" y="133346"/>
                  <a:pt x="138561" y="135536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8864096" y="7627302"/>
            <a:ext cx="2926303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des Valeurs Manquantes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864096" y="7849834"/>
            <a:ext cx="2926303" cy="22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Traitement natif des données incomplètes.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227" y="427227"/>
            <a:ext cx="15486991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kern="0" spc="67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SYNTHÉTIQUE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7227" y="769009"/>
            <a:ext cx="15593798" cy="42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28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Comparaison Comparative des Trois Modèles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7227" y="1324405"/>
            <a:ext cx="854455" cy="42723"/>
          </a:xfrm>
          <a:custGeom>
            <a:avLst/>
            <a:gdLst/>
            <a:ahLst/>
            <a:cxnLst/>
            <a:rect l="l" t="t" r="r" b="b"/>
            <a:pathLst>
              <a:path w="854455" h="42723">
                <a:moveTo>
                  <a:pt x="0" y="0"/>
                </a:moveTo>
                <a:lnTo>
                  <a:pt x="854455" y="0"/>
                </a:lnTo>
                <a:lnTo>
                  <a:pt x="854455" y="42723"/>
                </a:lnTo>
                <a:lnTo>
                  <a:pt x="0" y="42723"/>
                </a:lnTo>
                <a:lnTo>
                  <a:pt x="0" y="0"/>
                </a:ln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27227" y="1602102"/>
            <a:ext cx="4987879" cy="4122744"/>
          </a:xfrm>
          <a:custGeom>
            <a:avLst/>
            <a:gdLst/>
            <a:ahLst/>
            <a:cxnLst/>
            <a:rect l="l" t="t" r="r" b="b"/>
            <a:pathLst>
              <a:path w="4987879" h="4122744">
                <a:moveTo>
                  <a:pt x="42723" y="0"/>
                </a:moveTo>
                <a:lnTo>
                  <a:pt x="4945156" y="0"/>
                </a:lnTo>
                <a:cubicBezTo>
                  <a:pt x="4968751" y="0"/>
                  <a:pt x="4987879" y="19128"/>
                  <a:pt x="4987879" y="42723"/>
                </a:cubicBezTo>
                <a:lnTo>
                  <a:pt x="4987879" y="4037279"/>
                </a:lnTo>
                <a:cubicBezTo>
                  <a:pt x="4987879" y="4084480"/>
                  <a:pt x="4949615" y="4122744"/>
                  <a:pt x="4902415" y="4122744"/>
                </a:cubicBezTo>
                <a:lnTo>
                  <a:pt x="85464" y="4122744"/>
                </a:lnTo>
                <a:cubicBezTo>
                  <a:pt x="38264" y="4122744"/>
                  <a:pt x="0" y="4084480"/>
                  <a:pt x="0" y="4037279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4084" dist="4272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27227" y="1602102"/>
            <a:ext cx="4987879" cy="42723"/>
          </a:xfrm>
          <a:custGeom>
            <a:avLst/>
            <a:gdLst/>
            <a:ahLst/>
            <a:cxnLst/>
            <a:rect l="l" t="t" r="r" b="b"/>
            <a:pathLst>
              <a:path w="4987879" h="42723">
                <a:moveTo>
                  <a:pt x="42723" y="0"/>
                </a:moveTo>
                <a:lnTo>
                  <a:pt x="4945156" y="0"/>
                </a:lnTo>
                <a:cubicBezTo>
                  <a:pt x="4968751" y="0"/>
                  <a:pt x="4987879" y="19128"/>
                  <a:pt x="4987879" y="42723"/>
                </a:cubicBezTo>
                <a:lnTo>
                  <a:pt x="4987879" y="42723"/>
                </a:lnTo>
                <a:lnTo>
                  <a:pt x="0" y="42723"/>
                </a:ln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80720" y="1837078"/>
            <a:ext cx="683564" cy="683564"/>
          </a:xfrm>
          <a:custGeom>
            <a:avLst/>
            <a:gdLst/>
            <a:ahLst/>
            <a:cxnLst/>
            <a:rect l="l" t="t" r="r" b="b"/>
            <a:pathLst>
              <a:path w="683564" h="683564">
                <a:moveTo>
                  <a:pt x="341782" y="0"/>
                </a:moveTo>
                <a:lnTo>
                  <a:pt x="341782" y="0"/>
                </a:lnTo>
                <a:cubicBezTo>
                  <a:pt x="530416" y="0"/>
                  <a:pt x="683564" y="153147"/>
                  <a:pt x="683564" y="341782"/>
                </a:cubicBezTo>
                <a:lnTo>
                  <a:pt x="683564" y="341782"/>
                </a:lnTo>
                <a:cubicBezTo>
                  <a:pt x="683564" y="530416"/>
                  <a:pt x="530416" y="683564"/>
                  <a:pt x="341782" y="683564"/>
                </a:cubicBezTo>
                <a:lnTo>
                  <a:pt x="341782" y="683564"/>
                </a:lnTo>
                <a:cubicBezTo>
                  <a:pt x="153147" y="683564"/>
                  <a:pt x="0" y="530416"/>
                  <a:pt x="0" y="341782"/>
                </a:cubicBezTo>
                <a:lnTo>
                  <a:pt x="0" y="341782"/>
                </a:lnTo>
                <a:cubicBezTo>
                  <a:pt x="0" y="153147"/>
                  <a:pt x="153147" y="0"/>
                  <a:pt x="341782" y="0"/>
                </a:cubicBezTo>
                <a:close/>
              </a:path>
            </a:pathLst>
          </a:cu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94334" y="2050691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32042" y="32042"/>
                </a:moveTo>
                <a:cubicBezTo>
                  <a:pt x="32042" y="23180"/>
                  <a:pt x="24883" y="16021"/>
                  <a:pt x="16021" y="16021"/>
                </a:cubicBezTo>
                <a:cubicBezTo>
                  <a:pt x="7159" y="16021"/>
                  <a:pt x="0" y="23180"/>
                  <a:pt x="0" y="32042"/>
                </a:cubicBezTo>
                <a:lnTo>
                  <a:pt x="0" y="200263"/>
                </a:lnTo>
                <a:cubicBezTo>
                  <a:pt x="0" y="222392"/>
                  <a:pt x="17924" y="240315"/>
                  <a:pt x="40053" y="240315"/>
                </a:cubicBezTo>
                <a:lnTo>
                  <a:pt x="240315" y="240315"/>
                </a:lnTo>
                <a:cubicBezTo>
                  <a:pt x="249177" y="240315"/>
                  <a:pt x="256336" y="233156"/>
                  <a:pt x="256336" y="224294"/>
                </a:cubicBezTo>
                <a:cubicBezTo>
                  <a:pt x="256336" y="215433"/>
                  <a:pt x="249177" y="208273"/>
                  <a:pt x="240315" y="208273"/>
                </a:cubicBezTo>
                <a:lnTo>
                  <a:pt x="40053" y="208273"/>
                </a:lnTo>
                <a:cubicBezTo>
                  <a:pt x="35647" y="208273"/>
                  <a:pt x="32042" y="204669"/>
                  <a:pt x="32042" y="200263"/>
                </a:cubicBezTo>
                <a:lnTo>
                  <a:pt x="32042" y="32042"/>
                </a:lnTo>
                <a:close/>
                <a:moveTo>
                  <a:pt x="235609" y="75399"/>
                </a:moveTo>
                <a:cubicBezTo>
                  <a:pt x="241867" y="69141"/>
                  <a:pt x="241867" y="58977"/>
                  <a:pt x="235609" y="52719"/>
                </a:cubicBezTo>
                <a:cubicBezTo>
                  <a:pt x="229351" y="46461"/>
                  <a:pt x="219188" y="46461"/>
                  <a:pt x="212929" y="52719"/>
                </a:cubicBezTo>
                <a:lnTo>
                  <a:pt x="160210" y="105488"/>
                </a:lnTo>
                <a:lnTo>
                  <a:pt x="131473" y="76801"/>
                </a:lnTo>
                <a:cubicBezTo>
                  <a:pt x="125214" y="70543"/>
                  <a:pt x="115051" y="70543"/>
                  <a:pt x="108793" y="76801"/>
                </a:cubicBezTo>
                <a:lnTo>
                  <a:pt x="60730" y="124864"/>
                </a:lnTo>
                <a:cubicBezTo>
                  <a:pt x="54471" y="131122"/>
                  <a:pt x="54471" y="141285"/>
                  <a:pt x="60730" y="147544"/>
                </a:cubicBezTo>
                <a:cubicBezTo>
                  <a:pt x="66988" y="153802"/>
                  <a:pt x="77151" y="153802"/>
                  <a:pt x="83409" y="147544"/>
                </a:cubicBezTo>
                <a:lnTo>
                  <a:pt x="120158" y="110795"/>
                </a:lnTo>
                <a:lnTo>
                  <a:pt x="148895" y="139533"/>
                </a:lnTo>
                <a:cubicBezTo>
                  <a:pt x="155154" y="145791"/>
                  <a:pt x="165317" y="145791"/>
                  <a:pt x="171575" y="139533"/>
                </a:cubicBezTo>
                <a:lnTo>
                  <a:pt x="235659" y="7544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87438" y="2648809"/>
            <a:ext cx="4667459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Régression Linéaire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459" y="2990591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7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Interprétable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841" y="3375096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</a:rPr>
              <a:t>RMSE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841" y="3887769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(R²)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7438" y="4188163"/>
            <a:ext cx="4688820" cy="3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018" b="1" dirty="0">
                <a:solidFill>
                  <a:srgbClr val="7F8C8D"/>
                </a:solidFill>
                <a:latin typeface="Quattrocento Sans" pitchFamily="34" charset="0"/>
              </a:rPr>
              <a:t>-9,00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841" y="4614055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Interprétabilité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841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841" y="5126728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Interactions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841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811732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982623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153514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1324405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631390" y="1602102"/>
            <a:ext cx="4987879" cy="4122744"/>
          </a:xfrm>
          <a:custGeom>
            <a:avLst/>
            <a:gdLst/>
            <a:ahLst/>
            <a:cxnLst/>
            <a:rect l="l" t="t" r="r" b="b"/>
            <a:pathLst>
              <a:path w="4987879" h="4122744">
                <a:moveTo>
                  <a:pt x="42723" y="0"/>
                </a:moveTo>
                <a:lnTo>
                  <a:pt x="4945156" y="0"/>
                </a:lnTo>
                <a:cubicBezTo>
                  <a:pt x="4968751" y="0"/>
                  <a:pt x="4987879" y="19128"/>
                  <a:pt x="4987879" y="42723"/>
                </a:cubicBezTo>
                <a:lnTo>
                  <a:pt x="4987879" y="4037279"/>
                </a:lnTo>
                <a:cubicBezTo>
                  <a:pt x="4987879" y="4084480"/>
                  <a:pt x="4949615" y="4122744"/>
                  <a:pt x="4902415" y="4122744"/>
                </a:cubicBezTo>
                <a:lnTo>
                  <a:pt x="85464" y="4122744"/>
                </a:lnTo>
                <a:cubicBezTo>
                  <a:pt x="38264" y="4122744"/>
                  <a:pt x="0" y="4084480"/>
                  <a:pt x="0" y="4037279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4084" dist="4272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631390" y="1602102"/>
            <a:ext cx="4987879" cy="42723"/>
          </a:xfrm>
          <a:custGeom>
            <a:avLst/>
            <a:gdLst/>
            <a:ahLst/>
            <a:cxnLst/>
            <a:rect l="l" t="t" r="r" b="b"/>
            <a:pathLst>
              <a:path w="4987879" h="42723">
                <a:moveTo>
                  <a:pt x="42723" y="0"/>
                </a:moveTo>
                <a:lnTo>
                  <a:pt x="4945156" y="0"/>
                </a:lnTo>
                <a:cubicBezTo>
                  <a:pt x="4968751" y="0"/>
                  <a:pt x="4987879" y="19128"/>
                  <a:pt x="4987879" y="42723"/>
                </a:cubicBezTo>
                <a:lnTo>
                  <a:pt x="4987879" y="42723"/>
                </a:lnTo>
                <a:lnTo>
                  <a:pt x="0" y="42723"/>
                </a:ln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7784883" y="1837078"/>
            <a:ext cx="683564" cy="683564"/>
          </a:xfrm>
          <a:custGeom>
            <a:avLst/>
            <a:gdLst/>
            <a:ahLst/>
            <a:cxnLst/>
            <a:rect l="l" t="t" r="r" b="b"/>
            <a:pathLst>
              <a:path w="683564" h="683564">
                <a:moveTo>
                  <a:pt x="341782" y="0"/>
                </a:moveTo>
                <a:lnTo>
                  <a:pt x="341782" y="0"/>
                </a:lnTo>
                <a:cubicBezTo>
                  <a:pt x="530416" y="0"/>
                  <a:pt x="683564" y="153147"/>
                  <a:pt x="683564" y="341782"/>
                </a:cubicBezTo>
                <a:lnTo>
                  <a:pt x="683564" y="341782"/>
                </a:lnTo>
                <a:cubicBezTo>
                  <a:pt x="683564" y="530416"/>
                  <a:pt x="530416" y="683564"/>
                  <a:pt x="341782" y="683564"/>
                </a:cubicBezTo>
                <a:lnTo>
                  <a:pt x="341782" y="683564"/>
                </a:lnTo>
                <a:cubicBezTo>
                  <a:pt x="153147" y="683564"/>
                  <a:pt x="0" y="530416"/>
                  <a:pt x="0" y="341782"/>
                </a:cubicBezTo>
                <a:lnTo>
                  <a:pt x="0" y="341782"/>
                </a:lnTo>
                <a:cubicBezTo>
                  <a:pt x="0" y="153147"/>
                  <a:pt x="153147" y="0"/>
                  <a:pt x="341782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8014518" y="2050691"/>
            <a:ext cx="224294" cy="256336"/>
          </a:xfrm>
          <a:custGeom>
            <a:avLst/>
            <a:gdLst/>
            <a:ahLst/>
            <a:cxnLst/>
            <a:rect l="l" t="t" r="r" b="b"/>
            <a:pathLst>
              <a:path w="224294" h="256336">
                <a:moveTo>
                  <a:pt x="112147" y="-16021"/>
                </a:moveTo>
                <a:cubicBezTo>
                  <a:pt x="115652" y="-16021"/>
                  <a:pt x="119006" y="-14469"/>
                  <a:pt x="121309" y="-11765"/>
                </a:cubicBezTo>
                <a:lnTo>
                  <a:pt x="189399" y="68340"/>
                </a:lnTo>
                <a:cubicBezTo>
                  <a:pt x="192453" y="71894"/>
                  <a:pt x="193103" y="76901"/>
                  <a:pt x="191151" y="81157"/>
                </a:cubicBezTo>
                <a:cubicBezTo>
                  <a:pt x="189198" y="85412"/>
                  <a:pt x="184943" y="88116"/>
                  <a:pt x="180237" y="88116"/>
                </a:cubicBezTo>
                <a:lnTo>
                  <a:pt x="167770" y="88116"/>
                </a:lnTo>
                <a:lnTo>
                  <a:pt x="205420" y="132424"/>
                </a:lnTo>
                <a:cubicBezTo>
                  <a:pt x="208474" y="135978"/>
                  <a:pt x="209124" y="140985"/>
                  <a:pt x="207172" y="145241"/>
                </a:cubicBezTo>
                <a:cubicBezTo>
                  <a:pt x="205219" y="149496"/>
                  <a:pt x="200964" y="152200"/>
                  <a:pt x="196258" y="152200"/>
                </a:cubicBezTo>
                <a:lnTo>
                  <a:pt x="176982" y="152200"/>
                </a:lnTo>
                <a:lnTo>
                  <a:pt x="221441" y="204518"/>
                </a:lnTo>
                <a:cubicBezTo>
                  <a:pt x="224495" y="208073"/>
                  <a:pt x="225145" y="213080"/>
                  <a:pt x="223193" y="217335"/>
                </a:cubicBezTo>
                <a:cubicBezTo>
                  <a:pt x="221240" y="221591"/>
                  <a:pt x="216985" y="224294"/>
                  <a:pt x="212279" y="224294"/>
                </a:cubicBezTo>
                <a:lnTo>
                  <a:pt x="128168" y="224294"/>
                </a:lnTo>
                <a:lnTo>
                  <a:pt x="128168" y="256336"/>
                </a:lnTo>
                <a:cubicBezTo>
                  <a:pt x="128168" y="265198"/>
                  <a:pt x="121009" y="272357"/>
                  <a:pt x="112147" y="272357"/>
                </a:cubicBezTo>
                <a:cubicBezTo>
                  <a:pt x="103286" y="272357"/>
                  <a:pt x="96126" y="265198"/>
                  <a:pt x="96126" y="256336"/>
                </a:cubicBezTo>
                <a:lnTo>
                  <a:pt x="96126" y="224294"/>
                </a:lnTo>
                <a:lnTo>
                  <a:pt x="12016" y="224294"/>
                </a:lnTo>
                <a:cubicBezTo>
                  <a:pt x="7310" y="224294"/>
                  <a:pt x="3054" y="221591"/>
                  <a:pt x="1101" y="217335"/>
                </a:cubicBezTo>
                <a:cubicBezTo>
                  <a:pt x="-851" y="213080"/>
                  <a:pt x="-200" y="208073"/>
                  <a:pt x="2854" y="204518"/>
                </a:cubicBezTo>
                <a:lnTo>
                  <a:pt x="47312" y="152200"/>
                </a:lnTo>
                <a:lnTo>
                  <a:pt x="28037" y="152200"/>
                </a:lnTo>
                <a:cubicBezTo>
                  <a:pt x="23331" y="152200"/>
                  <a:pt x="19075" y="149496"/>
                  <a:pt x="17122" y="145241"/>
                </a:cubicBezTo>
                <a:cubicBezTo>
                  <a:pt x="15170" y="140985"/>
                  <a:pt x="15821" y="135978"/>
                  <a:pt x="18875" y="132424"/>
                </a:cubicBezTo>
                <a:lnTo>
                  <a:pt x="56524" y="88116"/>
                </a:lnTo>
                <a:lnTo>
                  <a:pt x="44058" y="88116"/>
                </a:lnTo>
                <a:cubicBezTo>
                  <a:pt x="39352" y="88116"/>
                  <a:pt x="35096" y="85412"/>
                  <a:pt x="33143" y="81157"/>
                </a:cubicBezTo>
                <a:cubicBezTo>
                  <a:pt x="31191" y="76901"/>
                  <a:pt x="31842" y="71894"/>
                  <a:pt x="34896" y="68340"/>
                </a:cubicBezTo>
                <a:lnTo>
                  <a:pt x="102985" y="-11765"/>
                </a:lnTo>
                <a:cubicBezTo>
                  <a:pt x="105288" y="-14469"/>
                  <a:pt x="108643" y="-16021"/>
                  <a:pt x="112147" y="-160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791601" y="2648809"/>
            <a:ext cx="4667459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07622" y="2990591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7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Non Linéaire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45004" y="3375096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</a:rPr>
              <a:t>RMSE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45004" y="3887769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(R²)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45004" y="4144105"/>
            <a:ext cx="4688820" cy="3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1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0,927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45004" y="4614055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Interprétabilité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845004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015895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186786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357677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528568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845004" y="5126728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Interactions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845004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6015895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6186786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6357677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6528568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10835553" y="1602102"/>
            <a:ext cx="4987879" cy="4122744"/>
          </a:xfrm>
          <a:custGeom>
            <a:avLst/>
            <a:gdLst/>
            <a:ahLst/>
            <a:cxnLst/>
            <a:rect l="l" t="t" r="r" b="b"/>
            <a:pathLst>
              <a:path w="4987879" h="4122744">
                <a:moveTo>
                  <a:pt x="42723" y="0"/>
                </a:moveTo>
                <a:lnTo>
                  <a:pt x="4945156" y="0"/>
                </a:lnTo>
                <a:cubicBezTo>
                  <a:pt x="4968751" y="0"/>
                  <a:pt x="4987879" y="19128"/>
                  <a:pt x="4987879" y="42723"/>
                </a:cubicBezTo>
                <a:lnTo>
                  <a:pt x="4987879" y="4037279"/>
                </a:lnTo>
                <a:cubicBezTo>
                  <a:pt x="4987879" y="4084480"/>
                  <a:pt x="4949615" y="4122744"/>
                  <a:pt x="4902415" y="4122744"/>
                </a:cubicBezTo>
                <a:lnTo>
                  <a:pt x="85464" y="4122744"/>
                </a:lnTo>
                <a:cubicBezTo>
                  <a:pt x="38264" y="4122744"/>
                  <a:pt x="0" y="4084480"/>
                  <a:pt x="0" y="4037279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4084" dist="4272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10835553" y="1602102"/>
            <a:ext cx="4987879" cy="42723"/>
          </a:xfrm>
          <a:custGeom>
            <a:avLst/>
            <a:gdLst/>
            <a:ahLst/>
            <a:cxnLst/>
            <a:rect l="l" t="t" r="r" b="b"/>
            <a:pathLst>
              <a:path w="4987879" h="42723">
                <a:moveTo>
                  <a:pt x="42723" y="0"/>
                </a:moveTo>
                <a:lnTo>
                  <a:pt x="4945156" y="0"/>
                </a:lnTo>
                <a:cubicBezTo>
                  <a:pt x="4968751" y="0"/>
                  <a:pt x="4987879" y="19128"/>
                  <a:pt x="4987879" y="42723"/>
                </a:cubicBezTo>
                <a:lnTo>
                  <a:pt x="4987879" y="42723"/>
                </a:lnTo>
                <a:lnTo>
                  <a:pt x="0" y="42723"/>
                </a:ln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12989046" y="1837078"/>
            <a:ext cx="683564" cy="683564"/>
          </a:xfrm>
          <a:custGeom>
            <a:avLst/>
            <a:gdLst/>
            <a:ahLst/>
            <a:cxnLst/>
            <a:rect l="l" t="t" r="r" b="b"/>
            <a:pathLst>
              <a:path w="683564" h="683564">
                <a:moveTo>
                  <a:pt x="341782" y="0"/>
                </a:moveTo>
                <a:lnTo>
                  <a:pt x="341782" y="0"/>
                </a:lnTo>
                <a:cubicBezTo>
                  <a:pt x="530416" y="0"/>
                  <a:pt x="683564" y="153147"/>
                  <a:pt x="683564" y="341782"/>
                </a:cubicBezTo>
                <a:lnTo>
                  <a:pt x="683564" y="341782"/>
                </a:lnTo>
                <a:cubicBezTo>
                  <a:pt x="683564" y="530416"/>
                  <a:pt x="530416" y="683564"/>
                  <a:pt x="341782" y="683564"/>
                </a:cubicBezTo>
                <a:lnTo>
                  <a:pt x="341782" y="683564"/>
                </a:lnTo>
                <a:cubicBezTo>
                  <a:pt x="153147" y="683564"/>
                  <a:pt x="0" y="530416"/>
                  <a:pt x="0" y="341782"/>
                </a:cubicBezTo>
                <a:lnTo>
                  <a:pt x="0" y="341782"/>
                </a:lnTo>
                <a:cubicBezTo>
                  <a:pt x="0" y="153147"/>
                  <a:pt x="153147" y="0"/>
                  <a:pt x="341782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13202660" y="2050691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64084" y="160210"/>
                </a:moveTo>
                <a:lnTo>
                  <a:pt x="12266" y="160210"/>
                </a:lnTo>
                <a:cubicBezTo>
                  <a:pt x="-200" y="160210"/>
                  <a:pt x="-7860" y="146642"/>
                  <a:pt x="-1452" y="135928"/>
                </a:cubicBezTo>
                <a:lnTo>
                  <a:pt x="25033" y="91770"/>
                </a:lnTo>
                <a:cubicBezTo>
                  <a:pt x="29389" y="84511"/>
                  <a:pt x="37199" y="80105"/>
                  <a:pt x="45660" y="80105"/>
                </a:cubicBezTo>
                <a:lnTo>
                  <a:pt x="93222" y="80105"/>
                </a:lnTo>
                <a:cubicBezTo>
                  <a:pt x="131322" y="15570"/>
                  <a:pt x="188147" y="12316"/>
                  <a:pt x="226147" y="17873"/>
                </a:cubicBezTo>
                <a:cubicBezTo>
                  <a:pt x="232555" y="18825"/>
                  <a:pt x="237562" y="23831"/>
                  <a:pt x="238463" y="30190"/>
                </a:cubicBezTo>
                <a:cubicBezTo>
                  <a:pt x="244020" y="68189"/>
                  <a:pt x="240766" y="125014"/>
                  <a:pt x="176231" y="163114"/>
                </a:cubicBezTo>
                <a:lnTo>
                  <a:pt x="176231" y="210676"/>
                </a:lnTo>
                <a:cubicBezTo>
                  <a:pt x="176231" y="219138"/>
                  <a:pt x="171825" y="226948"/>
                  <a:pt x="164566" y="231304"/>
                </a:cubicBezTo>
                <a:lnTo>
                  <a:pt x="120408" y="257788"/>
                </a:lnTo>
                <a:cubicBezTo>
                  <a:pt x="109744" y="264197"/>
                  <a:pt x="96126" y="256487"/>
                  <a:pt x="96126" y="244070"/>
                </a:cubicBezTo>
                <a:lnTo>
                  <a:pt x="96126" y="192252"/>
                </a:lnTo>
                <a:cubicBezTo>
                  <a:pt x="96126" y="174579"/>
                  <a:pt x="81757" y="160210"/>
                  <a:pt x="64084" y="160210"/>
                </a:cubicBezTo>
                <a:lnTo>
                  <a:pt x="64034" y="160210"/>
                </a:lnTo>
                <a:close/>
                <a:moveTo>
                  <a:pt x="200263" y="80105"/>
                </a:moveTo>
                <a:cubicBezTo>
                  <a:pt x="200263" y="66842"/>
                  <a:pt x="189495" y="56074"/>
                  <a:pt x="176231" y="56074"/>
                </a:cubicBezTo>
                <a:cubicBezTo>
                  <a:pt x="162968" y="56074"/>
                  <a:pt x="152200" y="66842"/>
                  <a:pt x="152200" y="80105"/>
                </a:cubicBezTo>
                <a:cubicBezTo>
                  <a:pt x="152200" y="93368"/>
                  <a:pt x="162968" y="104137"/>
                  <a:pt x="176231" y="104137"/>
                </a:cubicBezTo>
                <a:cubicBezTo>
                  <a:pt x="189495" y="104137"/>
                  <a:pt x="200263" y="93368"/>
                  <a:pt x="200263" y="8010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10995763" y="2648809"/>
            <a:ext cx="4667459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011784" y="2990591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7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049167" y="3375096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</a:rPr>
              <a:t>RMSE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049167" y="3887769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(R²)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049167" y="4144105"/>
            <a:ext cx="4688820" cy="3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18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0,938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049167" y="4614055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Interprétabilité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049167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1220058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1390949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1561840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1732731" y="487039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11049167" y="5126728"/>
            <a:ext cx="463541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Interactions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1049167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1220058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1390949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1561840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1732731" y="5383064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427227" y="5938460"/>
            <a:ext cx="7593966" cy="2776978"/>
          </a:xfrm>
          <a:custGeom>
            <a:avLst/>
            <a:gdLst/>
            <a:ahLst/>
            <a:cxnLst/>
            <a:rect l="l" t="t" r="r" b="b"/>
            <a:pathLst>
              <a:path w="7593966" h="2776978">
                <a:moveTo>
                  <a:pt x="85448" y="0"/>
                </a:moveTo>
                <a:lnTo>
                  <a:pt x="7508518" y="0"/>
                </a:lnTo>
                <a:cubicBezTo>
                  <a:pt x="7555710" y="0"/>
                  <a:pt x="7593966" y="38256"/>
                  <a:pt x="7593966" y="85448"/>
                </a:cubicBezTo>
                <a:lnTo>
                  <a:pt x="7593966" y="2691530"/>
                </a:lnTo>
                <a:cubicBezTo>
                  <a:pt x="7593966" y="2738721"/>
                  <a:pt x="7555710" y="2776978"/>
                  <a:pt x="7508518" y="2776978"/>
                </a:cubicBezTo>
                <a:lnTo>
                  <a:pt x="85448" y="2776978"/>
                </a:lnTo>
                <a:cubicBezTo>
                  <a:pt x="38256" y="2776978"/>
                  <a:pt x="0" y="2738721"/>
                  <a:pt x="0" y="2691530"/>
                </a:cubicBezTo>
                <a:lnTo>
                  <a:pt x="0" y="85448"/>
                </a:lnTo>
                <a:cubicBezTo>
                  <a:pt x="0" y="38288"/>
                  <a:pt x="38288" y="0"/>
                  <a:pt x="85448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495E"/>
              </a:gs>
            </a:gsLst>
            <a:lin ang="2700000" scaled="1"/>
          </a:gradFill>
          <a:ln/>
          <a:effectLst>
            <a:outerShdw blurRad="160210" dist="10680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667543" y="6205477"/>
            <a:ext cx="192252" cy="192252"/>
          </a:xfrm>
          <a:custGeom>
            <a:avLst/>
            <a:gdLst/>
            <a:ahLst/>
            <a:cxnLst/>
            <a:rect l="l" t="t" r="r" b="b"/>
            <a:pathLst>
              <a:path w="192252" h="192252">
                <a:moveTo>
                  <a:pt x="12016" y="12016"/>
                </a:moveTo>
                <a:cubicBezTo>
                  <a:pt x="18662" y="12016"/>
                  <a:pt x="24032" y="17385"/>
                  <a:pt x="24032" y="24032"/>
                </a:cubicBezTo>
                <a:lnTo>
                  <a:pt x="24032" y="150197"/>
                </a:lnTo>
                <a:cubicBezTo>
                  <a:pt x="24032" y="153501"/>
                  <a:pt x="26735" y="156205"/>
                  <a:pt x="30039" y="156205"/>
                </a:cubicBezTo>
                <a:lnTo>
                  <a:pt x="180237" y="156205"/>
                </a:lnTo>
                <a:cubicBezTo>
                  <a:pt x="186883" y="156205"/>
                  <a:pt x="192252" y="161575"/>
                  <a:pt x="192252" y="168221"/>
                </a:cubicBezTo>
                <a:cubicBezTo>
                  <a:pt x="192252" y="174867"/>
                  <a:pt x="186883" y="180237"/>
                  <a:pt x="180237" y="180237"/>
                </a:cubicBezTo>
                <a:lnTo>
                  <a:pt x="30039" y="180237"/>
                </a:lnTo>
                <a:cubicBezTo>
                  <a:pt x="13443" y="180237"/>
                  <a:pt x="0" y="166794"/>
                  <a:pt x="0" y="150197"/>
                </a:cubicBezTo>
                <a:lnTo>
                  <a:pt x="0" y="24032"/>
                </a:lnTo>
                <a:cubicBezTo>
                  <a:pt x="0" y="17385"/>
                  <a:pt x="5370" y="12016"/>
                  <a:pt x="12016" y="12016"/>
                </a:cubicBezTo>
                <a:close/>
                <a:moveTo>
                  <a:pt x="90118" y="36047"/>
                </a:moveTo>
                <a:cubicBezTo>
                  <a:pt x="92634" y="36047"/>
                  <a:pt x="95037" y="37099"/>
                  <a:pt x="96764" y="38976"/>
                </a:cubicBezTo>
                <a:lnTo>
                  <a:pt x="123462" y="68077"/>
                </a:lnTo>
                <a:lnTo>
                  <a:pt x="140810" y="50692"/>
                </a:lnTo>
                <a:cubicBezTo>
                  <a:pt x="144339" y="47162"/>
                  <a:pt x="150047" y="47162"/>
                  <a:pt x="153539" y="50692"/>
                </a:cubicBezTo>
                <a:lnTo>
                  <a:pt x="177571" y="74723"/>
                </a:lnTo>
                <a:cubicBezTo>
                  <a:pt x="179260" y="76413"/>
                  <a:pt x="180199" y="78703"/>
                  <a:pt x="180199" y="81106"/>
                </a:cubicBezTo>
                <a:lnTo>
                  <a:pt x="180199" y="123162"/>
                </a:lnTo>
                <a:cubicBezTo>
                  <a:pt x="180199" y="128156"/>
                  <a:pt x="176181" y="132173"/>
                  <a:pt x="171187" y="132173"/>
                </a:cubicBezTo>
                <a:lnTo>
                  <a:pt x="57037" y="132173"/>
                </a:lnTo>
                <a:cubicBezTo>
                  <a:pt x="52043" y="132173"/>
                  <a:pt x="48026" y="128156"/>
                  <a:pt x="48026" y="123162"/>
                </a:cubicBezTo>
                <a:lnTo>
                  <a:pt x="48026" y="81106"/>
                </a:lnTo>
                <a:cubicBezTo>
                  <a:pt x="48026" y="78853"/>
                  <a:pt x="48889" y="76676"/>
                  <a:pt x="50391" y="75023"/>
                </a:cubicBezTo>
                <a:lnTo>
                  <a:pt x="83434" y="38976"/>
                </a:lnTo>
                <a:cubicBezTo>
                  <a:pt x="85124" y="37099"/>
                  <a:pt x="87565" y="36047"/>
                  <a:pt x="90081" y="36047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886497" y="6152074"/>
            <a:ext cx="7017209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des Compromis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40841" y="6579301"/>
            <a:ext cx="7166739" cy="726286"/>
          </a:xfrm>
          <a:custGeom>
            <a:avLst/>
            <a:gdLst/>
            <a:ahLst/>
            <a:cxnLst/>
            <a:rect l="l" t="t" r="r" b="b"/>
            <a:pathLst>
              <a:path w="7166739" h="726286">
                <a:moveTo>
                  <a:pt x="42720" y="0"/>
                </a:moveTo>
                <a:lnTo>
                  <a:pt x="7124018" y="0"/>
                </a:lnTo>
                <a:cubicBezTo>
                  <a:pt x="7147612" y="0"/>
                  <a:pt x="7166739" y="19126"/>
                  <a:pt x="7166739" y="42720"/>
                </a:cubicBezTo>
                <a:lnTo>
                  <a:pt x="7166739" y="683566"/>
                </a:lnTo>
                <a:cubicBezTo>
                  <a:pt x="7166739" y="707160"/>
                  <a:pt x="7147612" y="726286"/>
                  <a:pt x="7124018" y="726286"/>
                </a:cubicBezTo>
                <a:lnTo>
                  <a:pt x="42720" y="726286"/>
                </a:lnTo>
                <a:cubicBezTo>
                  <a:pt x="19126" y="726286"/>
                  <a:pt x="0" y="707160"/>
                  <a:pt x="0" y="683566"/>
                </a:cubicBezTo>
                <a:lnTo>
                  <a:pt x="0" y="42720"/>
                </a:lnTo>
                <a:cubicBezTo>
                  <a:pt x="0" y="19142"/>
                  <a:pt x="19142" y="0"/>
                  <a:pt x="427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769009" y="6707469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vs Simplicité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769009" y="6963806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offre le meilleur compromis.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40841" y="7433756"/>
            <a:ext cx="7166739" cy="726286"/>
          </a:xfrm>
          <a:custGeom>
            <a:avLst/>
            <a:gdLst/>
            <a:ahLst/>
            <a:cxnLst/>
            <a:rect l="l" t="t" r="r" b="b"/>
            <a:pathLst>
              <a:path w="7166739" h="726286">
                <a:moveTo>
                  <a:pt x="42720" y="0"/>
                </a:moveTo>
                <a:lnTo>
                  <a:pt x="7124018" y="0"/>
                </a:lnTo>
                <a:cubicBezTo>
                  <a:pt x="7147612" y="0"/>
                  <a:pt x="7166739" y="19126"/>
                  <a:pt x="7166739" y="42720"/>
                </a:cubicBezTo>
                <a:lnTo>
                  <a:pt x="7166739" y="683566"/>
                </a:lnTo>
                <a:cubicBezTo>
                  <a:pt x="7166739" y="707160"/>
                  <a:pt x="7147612" y="726286"/>
                  <a:pt x="7124018" y="726286"/>
                </a:cubicBezTo>
                <a:lnTo>
                  <a:pt x="42720" y="726286"/>
                </a:lnTo>
                <a:cubicBezTo>
                  <a:pt x="19126" y="726286"/>
                  <a:pt x="0" y="707160"/>
                  <a:pt x="0" y="683566"/>
                </a:cubicBezTo>
                <a:lnTo>
                  <a:pt x="0" y="42720"/>
                </a:lnTo>
                <a:cubicBezTo>
                  <a:pt x="0" y="19142"/>
                  <a:pt x="19142" y="0"/>
                  <a:pt x="427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769009" y="7561924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E7A4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Interprétabilité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769009" y="7818260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linéaire &gt; Random Forest &gt; XGBoost (avec SHAP).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8254833" y="5938460"/>
            <a:ext cx="7572604" cy="2776978"/>
          </a:xfrm>
          <a:custGeom>
            <a:avLst/>
            <a:gdLst/>
            <a:ahLst/>
            <a:cxnLst/>
            <a:rect l="l" t="t" r="r" b="b"/>
            <a:pathLst>
              <a:path w="7572604" h="2776978">
                <a:moveTo>
                  <a:pt x="42723" y="0"/>
                </a:moveTo>
                <a:lnTo>
                  <a:pt x="7487157" y="0"/>
                </a:lnTo>
                <a:cubicBezTo>
                  <a:pt x="7534348" y="0"/>
                  <a:pt x="7572604" y="38256"/>
                  <a:pt x="7572604" y="85448"/>
                </a:cubicBezTo>
                <a:lnTo>
                  <a:pt x="7572604" y="2691530"/>
                </a:lnTo>
                <a:cubicBezTo>
                  <a:pt x="7572604" y="2738721"/>
                  <a:pt x="7534348" y="2776978"/>
                  <a:pt x="7487157" y="2776978"/>
                </a:cubicBezTo>
                <a:lnTo>
                  <a:pt x="42723" y="2776978"/>
                </a:lnTo>
                <a:cubicBezTo>
                  <a:pt x="19128" y="2776978"/>
                  <a:pt x="0" y="2757850"/>
                  <a:pt x="0" y="2734255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2042" dist="1068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8254833" y="5938460"/>
            <a:ext cx="42723" cy="2776978"/>
          </a:xfrm>
          <a:custGeom>
            <a:avLst/>
            <a:gdLst/>
            <a:ahLst/>
            <a:cxnLst/>
            <a:rect l="l" t="t" r="r" b="b"/>
            <a:pathLst>
              <a:path w="42723" h="2776978">
                <a:moveTo>
                  <a:pt x="42723" y="0"/>
                </a:moveTo>
                <a:lnTo>
                  <a:pt x="42723" y="0"/>
                </a:lnTo>
                <a:lnTo>
                  <a:pt x="42723" y="2776978"/>
                </a:lnTo>
                <a:lnTo>
                  <a:pt x="42723" y="2776978"/>
                </a:lnTo>
                <a:cubicBezTo>
                  <a:pt x="19128" y="2776978"/>
                  <a:pt x="0" y="2757850"/>
                  <a:pt x="0" y="2734255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8516510" y="6205477"/>
            <a:ext cx="192252" cy="192252"/>
          </a:xfrm>
          <a:custGeom>
            <a:avLst/>
            <a:gdLst/>
            <a:ahLst/>
            <a:cxnLst/>
            <a:rect l="l" t="t" r="r" b="b"/>
            <a:pathLst>
              <a:path w="192252" h="192252">
                <a:moveTo>
                  <a:pt x="0" y="96126"/>
                </a:moveTo>
                <a:cubicBezTo>
                  <a:pt x="0" y="43073"/>
                  <a:pt x="43073" y="0"/>
                  <a:pt x="96126" y="0"/>
                </a:cubicBezTo>
                <a:cubicBezTo>
                  <a:pt x="149180" y="0"/>
                  <a:pt x="192252" y="43073"/>
                  <a:pt x="192252" y="96126"/>
                </a:cubicBezTo>
                <a:cubicBezTo>
                  <a:pt x="192252" y="149180"/>
                  <a:pt x="149180" y="192252"/>
                  <a:pt x="96126" y="192252"/>
                </a:cubicBezTo>
                <a:cubicBezTo>
                  <a:pt x="43073" y="192252"/>
                  <a:pt x="0" y="149180"/>
                  <a:pt x="0" y="96126"/>
                </a:cubicBezTo>
                <a:close/>
                <a:moveTo>
                  <a:pt x="108142" y="36047"/>
                </a:moveTo>
                <a:cubicBezTo>
                  <a:pt x="108142" y="29416"/>
                  <a:pt x="102758" y="24032"/>
                  <a:pt x="96126" y="24032"/>
                </a:cubicBezTo>
                <a:cubicBezTo>
                  <a:pt x="89494" y="24032"/>
                  <a:pt x="84110" y="29416"/>
                  <a:pt x="84110" y="36047"/>
                </a:cubicBezTo>
                <a:cubicBezTo>
                  <a:pt x="84110" y="42679"/>
                  <a:pt x="89494" y="48063"/>
                  <a:pt x="96126" y="48063"/>
                </a:cubicBezTo>
                <a:cubicBezTo>
                  <a:pt x="102758" y="48063"/>
                  <a:pt x="108142" y="42679"/>
                  <a:pt x="108142" y="36047"/>
                </a:cubicBezTo>
                <a:close/>
                <a:moveTo>
                  <a:pt x="96126" y="156205"/>
                </a:moveTo>
                <a:cubicBezTo>
                  <a:pt x="109381" y="156205"/>
                  <a:pt x="120158" y="145428"/>
                  <a:pt x="120158" y="132173"/>
                </a:cubicBezTo>
                <a:cubicBezTo>
                  <a:pt x="120158" y="126090"/>
                  <a:pt x="117905" y="120496"/>
                  <a:pt x="114150" y="116290"/>
                </a:cubicBezTo>
                <a:lnTo>
                  <a:pt x="140247" y="64134"/>
                </a:lnTo>
                <a:cubicBezTo>
                  <a:pt x="142462" y="59666"/>
                  <a:pt x="140660" y="54259"/>
                  <a:pt x="136229" y="52043"/>
                </a:cubicBezTo>
                <a:cubicBezTo>
                  <a:pt x="131798" y="49828"/>
                  <a:pt x="126353" y="51630"/>
                  <a:pt x="124138" y="56061"/>
                </a:cubicBezTo>
                <a:lnTo>
                  <a:pt x="98041" y="108217"/>
                </a:lnTo>
                <a:cubicBezTo>
                  <a:pt x="97403" y="108179"/>
                  <a:pt x="96764" y="108142"/>
                  <a:pt x="96126" y="108142"/>
                </a:cubicBezTo>
                <a:cubicBezTo>
                  <a:pt x="82871" y="108142"/>
                  <a:pt x="72095" y="118919"/>
                  <a:pt x="72095" y="132173"/>
                </a:cubicBezTo>
                <a:cubicBezTo>
                  <a:pt x="72095" y="145428"/>
                  <a:pt x="82871" y="156205"/>
                  <a:pt x="96126" y="156205"/>
                </a:cubicBezTo>
                <a:close/>
                <a:moveTo>
                  <a:pt x="66087" y="54071"/>
                </a:moveTo>
                <a:cubicBezTo>
                  <a:pt x="66087" y="47439"/>
                  <a:pt x="60703" y="42055"/>
                  <a:pt x="54071" y="42055"/>
                </a:cubicBezTo>
                <a:cubicBezTo>
                  <a:pt x="47439" y="42055"/>
                  <a:pt x="42055" y="47439"/>
                  <a:pt x="42055" y="54071"/>
                </a:cubicBezTo>
                <a:cubicBezTo>
                  <a:pt x="42055" y="60703"/>
                  <a:pt x="47439" y="66087"/>
                  <a:pt x="54071" y="66087"/>
                </a:cubicBezTo>
                <a:cubicBezTo>
                  <a:pt x="60703" y="66087"/>
                  <a:pt x="66087" y="60703"/>
                  <a:pt x="66087" y="54071"/>
                </a:cubicBezTo>
                <a:close/>
                <a:moveTo>
                  <a:pt x="36047" y="108142"/>
                </a:moveTo>
                <a:cubicBezTo>
                  <a:pt x="42679" y="108142"/>
                  <a:pt x="48063" y="102758"/>
                  <a:pt x="48063" y="96126"/>
                </a:cubicBezTo>
                <a:cubicBezTo>
                  <a:pt x="48063" y="89494"/>
                  <a:pt x="42679" y="84110"/>
                  <a:pt x="36047" y="84110"/>
                </a:cubicBezTo>
                <a:cubicBezTo>
                  <a:pt x="29416" y="84110"/>
                  <a:pt x="24032" y="89494"/>
                  <a:pt x="24032" y="96126"/>
                </a:cubicBezTo>
                <a:cubicBezTo>
                  <a:pt x="24032" y="102758"/>
                  <a:pt x="29416" y="108142"/>
                  <a:pt x="36047" y="108142"/>
                </a:cubicBezTo>
                <a:close/>
                <a:moveTo>
                  <a:pt x="168221" y="96126"/>
                </a:moveTo>
                <a:cubicBezTo>
                  <a:pt x="168221" y="89494"/>
                  <a:pt x="162837" y="84110"/>
                  <a:pt x="156205" y="84110"/>
                </a:cubicBezTo>
                <a:cubicBezTo>
                  <a:pt x="149573" y="84110"/>
                  <a:pt x="144189" y="89494"/>
                  <a:pt x="144189" y="96126"/>
                </a:cubicBezTo>
                <a:cubicBezTo>
                  <a:pt x="144189" y="102758"/>
                  <a:pt x="149573" y="108142"/>
                  <a:pt x="156205" y="108142"/>
                </a:cubicBezTo>
                <a:cubicBezTo>
                  <a:pt x="162837" y="108142"/>
                  <a:pt x="168221" y="102758"/>
                  <a:pt x="168221" y="96126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8735464" y="6152074"/>
            <a:ext cx="6974486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d'Entraînement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8489808" y="6579301"/>
            <a:ext cx="7124016" cy="683564"/>
          </a:xfrm>
          <a:custGeom>
            <a:avLst/>
            <a:gdLst/>
            <a:ahLst/>
            <a:cxnLst/>
            <a:rect l="l" t="t" r="r" b="b"/>
            <a:pathLst>
              <a:path w="7124016" h="683564">
                <a:moveTo>
                  <a:pt x="42723" y="0"/>
                </a:moveTo>
                <a:lnTo>
                  <a:pt x="7081293" y="0"/>
                </a:lnTo>
                <a:cubicBezTo>
                  <a:pt x="7104888" y="0"/>
                  <a:pt x="7124016" y="19128"/>
                  <a:pt x="7124016" y="42723"/>
                </a:cubicBezTo>
                <a:lnTo>
                  <a:pt x="7124016" y="640841"/>
                </a:lnTo>
                <a:cubicBezTo>
                  <a:pt x="7124016" y="664436"/>
                  <a:pt x="7104888" y="683564"/>
                  <a:pt x="7081293" y="683564"/>
                </a:cubicBezTo>
                <a:lnTo>
                  <a:pt x="42723" y="683564"/>
                </a:lnTo>
                <a:cubicBezTo>
                  <a:pt x="19128" y="683564"/>
                  <a:pt x="0" y="664436"/>
                  <a:pt x="0" y="640841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8617976" y="6814276"/>
            <a:ext cx="1324405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Linéaire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14202806" y="6878360"/>
            <a:ext cx="683564" cy="85445"/>
          </a:xfrm>
          <a:custGeom>
            <a:avLst/>
            <a:gdLst/>
            <a:ahLst/>
            <a:cxnLst/>
            <a:rect l="l" t="t" r="r" b="b"/>
            <a:pathLst>
              <a:path w="683564" h="85445">
                <a:moveTo>
                  <a:pt x="42723" y="0"/>
                </a:moveTo>
                <a:lnTo>
                  <a:pt x="640841" y="0"/>
                </a:lnTo>
                <a:cubicBezTo>
                  <a:pt x="664436" y="0"/>
                  <a:pt x="683564" y="19128"/>
                  <a:pt x="683564" y="42723"/>
                </a:cubicBezTo>
                <a:lnTo>
                  <a:pt x="683564" y="42723"/>
                </a:lnTo>
                <a:cubicBezTo>
                  <a:pt x="683564" y="66318"/>
                  <a:pt x="664436" y="85445"/>
                  <a:pt x="640841" y="85445"/>
                </a:cubicBezTo>
                <a:lnTo>
                  <a:pt x="42723" y="85445"/>
                </a:lnTo>
                <a:cubicBezTo>
                  <a:pt x="19143" y="85445"/>
                  <a:pt x="0" y="66302"/>
                  <a:pt x="0" y="42723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4202806" y="6878360"/>
            <a:ext cx="64084" cy="85445"/>
          </a:xfrm>
          <a:custGeom>
            <a:avLst/>
            <a:gdLst/>
            <a:ahLst/>
            <a:cxnLst/>
            <a:rect l="l" t="t" r="r" b="b"/>
            <a:pathLst>
              <a:path w="64084" h="85445">
                <a:moveTo>
                  <a:pt x="32042" y="0"/>
                </a:moveTo>
                <a:lnTo>
                  <a:pt x="32042" y="0"/>
                </a:lnTo>
                <a:cubicBezTo>
                  <a:pt x="49727" y="0"/>
                  <a:pt x="64084" y="14358"/>
                  <a:pt x="64084" y="32042"/>
                </a:cubicBezTo>
                <a:lnTo>
                  <a:pt x="64084" y="53403"/>
                </a:lnTo>
                <a:cubicBezTo>
                  <a:pt x="64084" y="71100"/>
                  <a:pt x="49738" y="85445"/>
                  <a:pt x="32042" y="85445"/>
                </a:cubicBezTo>
                <a:lnTo>
                  <a:pt x="32042" y="85445"/>
                </a:lnTo>
                <a:cubicBezTo>
                  <a:pt x="14346" y="85445"/>
                  <a:pt x="0" y="71100"/>
                  <a:pt x="0" y="53403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14971815" y="6707469"/>
            <a:ext cx="587438" cy="42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Très rapide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489808" y="7391033"/>
            <a:ext cx="7124016" cy="469950"/>
          </a:xfrm>
          <a:custGeom>
            <a:avLst/>
            <a:gdLst/>
            <a:ahLst/>
            <a:cxnLst/>
            <a:rect l="l" t="t" r="r" b="b"/>
            <a:pathLst>
              <a:path w="7124016" h="469950">
                <a:moveTo>
                  <a:pt x="42723" y="0"/>
                </a:moveTo>
                <a:lnTo>
                  <a:pt x="7081293" y="0"/>
                </a:lnTo>
                <a:cubicBezTo>
                  <a:pt x="7104888" y="0"/>
                  <a:pt x="7124016" y="19128"/>
                  <a:pt x="7124016" y="42723"/>
                </a:cubicBezTo>
                <a:lnTo>
                  <a:pt x="7124016" y="427227"/>
                </a:lnTo>
                <a:cubicBezTo>
                  <a:pt x="7124016" y="450822"/>
                  <a:pt x="7104888" y="469950"/>
                  <a:pt x="7081293" y="469950"/>
                </a:cubicBezTo>
                <a:lnTo>
                  <a:pt x="42723" y="469950"/>
                </a:lnTo>
                <a:cubicBezTo>
                  <a:pt x="19128" y="469950"/>
                  <a:pt x="0" y="450822"/>
                  <a:pt x="0" y="427227"/>
                </a:cubicBezTo>
                <a:lnTo>
                  <a:pt x="0" y="42723"/>
                </a:lnTo>
                <a:cubicBezTo>
                  <a:pt x="0" y="19144"/>
                  <a:pt x="19144" y="0"/>
                  <a:pt x="42723" y="0"/>
                </a:cubicBezTo>
                <a:close/>
              </a:path>
            </a:pathLst>
          </a:custGeom>
          <a:solidFill>
            <a:srgbClr val="F7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8617976" y="7519201"/>
            <a:ext cx="1057388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14202806" y="7583285"/>
            <a:ext cx="683564" cy="85445"/>
          </a:xfrm>
          <a:custGeom>
            <a:avLst/>
            <a:gdLst/>
            <a:ahLst/>
            <a:cxnLst/>
            <a:rect l="l" t="t" r="r" b="b"/>
            <a:pathLst>
              <a:path w="683564" h="85445">
                <a:moveTo>
                  <a:pt x="42723" y="0"/>
                </a:moveTo>
                <a:lnTo>
                  <a:pt x="640841" y="0"/>
                </a:lnTo>
                <a:cubicBezTo>
                  <a:pt x="664436" y="0"/>
                  <a:pt x="683564" y="19128"/>
                  <a:pt x="683564" y="42723"/>
                </a:cubicBezTo>
                <a:lnTo>
                  <a:pt x="683564" y="42723"/>
                </a:lnTo>
                <a:cubicBezTo>
                  <a:pt x="683564" y="66318"/>
                  <a:pt x="664436" y="85445"/>
                  <a:pt x="640841" y="85445"/>
                </a:cubicBezTo>
                <a:lnTo>
                  <a:pt x="42723" y="85445"/>
                </a:lnTo>
                <a:cubicBezTo>
                  <a:pt x="19143" y="85445"/>
                  <a:pt x="0" y="66302"/>
                  <a:pt x="0" y="42723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4202806" y="7583285"/>
            <a:ext cx="277698" cy="85445"/>
          </a:xfrm>
          <a:custGeom>
            <a:avLst/>
            <a:gdLst/>
            <a:ahLst/>
            <a:cxnLst/>
            <a:rect l="l" t="t" r="r" b="b"/>
            <a:pathLst>
              <a:path w="277698" h="85445">
                <a:moveTo>
                  <a:pt x="42723" y="0"/>
                </a:moveTo>
                <a:lnTo>
                  <a:pt x="234975" y="0"/>
                </a:lnTo>
                <a:cubicBezTo>
                  <a:pt x="258570" y="0"/>
                  <a:pt x="277698" y="19128"/>
                  <a:pt x="277698" y="42723"/>
                </a:cubicBezTo>
                <a:lnTo>
                  <a:pt x="277698" y="42723"/>
                </a:lnTo>
                <a:cubicBezTo>
                  <a:pt x="277698" y="66318"/>
                  <a:pt x="258570" y="85445"/>
                  <a:pt x="234975" y="85445"/>
                </a:cubicBezTo>
                <a:lnTo>
                  <a:pt x="42723" y="85445"/>
                </a:lnTo>
                <a:cubicBezTo>
                  <a:pt x="19143" y="85445"/>
                  <a:pt x="0" y="66302"/>
                  <a:pt x="0" y="42723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14971815" y="7519201"/>
            <a:ext cx="587438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Modéré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8500489" y="7999832"/>
            <a:ext cx="7102654" cy="491311"/>
          </a:xfrm>
          <a:custGeom>
            <a:avLst/>
            <a:gdLst/>
            <a:ahLst/>
            <a:cxnLst/>
            <a:rect l="l" t="t" r="r" b="b"/>
            <a:pathLst>
              <a:path w="7102654" h="491311">
                <a:moveTo>
                  <a:pt x="42724" y="0"/>
                </a:moveTo>
                <a:lnTo>
                  <a:pt x="7059930" y="0"/>
                </a:lnTo>
                <a:cubicBezTo>
                  <a:pt x="7083526" y="0"/>
                  <a:pt x="7102654" y="19128"/>
                  <a:pt x="7102654" y="42724"/>
                </a:cubicBezTo>
                <a:lnTo>
                  <a:pt x="7102654" y="448587"/>
                </a:lnTo>
                <a:cubicBezTo>
                  <a:pt x="7102654" y="472183"/>
                  <a:pt x="7083526" y="491311"/>
                  <a:pt x="7059930" y="491311"/>
                </a:cubicBezTo>
                <a:lnTo>
                  <a:pt x="42724" y="491311"/>
                </a:lnTo>
                <a:cubicBezTo>
                  <a:pt x="19128" y="491311"/>
                  <a:pt x="0" y="472183"/>
                  <a:pt x="0" y="448587"/>
                </a:cubicBezTo>
                <a:lnTo>
                  <a:pt x="0" y="42724"/>
                </a:lnTo>
                <a:cubicBezTo>
                  <a:pt x="0" y="19128"/>
                  <a:pt x="19128" y="0"/>
                  <a:pt x="42724" y="0"/>
                </a:cubicBezTo>
                <a:close/>
              </a:path>
            </a:pathLst>
          </a:custGeom>
          <a:solidFill>
            <a:srgbClr val="E7A46F">
              <a:alpha val="20000"/>
            </a:srgbClr>
          </a:solidFill>
          <a:ln w="25400">
            <a:solidFill>
              <a:srgbClr val="E7A4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8639338" y="8138681"/>
            <a:ext cx="640841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14181444" y="8202765"/>
            <a:ext cx="683564" cy="85445"/>
          </a:xfrm>
          <a:custGeom>
            <a:avLst/>
            <a:gdLst/>
            <a:ahLst/>
            <a:cxnLst/>
            <a:rect l="l" t="t" r="r" b="b"/>
            <a:pathLst>
              <a:path w="683564" h="85445">
                <a:moveTo>
                  <a:pt x="42723" y="0"/>
                </a:moveTo>
                <a:lnTo>
                  <a:pt x="640841" y="0"/>
                </a:lnTo>
                <a:cubicBezTo>
                  <a:pt x="664436" y="0"/>
                  <a:pt x="683564" y="19128"/>
                  <a:pt x="683564" y="42723"/>
                </a:cubicBezTo>
                <a:lnTo>
                  <a:pt x="683564" y="42723"/>
                </a:lnTo>
                <a:cubicBezTo>
                  <a:pt x="683564" y="66318"/>
                  <a:pt x="664436" y="85445"/>
                  <a:pt x="640841" y="85445"/>
                </a:cubicBezTo>
                <a:lnTo>
                  <a:pt x="42723" y="85445"/>
                </a:lnTo>
                <a:cubicBezTo>
                  <a:pt x="19143" y="85445"/>
                  <a:pt x="0" y="66302"/>
                  <a:pt x="0" y="42723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4181444" y="8202765"/>
            <a:ext cx="480631" cy="85445"/>
          </a:xfrm>
          <a:custGeom>
            <a:avLst/>
            <a:gdLst/>
            <a:ahLst/>
            <a:cxnLst/>
            <a:rect l="l" t="t" r="r" b="b"/>
            <a:pathLst>
              <a:path w="480631" h="85445">
                <a:moveTo>
                  <a:pt x="42723" y="0"/>
                </a:moveTo>
                <a:lnTo>
                  <a:pt x="437908" y="0"/>
                </a:lnTo>
                <a:cubicBezTo>
                  <a:pt x="461503" y="0"/>
                  <a:pt x="480631" y="19128"/>
                  <a:pt x="480631" y="42723"/>
                </a:cubicBezTo>
                <a:lnTo>
                  <a:pt x="480631" y="42723"/>
                </a:lnTo>
                <a:cubicBezTo>
                  <a:pt x="480631" y="66318"/>
                  <a:pt x="461503" y="85445"/>
                  <a:pt x="437908" y="85445"/>
                </a:cubicBezTo>
                <a:lnTo>
                  <a:pt x="42723" y="85445"/>
                </a:lnTo>
                <a:cubicBezTo>
                  <a:pt x="19143" y="85445"/>
                  <a:pt x="0" y="66302"/>
                  <a:pt x="0" y="42723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E7A4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Text 108"/>
          <p:cNvSpPr/>
          <p:nvPr/>
        </p:nvSpPr>
        <p:spPr>
          <a:xfrm>
            <a:off x="14950453" y="8138681"/>
            <a:ext cx="587438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</a:t>
            </a:r>
            <a:endParaRPr lang="en-US" sz="1600" dirty="0"/>
          </a:p>
        </p:txBody>
      </p:sp>
      <p:sp>
        <p:nvSpPr>
          <p:cNvPr id="111" name="Text 16">
            <a:extLst>
              <a:ext uri="{FF2B5EF4-FFF2-40B4-BE49-F238E27FC236}">
                <a16:creationId xmlns:a16="http://schemas.microsoft.com/office/drawing/2014/main" id="{2E827670-982B-61FD-E029-D877648633F4}"/>
              </a:ext>
            </a:extLst>
          </p:cNvPr>
          <p:cNvSpPr/>
          <p:nvPr/>
        </p:nvSpPr>
        <p:spPr>
          <a:xfrm>
            <a:off x="603459" y="3575408"/>
            <a:ext cx="4688820" cy="3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018" b="1" dirty="0">
                <a:solidFill>
                  <a:srgbClr val="7F8C8D"/>
                </a:solidFill>
                <a:latin typeface="Quattrocento Sans" pitchFamily="34" charset="0"/>
              </a:rPr>
              <a:t>2,79</a:t>
            </a:r>
            <a:r>
              <a:rPr lang="fr-FR" sz="2018" b="1" baseline="30000" dirty="0">
                <a:solidFill>
                  <a:srgbClr val="7F8C8D"/>
                </a:solidFill>
                <a:latin typeface="Quattrocento Sans" pitchFamily="34" charset="0"/>
              </a:rPr>
              <a:t>e</a:t>
            </a:r>
            <a:r>
              <a:rPr lang="fr-FR" sz="2018" b="1" dirty="0">
                <a:solidFill>
                  <a:srgbClr val="7F8C8D"/>
                </a:solidFill>
                <a:latin typeface="Quattrocento Sans" pitchFamily="34" charset="0"/>
              </a:rPr>
              <a:t>12</a:t>
            </a:r>
            <a:endParaRPr lang="en-US" sz="1600" dirty="0"/>
          </a:p>
        </p:txBody>
      </p:sp>
      <p:sp>
        <p:nvSpPr>
          <p:cNvPr id="112" name="Text 16">
            <a:extLst>
              <a:ext uri="{FF2B5EF4-FFF2-40B4-BE49-F238E27FC236}">
                <a16:creationId xmlns:a16="http://schemas.microsoft.com/office/drawing/2014/main" id="{894A8578-0DA8-6BC0-9CB0-3CE0BABF4766}"/>
              </a:ext>
            </a:extLst>
          </p:cNvPr>
          <p:cNvSpPr/>
          <p:nvPr/>
        </p:nvSpPr>
        <p:spPr>
          <a:xfrm>
            <a:off x="5826312" y="3567347"/>
            <a:ext cx="4688820" cy="3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018" b="1" dirty="0">
                <a:solidFill>
                  <a:srgbClr val="7F8C8D"/>
                </a:solidFill>
                <a:latin typeface="Quattrocento Sans" pitchFamily="34" charset="0"/>
              </a:rPr>
              <a:t>0,792</a:t>
            </a:r>
            <a:endParaRPr lang="en-US" sz="1600" dirty="0"/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E2CA7B5D-9368-38FA-35B9-29A9B858A7D5}"/>
              </a:ext>
            </a:extLst>
          </p:cNvPr>
          <p:cNvSpPr/>
          <p:nvPr/>
        </p:nvSpPr>
        <p:spPr>
          <a:xfrm>
            <a:off x="11049167" y="3545987"/>
            <a:ext cx="4688820" cy="3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018" b="1" dirty="0">
                <a:solidFill>
                  <a:srgbClr val="7F8C8D"/>
                </a:solidFill>
                <a:latin typeface="Quattrocento Sans" pitchFamily="34" charset="0"/>
              </a:rPr>
              <a:t>0,733</a:t>
            </a:r>
            <a:endParaRPr lang="en-US" sz="1600" dirty="0"/>
          </a:p>
        </p:txBody>
      </p:sp>
      <p:sp>
        <p:nvSpPr>
          <p:cNvPr id="114" name="Shape 25">
            <a:extLst>
              <a:ext uri="{FF2B5EF4-FFF2-40B4-BE49-F238E27FC236}">
                <a16:creationId xmlns:a16="http://schemas.microsoft.com/office/drawing/2014/main" id="{E1183BEC-976F-C907-8E4F-6A2D7DE57CA4}"/>
              </a:ext>
            </a:extLst>
          </p:cNvPr>
          <p:cNvSpPr/>
          <p:nvPr/>
        </p:nvSpPr>
        <p:spPr>
          <a:xfrm>
            <a:off x="822413" y="4865052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25">
            <a:extLst>
              <a:ext uri="{FF2B5EF4-FFF2-40B4-BE49-F238E27FC236}">
                <a16:creationId xmlns:a16="http://schemas.microsoft.com/office/drawing/2014/main" id="{444A41C5-9305-1397-DE5A-5BA40F4E1BA2}"/>
              </a:ext>
            </a:extLst>
          </p:cNvPr>
          <p:cNvSpPr/>
          <p:nvPr/>
        </p:nvSpPr>
        <p:spPr>
          <a:xfrm>
            <a:off x="982623" y="4859711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25">
            <a:extLst>
              <a:ext uri="{FF2B5EF4-FFF2-40B4-BE49-F238E27FC236}">
                <a16:creationId xmlns:a16="http://schemas.microsoft.com/office/drawing/2014/main" id="{1BB60FCC-8946-A6A0-F0D1-9D6FB898CEF2}"/>
              </a:ext>
            </a:extLst>
          </p:cNvPr>
          <p:cNvSpPr/>
          <p:nvPr/>
        </p:nvSpPr>
        <p:spPr>
          <a:xfrm>
            <a:off x="1153514" y="4864267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25">
            <a:extLst>
              <a:ext uri="{FF2B5EF4-FFF2-40B4-BE49-F238E27FC236}">
                <a16:creationId xmlns:a16="http://schemas.microsoft.com/office/drawing/2014/main" id="{32CBD823-EE4A-B9FD-9D85-A05FA89C9851}"/>
              </a:ext>
            </a:extLst>
          </p:cNvPr>
          <p:cNvSpPr/>
          <p:nvPr/>
        </p:nvSpPr>
        <p:spPr>
          <a:xfrm>
            <a:off x="1342412" y="4872929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0"/>
                </a:moveTo>
                <a:lnTo>
                  <a:pt x="64084" y="0"/>
                </a:lnTo>
                <a:cubicBezTo>
                  <a:pt x="99453" y="0"/>
                  <a:pt x="128168" y="28715"/>
                  <a:pt x="128168" y="64084"/>
                </a:cubicBezTo>
                <a:lnTo>
                  <a:pt x="128168" y="64084"/>
                </a:lnTo>
                <a:cubicBezTo>
                  <a:pt x="128168" y="99453"/>
                  <a:pt x="99453" y="128168"/>
                  <a:pt x="64084" y="128168"/>
                </a:cubicBezTo>
                <a:lnTo>
                  <a:pt x="64084" y="128168"/>
                </a:lnTo>
                <a:cubicBezTo>
                  <a:pt x="28715" y="128168"/>
                  <a:pt x="0" y="99453"/>
                  <a:pt x="0" y="64084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8">
            <a:extLst>
              <a:ext uri="{FF2B5EF4-FFF2-40B4-BE49-F238E27FC236}">
                <a16:creationId xmlns:a16="http://schemas.microsoft.com/office/drawing/2014/main" id="{DE00A452-678D-5910-7986-75B4D56E96DA}"/>
              </a:ext>
            </a:extLst>
          </p:cNvPr>
          <p:cNvSpPr/>
          <p:nvPr/>
        </p:nvSpPr>
        <p:spPr>
          <a:xfrm>
            <a:off x="11140375" y="1821907"/>
            <a:ext cx="1079071" cy="927517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25205A2-9B20-5658-29E1-8B21F63B5A85}"/>
              </a:ext>
            </a:extLst>
          </p:cNvPr>
          <p:cNvSpPr txBox="1"/>
          <p:nvPr/>
        </p:nvSpPr>
        <p:spPr>
          <a:xfrm>
            <a:off x="4235144" y="4174388"/>
            <a:ext cx="8124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u="none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ÉCHEC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EF9322C-4E17-5C84-5242-3F325BE1EE29}"/>
              </a:ext>
            </a:extLst>
          </p:cNvPr>
          <p:cNvSpPr txBox="1"/>
          <p:nvPr/>
        </p:nvSpPr>
        <p:spPr>
          <a:xfrm>
            <a:off x="9610198" y="4041790"/>
            <a:ext cx="8124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u="none" dirty="0">
                <a:solidFill>
                  <a:srgbClr val="00B0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BON</a:t>
            </a:r>
            <a:endParaRPr lang="fr-FR" dirty="0">
              <a:solidFill>
                <a:srgbClr val="00B0F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8A2C804-E642-9866-A4AC-3B89506C3DB4}"/>
              </a:ext>
            </a:extLst>
          </p:cNvPr>
          <p:cNvSpPr txBox="1"/>
          <p:nvPr/>
        </p:nvSpPr>
        <p:spPr>
          <a:xfrm>
            <a:off x="14141300" y="4008648"/>
            <a:ext cx="13965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none" dirty="0">
                <a:solidFill>
                  <a:srgbClr val="00B0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EXCELLENT</a:t>
            </a:r>
            <a:endParaRPr lang="fr-FR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1489" y="491489"/>
            <a:ext cx="98298" cy="589787"/>
          </a:xfrm>
          <a:custGeom>
            <a:avLst/>
            <a:gdLst/>
            <a:ahLst/>
            <a:cxnLst/>
            <a:rect l="l" t="t" r="r" b="b"/>
            <a:pathLst>
              <a:path w="98298" h="589787">
                <a:moveTo>
                  <a:pt x="0" y="0"/>
                </a:moveTo>
                <a:lnTo>
                  <a:pt x="98298" y="0"/>
                </a:lnTo>
                <a:lnTo>
                  <a:pt x="98298" y="589787"/>
                </a:lnTo>
                <a:lnTo>
                  <a:pt x="0" y="589787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7234" y="491489"/>
            <a:ext cx="5197497" cy="589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44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Prédictions vs Réel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1489" y="1179574"/>
            <a:ext cx="15395894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de la qualité prédictive du modèle XGBoost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1489" y="1720212"/>
            <a:ext cx="10075525" cy="6929995"/>
          </a:xfrm>
          <a:custGeom>
            <a:avLst/>
            <a:gdLst/>
            <a:ahLst/>
            <a:cxnLst/>
            <a:rect l="l" t="t" r="r" b="b"/>
            <a:pathLst>
              <a:path w="10075525" h="6929995">
                <a:moveTo>
                  <a:pt x="98267" y="0"/>
                </a:moveTo>
                <a:lnTo>
                  <a:pt x="9977258" y="0"/>
                </a:lnTo>
                <a:cubicBezTo>
                  <a:pt x="10031530" y="0"/>
                  <a:pt x="10075525" y="43996"/>
                  <a:pt x="10075525" y="98267"/>
                </a:cubicBezTo>
                <a:lnTo>
                  <a:pt x="10075525" y="6831728"/>
                </a:lnTo>
                <a:cubicBezTo>
                  <a:pt x="10075525" y="6886000"/>
                  <a:pt x="10031530" y="6929995"/>
                  <a:pt x="9977258" y="6929995"/>
                </a:cubicBezTo>
                <a:lnTo>
                  <a:pt x="98267" y="6929995"/>
                </a:lnTo>
                <a:cubicBezTo>
                  <a:pt x="43996" y="6929995"/>
                  <a:pt x="0" y="6886000"/>
                  <a:pt x="0" y="6831728"/>
                </a:cubicBezTo>
                <a:lnTo>
                  <a:pt x="0" y="98267"/>
                </a:lnTo>
                <a:cubicBezTo>
                  <a:pt x="0" y="44032"/>
                  <a:pt x="44032" y="0"/>
                  <a:pt x="9826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07181" dist="24574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63510" y="1965956"/>
            <a:ext cx="9731483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22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Scatter Plot: Valeurs Prédites vs Réelles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867283" y="1720212"/>
            <a:ext cx="4890316" cy="3735317"/>
          </a:xfrm>
          <a:custGeom>
            <a:avLst/>
            <a:gdLst/>
            <a:ahLst/>
            <a:cxnLst/>
            <a:rect l="l" t="t" r="r" b="b"/>
            <a:pathLst>
              <a:path w="4890316" h="3735317">
                <a:moveTo>
                  <a:pt x="98314" y="0"/>
                </a:moveTo>
                <a:lnTo>
                  <a:pt x="4792002" y="0"/>
                </a:lnTo>
                <a:cubicBezTo>
                  <a:pt x="4846299" y="0"/>
                  <a:pt x="4890316" y="44016"/>
                  <a:pt x="4890316" y="98314"/>
                </a:cubicBezTo>
                <a:lnTo>
                  <a:pt x="4890316" y="3637003"/>
                </a:lnTo>
                <a:cubicBezTo>
                  <a:pt x="4890316" y="3691300"/>
                  <a:pt x="4846299" y="3735317"/>
                  <a:pt x="4792002" y="3735317"/>
                </a:cubicBezTo>
                <a:lnTo>
                  <a:pt x="98314" y="3735317"/>
                </a:lnTo>
                <a:cubicBezTo>
                  <a:pt x="44016" y="3735317"/>
                  <a:pt x="0" y="3691300"/>
                  <a:pt x="0" y="3637003"/>
                </a:cubicBezTo>
                <a:lnTo>
                  <a:pt x="0" y="98314"/>
                </a:lnTo>
                <a:cubicBezTo>
                  <a:pt x="0" y="44016"/>
                  <a:pt x="44016" y="0"/>
                  <a:pt x="98314" y="0"/>
                </a:cubicBezTo>
                <a:close/>
              </a:path>
            </a:pathLst>
          </a:custGeom>
          <a:solidFill>
            <a:srgbClr val="1F497D"/>
          </a:solidFill>
          <a:ln/>
          <a:effectLst>
            <a:outerShdw blurRad="184308" dist="12287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1113028" y="1965956"/>
            <a:ext cx="4546274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Métriques Clés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113028" y="2555743"/>
            <a:ext cx="4398827" cy="1228723"/>
          </a:xfrm>
          <a:custGeom>
            <a:avLst/>
            <a:gdLst/>
            <a:ahLst/>
            <a:cxnLst/>
            <a:rect l="l" t="t" r="r" b="b"/>
            <a:pathLst>
              <a:path w="4398827" h="1228723">
                <a:moveTo>
                  <a:pt x="98298" y="0"/>
                </a:moveTo>
                <a:lnTo>
                  <a:pt x="4300529" y="0"/>
                </a:lnTo>
                <a:cubicBezTo>
                  <a:pt x="4354817" y="0"/>
                  <a:pt x="4398827" y="44009"/>
                  <a:pt x="4398827" y="98298"/>
                </a:cubicBezTo>
                <a:lnTo>
                  <a:pt x="4398827" y="1130425"/>
                </a:lnTo>
                <a:cubicBezTo>
                  <a:pt x="4398827" y="1184713"/>
                  <a:pt x="4354817" y="1228723"/>
                  <a:pt x="4300529" y="1228723"/>
                </a:cubicBezTo>
                <a:lnTo>
                  <a:pt x="98298" y="1228723"/>
                </a:lnTo>
                <a:cubicBezTo>
                  <a:pt x="44009" y="1228723"/>
                  <a:pt x="0" y="1184713"/>
                  <a:pt x="0" y="1130425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11309624" y="2752339"/>
            <a:ext cx="410393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309624" y="3096381"/>
            <a:ext cx="4226806" cy="49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0.938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13028" y="3981061"/>
            <a:ext cx="4398827" cy="1228723"/>
          </a:xfrm>
          <a:custGeom>
            <a:avLst/>
            <a:gdLst/>
            <a:ahLst/>
            <a:cxnLst/>
            <a:rect l="l" t="t" r="r" b="b"/>
            <a:pathLst>
              <a:path w="4398827" h="1228723">
                <a:moveTo>
                  <a:pt x="98298" y="0"/>
                </a:moveTo>
                <a:lnTo>
                  <a:pt x="4300529" y="0"/>
                </a:lnTo>
                <a:cubicBezTo>
                  <a:pt x="4354817" y="0"/>
                  <a:pt x="4398827" y="44009"/>
                  <a:pt x="4398827" y="98298"/>
                </a:cubicBezTo>
                <a:lnTo>
                  <a:pt x="4398827" y="1130425"/>
                </a:lnTo>
                <a:cubicBezTo>
                  <a:pt x="4398827" y="1184713"/>
                  <a:pt x="4354817" y="1228723"/>
                  <a:pt x="4300529" y="1228723"/>
                </a:cubicBezTo>
                <a:lnTo>
                  <a:pt x="98298" y="1228723"/>
                </a:lnTo>
                <a:cubicBezTo>
                  <a:pt x="44009" y="1228723"/>
                  <a:pt x="0" y="1184713"/>
                  <a:pt x="0" y="1130425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11309624" y="4177657"/>
            <a:ext cx="410393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309624" y="4521699"/>
            <a:ext cx="4226806" cy="49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0.733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891858" y="5652124"/>
            <a:ext cx="4865741" cy="2998083"/>
          </a:xfrm>
          <a:custGeom>
            <a:avLst/>
            <a:gdLst/>
            <a:ahLst/>
            <a:cxnLst/>
            <a:rect l="l" t="t" r="r" b="b"/>
            <a:pathLst>
              <a:path w="4865741" h="2998083">
                <a:moveTo>
                  <a:pt x="49149" y="0"/>
                </a:moveTo>
                <a:lnTo>
                  <a:pt x="4767434" y="0"/>
                </a:lnTo>
                <a:cubicBezTo>
                  <a:pt x="4821728" y="0"/>
                  <a:pt x="4865741" y="44014"/>
                  <a:pt x="4865741" y="98307"/>
                </a:cubicBezTo>
                <a:lnTo>
                  <a:pt x="4865741" y="2899776"/>
                </a:lnTo>
                <a:cubicBezTo>
                  <a:pt x="4865741" y="2954070"/>
                  <a:pt x="4821728" y="2998083"/>
                  <a:pt x="4767434" y="2998083"/>
                </a:cubicBezTo>
                <a:lnTo>
                  <a:pt x="49149" y="2998083"/>
                </a:lnTo>
                <a:cubicBezTo>
                  <a:pt x="22005" y="2998083"/>
                  <a:pt x="0" y="2976078"/>
                  <a:pt x="0" y="2948934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3723" dist="4914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10891858" y="5652124"/>
            <a:ext cx="49149" cy="2998083"/>
          </a:xfrm>
          <a:custGeom>
            <a:avLst/>
            <a:gdLst/>
            <a:ahLst/>
            <a:cxnLst/>
            <a:rect l="l" t="t" r="r" b="b"/>
            <a:pathLst>
              <a:path w="49149" h="2998083">
                <a:moveTo>
                  <a:pt x="49149" y="0"/>
                </a:moveTo>
                <a:lnTo>
                  <a:pt x="49149" y="0"/>
                </a:lnTo>
                <a:lnTo>
                  <a:pt x="49149" y="2998083"/>
                </a:lnTo>
                <a:lnTo>
                  <a:pt x="49149" y="2998083"/>
                </a:lnTo>
                <a:cubicBezTo>
                  <a:pt x="22005" y="2998083"/>
                  <a:pt x="0" y="2976078"/>
                  <a:pt x="0" y="2948934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11162177" y="6315634"/>
            <a:ext cx="4472550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Interprétation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199039" y="6856272"/>
            <a:ext cx="172021" cy="196596"/>
          </a:xfrm>
          <a:custGeom>
            <a:avLst/>
            <a:gdLst/>
            <a:ahLst/>
            <a:cxnLst/>
            <a:rect l="l" t="t" r="r" b="b"/>
            <a:pathLst>
              <a:path w="172021" h="196596">
                <a:moveTo>
                  <a:pt x="166953" y="26917"/>
                </a:moveTo>
                <a:cubicBezTo>
                  <a:pt x="172444" y="30910"/>
                  <a:pt x="173672" y="38590"/>
                  <a:pt x="169679" y="44080"/>
                </a:cubicBezTo>
                <a:lnTo>
                  <a:pt x="71381" y="179240"/>
                </a:lnTo>
                <a:cubicBezTo>
                  <a:pt x="69269" y="182158"/>
                  <a:pt x="66005" y="183963"/>
                  <a:pt x="62396" y="184270"/>
                </a:cubicBezTo>
                <a:cubicBezTo>
                  <a:pt x="58787" y="184577"/>
                  <a:pt x="55293" y="183233"/>
                  <a:pt x="52758" y="180699"/>
                </a:cubicBezTo>
                <a:lnTo>
                  <a:pt x="3609" y="131550"/>
                </a:lnTo>
                <a:cubicBezTo>
                  <a:pt x="-1190" y="126750"/>
                  <a:pt x="-1190" y="118956"/>
                  <a:pt x="3609" y="114156"/>
                </a:cubicBezTo>
                <a:cubicBezTo>
                  <a:pt x="8409" y="109356"/>
                  <a:pt x="16204" y="109356"/>
                  <a:pt x="21003" y="114156"/>
                </a:cubicBezTo>
                <a:lnTo>
                  <a:pt x="59977" y="153130"/>
                </a:lnTo>
                <a:lnTo>
                  <a:pt x="149827" y="29605"/>
                </a:lnTo>
                <a:cubicBezTo>
                  <a:pt x="153821" y="24114"/>
                  <a:pt x="161500" y="22885"/>
                  <a:pt x="166991" y="26878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11506219" y="6807123"/>
            <a:ext cx="336670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proches de la diagonale parfaite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199039" y="7298612"/>
            <a:ext cx="172021" cy="196596"/>
          </a:xfrm>
          <a:custGeom>
            <a:avLst/>
            <a:gdLst/>
            <a:ahLst/>
            <a:cxnLst/>
            <a:rect l="l" t="t" r="r" b="b"/>
            <a:pathLst>
              <a:path w="172021" h="196596">
                <a:moveTo>
                  <a:pt x="166953" y="26917"/>
                </a:moveTo>
                <a:cubicBezTo>
                  <a:pt x="172444" y="30910"/>
                  <a:pt x="173672" y="38590"/>
                  <a:pt x="169679" y="44080"/>
                </a:cubicBezTo>
                <a:lnTo>
                  <a:pt x="71381" y="179240"/>
                </a:lnTo>
                <a:cubicBezTo>
                  <a:pt x="69269" y="182158"/>
                  <a:pt x="66005" y="183963"/>
                  <a:pt x="62396" y="184270"/>
                </a:cubicBezTo>
                <a:cubicBezTo>
                  <a:pt x="58787" y="184577"/>
                  <a:pt x="55293" y="183233"/>
                  <a:pt x="52758" y="180699"/>
                </a:cubicBezTo>
                <a:lnTo>
                  <a:pt x="3609" y="131550"/>
                </a:lnTo>
                <a:cubicBezTo>
                  <a:pt x="-1190" y="126750"/>
                  <a:pt x="-1190" y="118956"/>
                  <a:pt x="3609" y="114156"/>
                </a:cubicBezTo>
                <a:cubicBezTo>
                  <a:pt x="8409" y="109356"/>
                  <a:pt x="16204" y="109356"/>
                  <a:pt x="21003" y="114156"/>
                </a:cubicBezTo>
                <a:lnTo>
                  <a:pt x="59977" y="153130"/>
                </a:lnTo>
                <a:lnTo>
                  <a:pt x="149827" y="29605"/>
                </a:lnTo>
                <a:cubicBezTo>
                  <a:pt x="153821" y="24114"/>
                  <a:pt x="161500" y="22885"/>
                  <a:pt x="166991" y="26878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11506219" y="7249463"/>
            <a:ext cx="270319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Dispersion résiduelle minimale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199039" y="7740952"/>
            <a:ext cx="172021" cy="196596"/>
          </a:xfrm>
          <a:custGeom>
            <a:avLst/>
            <a:gdLst/>
            <a:ahLst/>
            <a:cxnLst/>
            <a:rect l="l" t="t" r="r" b="b"/>
            <a:pathLst>
              <a:path w="172021" h="196596">
                <a:moveTo>
                  <a:pt x="166953" y="26917"/>
                </a:moveTo>
                <a:cubicBezTo>
                  <a:pt x="172444" y="30910"/>
                  <a:pt x="173672" y="38590"/>
                  <a:pt x="169679" y="44080"/>
                </a:cubicBezTo>
                <a:lnTo>
                  <a:pt x="71381" y="179240"/>
                </a:lnTo>
                <a:cubicBezTo>
                  <a:pt x="69269" y="182158"/>
                  <a:pt x="66005" y="183963"/>
                  <a:pt x="62396" y="184270"/>
                </a:cubicBezTo>
                <a:cubicBezTo>
                  <a:pt x="58787" y="184577"/>
                  <a:pt x="55293" y="183233"/>
                  <a:pt x="52758" y="180699"/>
                </a:cubicBezTo>
                <a:lnTo>
                  <a:pt x="3609" y="131550"/>
                </a:lnTo>
                <a:cubicBezTo>
                  <a:pt x="-1190" y="126750"/>
                  <a:pt x="-1190" y="118956"/>
                  <a:pt x="3609" y="114156"/>
                </a:cubicBezTo>
                <a:cubicBezTo>
                  <a:pt x="8409" y="109356"/>
                  <a:pt x="16204" y="109356"/>
                  <a:pt x="21003" y="114156"/>
                </a:cubicBezTo>
                <a:lnTo>
                  <a:pt x="59977" y="153130"/>
                </a:lnTo>
                <a:lnTo>
                  <a:pt x="149827" y="29605"/>
                </a:lnTo>
                <a:cubicBezTo>
                  <a:pt x="153821" y="24114"/>
                  <a:pt x="161500" y="22885"/>
                  <a:pt x="166991" y="26878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11506219" y="7691803"/>
            <a:ext cx="314553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Précision élevée sur toute la gamme</a:t>
            </a:r>
            <a:endParaRPr lang="en-US" sz="1600" dirty="0"/>
          </a:p>
        </p:txBody>
      </p:sp>
      <p:pic>
        <p:nvPicPr>
          <p:cNvPr id="26" name="Image 25" descr="Une image contenant capture d’écran, texte, ligne, Tracé&#10;&#10;Le contenu généré par l’IA peut être incorrect.">
            <a:extLst>
              <a:ext uri="{FF2B5EF4-FFF2-40B4-BE49-F238E27FC236}">
                <a16:creationId xmlns:a16="http://schemas.microsoft.com/office/drawing/2014/main" id="{FD27DF38-1A93-53B7-C3E8-85B476BEB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714" y="2604891"/>
            <a:ext cx="8063954" cy="52446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188" y="471188"/>
            <a:ext cx="94238" cy="565426"/>
          </a:xfrm>
          <a:custGeom>
            <a:avLst/>
            <a:gdLst/>
            <a:ahLst/>
            <a:cxnLst/>
            <a:rect l="l" t="t" r="r" b="b"/>
            <a:pathLst>
              <a:path w="94238" h="565426">
                <a:moveTo>
                  <a:pt x="0" y="0"/>
                </a:moveTo>
                <a:lnTo>
                  <a:pt x="94238" y="0"/>
                </a:lnTo>
                <a:lnTo>
                  <a:pt x="94238" y="565426"/>
                </a:lnTo>
                <a:lnTo>
                  <a:pt x="0" y="565426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06783" y="471188"/>
            <a:ext cx="6172568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52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Métriques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1188" y="1130852"/>
            <a:ext cx="15431420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5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Évaluation quantitative du modèle XGBoost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1188" y="1649159"/>
            <a:ext cx="7515455" cy="3581032"/>
          </a:xfrm>
          <a:custGeom>
            <a:avLst/>
            <a:gdLst/>
            <a:ahLst/>
            <a:cxnLst/>
            <a:rect l="l" t="t" r="r" b="b"/>
            <a:pathLst>
              <a:path w="7515455" h="3581032">
                <a:moveTo>
                  <a:pt x="94253" y="0"/>
                </a:moveTo>
                <a:lnTo>
                  <a:pt x="7421202" y="0"/>
                </a:lnTo>
                <a:cubicBezTo>
                  <a:pt x="7473257" y="0"/>
                  <a:pt x="7515455" y="42198"/>
                  <a:pt x="7515455" y="94253"/>
                </a:cubicBezTo>
                <a:lnTo>
                  <a:pt x="7515455" y="3486779"/>
                </a:lnTo>
                <a:cubicBezTo>
                  <a:pt x="7515455" y="3538833"/>
                  <a:pt x="7473257" y="3581032"/>
                  <a:pt x="7421202" y="3581032"/>
                </a:cubicBezTo>
                <a:lnTo>
                  <a:pt x="94253" y="3581032"/>
                </a:lnTo>
                <a:cubicBezTo>
                  <a:pt x="42198" y="3581032"/>
                  <a:pt x="0" y="3538833"/>
                  <a:pt x="0" y="3486779"/>
                </a:cubicBezTo>
                <a:lnTo>
                  <a:pt x="0" y="94253"/>
                </a:lnTo>
                <a:cubicBezTo>
                  <a:pt x="0" y="42233"/>
                  <a:pt x="42233" y="0"/>
                  <a:pt x="94253" y="0"/>
                </a:cubicBezTo>
                <a:close/>
              </a:path>
            </a:pathLst>
          </a:custGeom>
          <a:solidFill>
            <a:srgbClr val="1F497D"/>
          </a:solidFill>
          <a:ln/>
          <a:effectLst>
            <a:outerShdw blurRad="294493" dist="23559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53901" y="1931872"/>
            <a:ext cx="753901" cy="753901"/>
          </a:xfrm>
          <a:custGeom>
            <a:avLst/>
            <a:gdLst/>
            <a:ahLst/>
            <a:cxnLst/>
            <a:rect l="l" t="t" r="r" b="b"/>
            <a:pathLst>
              <a:path w="753901" h="753901">
                <a:moveTo>
                  <a:pt x="376951" y="0"/>
                </a:moveTo>
                <a:lnTo>
                  <a:pt x="376951" y="0"/>
                </a:lnTo>
                <a:cubicBezTo>
                  <a:pt x="584995" y="0"/>
                  <a:pt x="753901" y="168906"/>
                  <a:pt x="753901" y="376951"/>
                </a:cubicBezTo>
                <a:lnTo>
                  <a:pt x="753901" y="376951"/>
                </a:lnTo>
                <a:cubicBezTo>
                  <a:pt x="753901" y="584995"/>
                  <a:pt x="584995" y="753901"/>
                  <a:pt x="376951" y="753901"/>
                </a:cubicBezTo>
                <a:lnTo>
                  <a:pt x="376951" y="753901"/>
                </a:lnTo>
                <a:cubicBezTo>
                  <a:pt x="168906" y="753901"/>
                  <a:pt x="0" y="584995"/>
                  <a:pt x="0" y="376951"/>
                </a:cubicBezTo>
                <a:lnTo>
                  <a:pt x="0" y="376951"/>
                </a:lnTo>
                <a:cubicBezTo>
                  <a:pt x="0" y="168906"/>
                  <a:pt x="168906" y="0"/>
                  <a:pt x="37695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57101" y="2132128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44174" y="44174"/>
                </a:moveTo>
                <a:cubicBezTo>
                  <a:pt x="44174" y="31957"/>
                  <a:pt x="34304" y="22087"/>
                  <a:pt x="22087" y="22087"/>
                </a:cubicBezTo>
                <a:cubicBezTo>
                  <a:pt x="9870" y="22087"/>
                  <a:pt x="0" y="31957"/>
                  <a:pt x="0" y="44174"/>
                </a:cubicBezTo>
                <a:lnTo>
                  <a:pt x="0" y="276087"/>
                </a:lnTo>
                <a:cubicBezTo>
                  <a:pt x="0" y="306595"/>
                  <a:pt x="24710" y="331304"/>
                  <a:pt x="55217" y="331304"/>
                </a:cubicBezTo>
                <a:lnTo>
                  <a:pt x="331304" y="331304"/>
                </a:lnTo>
                <a:cubicBezTo>
                  <a:pt x="343521" y="331304"/>
                  <a:pt x="353391" y="321434"/>
                  <a:pt x="353391" y="309217"/>
                </a:cubicBezTo>
                <a:cubicBezTo>
                  <a:pt x="353391" y="297001"/>
                  <a:pt x="343521" y="287130"/>
                  <a:pt x="331304" y="287130"/>
                </a:cubicBezTo>
                <a:lnTo>
                  <a:pt x="55217" y="287130"/>
                </a:lnTo>
                <a:cubicBezTo>
                  <a:pt x="49143" y="287130"/>
                  <a:pt x="44174" y="282161"/>
                  <a:pt x="44174" y="276087"/>
                </a:cubicBezTo>
                <a:lnTo>
                  <a:pt x="44174" y="44174"/>
                </a:lnTo>
                <a:close/>
                <a:moveTo>
                  <a:pt x="324816" y="103947"/>
                </a:moveTo>
                <a:cubicBezTo>
                  <a:pt x="333444" y="95319"/>
                  <a:pt x="333444" y="81308"/>
                  <a:pt x="324816" y="72680"/>
                </a:cubicBezTo>
                <a:cubicBezTo>
                  <a:pt x="316189" y="64052"/>
                  <a:pt x="302177" y="64052"/>
                  <a:pt x="293549" y="72680"/>
                </a:cubicBezTo>
                <a:lnTo>
                  <a:pt x="220870" y="145429"/>
                </a:lnTo>
                <a:lnTo>
                  <a:pt x="181251" y="105879"/>
                </a:lnTo>
                <a:cubicBezTo>
                  <a:pt x="172623" y="97252"/>
                  <a:pt x="158612" y="97252"/>
                  <a:pt x="149984" y="105879"/>
                </a:cubicBezTo>
                <a:lnTo>
                  <a:pt x="83723" y="172140"/>
                </a:lnTo>
                <a:cubicBezTo>
                  <a:pt x="75096" y="180768"/>
                  <a:pt x="75096" y="194779"/>
                  <a:pt x="83723" y="203407"/>
                </a:cubicBezTo>
                <a:cubicBezTo>
                  <a:pt x="92351" y="212035"/>
                  <a:pt x="106363" y="212035"/>
                  <a:pt x="114990" y="203407"/>
                </a:cubicBezTo>
                <a:lnTo>
                  <a:pt x="165652" y="152745"/>
                </a:lnTo>
                <a:lnTo>
                  <a:pt x="205271" y="192364"/>
                </a:lnTo>
                <a:cubicBezTo>
                  <a:pt x="213898" y="200991"/>
                  <a:pt x="227910" y="200991"/>
                  <a:pt x="236538" y="192364"/>
                </a:cubicBezTo>
                <a:lnTo>
                  <a:pt x="324885" y="10401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696278" y="1955432"/>
            <a:ext cx="2344162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2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6278" y="2332383"/>
            <a:ext cx="2308823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 Error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3901" y="2874249"/>
            <a:ext cx="6950029" cy="1319328"/>
          </a:xfrm>
          <a:custGeom>
            <a:avLst/>
            <a:gdLst/>
            <a:ahLst/>
            <a:cxnLst/>
            <a:rect l="l" t="t" r="r" b="b"/>
            <a:pathLst>
              <a:path w="6950029" h="1319328">
                <a:moveTo>
                  <a:pt x="94240" y="0"/>
                </a:moveTo>
                <a:lnTo>
                  <a:pt x="6855789" y="0"/>
                </a:lnTo>
                <a:cubicBezTo>
                  <a:pt x="6907836" y="0"/>
                  <a:pt x="6950029" y="42192"/>
                  <a:pt x="6950029" y="94240"/>
                </a:cubicBezTo>
                <a:lnTo>
                  <a:pt x="6950029" y="1225088"/>
                </a:lnTo>
                <a:cubicBezTo>
                  <a:pt x="6950029" y="1277135"/>
                  <a:pt x="6907836" y="1319328"/>
                  <a:pt x="6855789" y="1319328"/>
                </a:cubicBezTo>
                <a:lnTo>
                  <a:pt x="94240" y="1319328"/>
                </a:lnTo>
                <a:cubicBezTo>
                  <a:pt x="42192" y="1319328"/>
                  <a:pt x="0" y="1277135"/>
                  <a:pt x="0" y="1225088"/>
                </a:cubicBezTo>
                <a:lnTo>
                  <a:pt x="0" y="94240"/>
                </a:lnTo>
                <a:cubicBezTo>
                  <a:pt x="0" y="42227"/>
                  <a:pt x="42227" y="0"/>
                  <a:pt x="9424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42377" y="3062725"/>
            <a:ext cx="6855791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5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0.733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2377" y="3675270"/>
            <a:ext cx="6679096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échelle logarithmique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3901" y="4334933"/>
            <a:ext cx="6950029" cy="612545"/>
          </a:xfrm>
          <a:custGeom>
            <a:avLst/>
            <a:gdLst/>
            <a:ahLst/>
            <a:cxnLst/>
            <a:rect l="l" t="t" r="r" b="b"/>
            <a:pathLst>
              <a:path w="6950029" h="612545">
                <a:moveTo>
                  <a:pt x="94240" y="0"/>
                </a:moveTo>
                <a:lnTo>
                  <a:pt x="6855789" y="0"/>
                </a:lnTo>
                <a:cubicBezTo>
                  <a:pt x="6907836" y="0"/>
                  <a:pt x="6950029" y="42193"/>
                  <a:pt x="6950029" y="94240"/>
                </a:cubicBezTo>
                <a:lnTo>
                  <a:pt x="6950029" y="518305"/>
                </a:lnTo>
                <a:cubicBezTo>
                  <a:pt x="6950029" y="570352"/>
                  <a:pt x="6907836" y="612545"/>
                  <a:pt x="6855789" y="612545"/>
                </a:cubicBezTo>
                <a:lnTo>
                  <a:pt x="94240" y="612545"/>
                </a:lnTo>
                <a:cubicBezTo>
                  <a:pt x="42228" y="612545"/>
                  <a:pt x="0" y="570317"/>
                  <a:pt x="0" y="518305"/>
                </a:cubicBezTo>
                <a:lnTo>
                  <a:pt x="0" y="94240"/>
                </a:lnTo>
                <a:cubicBezTo>
                  <a:pt x="0" y="42228"/>
                  <a:pt x="42228" y="0"/>
                  <a:pt x="9424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95258" y="4476290"/>
            <a:ext cx="6761554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4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Interprétation:</a:t>
            </a:r>
            <a:r>
              <a:rPr lang="en-US" sz="1484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correspond à </a:t>
            </a:r>
            <a:r>
              <a:rPr lang="en-US" sz="1855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~24%</a:t>
            </a:r>
            <a:r>
              <a:rPr lang="en-US" sz="1484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d'erreur moyenne sur les prix réels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66596" y="1649159"/>
            <a:ext cx="7515455" cy="3581032"/>
          </a:xfrm>
          <a:custGeom>
            <a:avLst/>
            <a:gdLst/>
            <a:ahLst/>
            <a:cxnLst/>
            <a:rect l="l" t="t" r="r" b="b"/>
            <a:pathLst>
              <a:path w="7515455" h="3581032">
                <a:moveTo>
                  <a:pt x="94253" y="0"/>
                </a:moveTo>
                <a:lnTo>
                  <a:pt x="7421202" y="0"/>
                </a:lnTo>
                <a:cubicBezTo>
                  <a:pt x="7473257" y="0"/>
                  <a:pt x="7515455" y="42198"/>
                  <a:pt x="7515455" y="94253"/>
                </a:cubicBezTo>
                <a:lnTo>
                  <a:pt x="7515455" y="3486779"/>
                </a:lnTo>
                <a:cubicBezTo>
                  <a:pt x="7515455" y="3538833"/>
                  <a:pt x="7473257" y="3581032"/>
                  <a:pt x="7421202" y="3581032"/>
                </a:cubicBezTo>
                <a:lnTo>
                  <a:pt x="94253" y="3581032"/>
                </a:lnTo>
                <a:cubicBezTo>
                  <a:pt x="42198" y="3581032"/>
                  <a:pt x="0" y="3538833"/>
                  <a:pt x="0" y="3486779"/>
                </a:cubicBezTo>
                <a:lnTo>
                  <a:pt x="0" y="94253"/>
                </a:lnTo>
                <a:cubicBezTo>
                  <a:pt x="0" y="42233"/>
                  <a:pt x="42233" y="0"/>
                  <a:pt x="94253" y="0"/>
                </a:cubicBezTo>
                <a:close/>
              </a:path>
            </a:pathLst>
          </a:custGeom>
          <a:solidFill>
            <a:srgbClr val="C0504D"/>
          </a:solidFill>
          <a:ln/>
          <a:effectLst>
            <a:outerShdw blurRad="294493" dist="23559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549309" y="1931872"/>
            <a:ext cx="753901" cy="753901"/>
          </a:xfrm>
          <a:custGeom>
            <a:avLst/>
            <a:gdLst/>
            <a:ahLst/>
            <a:cxnLst/>
            <a:rect l="l" t="t" r="r" b="b"/>
            <a:pathLst>
              <a:path w="753901" h="753901">
                <a:moveTo>
                  <a:pt x="376951" y="0"/>
                </a:moveTo>
                <a:lnTo>
                  <a:pt x="376951" y="0"/>
                </a:lnTo>
                <a:cubicBezTo>
                  <a:pt x="584995" y="0"/>
                  <a:pt x="753901" y="168906"/>
                  <a:pt x="753901" y="376951"/>
                </a:cubicBezTo>
                <a:lnTo>
                  <a:pt x="753901" y="376951"/>
                </a:lnTo>
                <a:cubicBezTo>
                  <a:pt x="753901" y="584995"/>
                  <a:pt x="584995" y="753901"/>
                  <a:pt x="376951" y="753901"/>
                </a:cubicBezTo>
                <a:lnTo>
                  <a:pt x="376951" y="753901"/>
                </a:lnTo>
                <a:cubicBezTo>
                  <a:pt x="168906" y="753901"/>
                  <a:pt x="0" y="584995"/>
                  <a:pt x="0" y="376951"/>
                </a:cubicBezTo>
                <a:lnTo>
                  <a:pt x="0" y="376951"/>
                </a:lnTo>
                <a:cubicBezTo>
                  <a:pt x="0" y="168906"/>
                  <a:pt x="168906" y="0"/>
                  <a:pt x="37695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774596" y="2132128"/>
            <a:ext cx="309217" cy="353391"/>
          </a:xfrm>
          <a:custGeom>
            <a:avLst/>
            <a:gdLst/>
            <a:ahLst/>
            <a:cxnLst/>
            <a:rect l="l" t="t" r="r" b="b"/>
            <a:pathLst>
              <a:path w="309217" h="353391">
                <a:moveTo>
                  <a:pt x="132522" y="88348"/>
                </a:moveTo>
                <a:cubicBezTo>
                  <a:pt x="132522" y="51777"/>
                  <a:pt x="102831" y="22087"/>
                  <a:pt x="66261" y="22087"/>
                </a:cubicBezTo>
                <a:cubicBezTo>
                  <a:pt x="29691" y="22087"/>
                  <a:pt x="0" y="51777"/>
                  <a:pt x="0" y="88348"/>
                </a:cubicBezTo>
                <a:cubicBezTo>
                  <a:pt x="0" y="124918"/>
                  <a:pt x="29691" y="154609"/>
                  <a:pt x="66261" y="154609"/>
                </a:cubicBezTo>
                <a:cubicBezTo>
                  <a:pt x="102831" y="154609"/>
                  <a:pt x="132522" y="124918"/>
                  <a:pt x="132522" y="88348"/>
                </a:cubicBezTo>
                <a:close/>
                <a:moveTo>
                  <a:pt x="309217" y="265043"/>
                </a:moveTo>
                <a:cubicBezTo>
                  <a:pt x="309217" y="228473"/>
                  <a:pt x="279527" y="198783"/>
                  <a:pt x="242957" y="198783"/>
                </a:cubicBezTo>
                <a:cubicBezTo>
                  <a:pt x="206386" y="198783"/>
                  <a:pt x="176696" y="228473"/>
                  <a:pt x="176696" y="265043"/>
                </a:cubicBezTo>
                <a:cubicBezTo>
                  <a:pt x="176696" y="301614"/>
                  <a:pt x="206386" y="331304"/>
                  <a:pt x="242957" y="331304"/>
                </a:cubicBezTo>
                <a:cubicBezTo>
                  <a:pt x="279527" y="331304"/>
                  <a:pt x="309217" y="301614"/>
                  <a:pt x="309217" y="265043"/>
                </a:cubicBezTo>
                <a:close/>
                <a:moveTo>
                  <a:pt x="302729" y="59773"/>
                </a:moveTo>
                <a:cubicBezTo>
                  <a:pt x="311357" y="51145"/>
                  <a:pt x="311357" y="37134"/>
                  <a:pt x="302729" y="28506"/>
                </a:cubicBezTo>
                <a:cubicBezTo>
                  <a:pt x="294102" y="19878"/>
                  <a:pt x="280090" y="19878"/>
                  <a:pt x="271463" y="28506"/>
                </a:cubicBezTo>
                <a:lnTo>
                  <a:pt x="6419" y="293549"/>
                </a:lnTo>
                <a:cubicBezTo>
                  <a:pt x="-2209" y="302177"/>
                  <a:pt x="-2209" y="316189"/>
                  <a:pt x="6419" y="324816"/>
                </a:cubicBezTo>
                <a:cubicBezTo>
                  <a:pt x="15047" y="333444"/>
                  <a:pt x="29058" y="333444"/>
                  <a:pt x="37686" y="324816"/>
                </a:cubicBezTo>
                <a:lnTo>
                  <a:pt x="302729" y="5977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491686" y="1955432"/>
            <a:ext cx="2744672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2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91686" y="2332383"/>
            <a:ext cx="2709333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Coefficient de détermination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49309" y="2874249"/>
            <a:ext cx="6950029" cy="1319328"/>
          </a:xfrm>
          <a:custGeom>
            <a:avLst/>
            <a:gdLst/>
            <a:ahLst/>
            <a:cxnLst/>
            <a:rect l="l" t="t" r="r" b="b"/>
            <a:pathLst>
              <a:path w="6950029" h="1319328">
                <a:moveTo>
                  <a:pt x="94240" y="0"/>
                </a:moveTo>
                <a:lnTo>
                  <a:pt x="6855789" y="0"/>
                </a:lnTo>
                <a:cubicBezTo>
                  <a:pt x="6907836" y="0"/>
                  <a:pt x="6950029" y="42192"/>
                  <a:pt x="6950029" y="94240"/>
                </a:cubicBezTo>
                <a:lnTo>
                  <a:pt x="6950029" y="1225088"/>
                </a:lnTo>
                <a:cubicBezTo>
                  <a:pt x="6950029" y="1277135"/>
                  <a:pt x="6907836" y="1319328"/>
                  <a:pt x="6855789" y="1319328"/>
                </a:cubicBezTo>
                <a:lnTo>
                  <a:pt x="94240" y="1319328"/>
                </a:lnTo>
                <a:cubicBezTo>
                  <a:pt x="42192" y="1319328"/>
                  <a:pt x="0" y="1277135"/>
                  <a:pt x="0" y="1225088"/>
                </a:cubicBezTo>
                <a:lnTo>
                  <a:pt x="0" y="94240"/>
                </a:lnTo>
                <a:cubicBezTo>
                  <a:pt x="0" y="42227"/>
                  <a:pt x="42227" y="0"/>
                  <a:pt x="9424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737784" y="3062725"/>
            <a:ext cx="6855791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5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0.938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37784" y="3675270"/>
            <a:ext cx="6679096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93.8% de variance expliquée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49309" y="4334933"/>
            <a:ext cx="6950029" cy="612545"/>
          </a:xfrm>
          <a:custGeom>
            <a:avLst/>
            <a:gdLst/>
            <a:ahLst/>
            <a:cxnLst/>
            <a:rect l="l" t="t" r="r" b="b"/>
            <a:pathLst>
              <a:path w="6950029" h="612545">
                <a:moveTo>
                  <a:pt x="94240" y="0"/>
                </a:moveTo>
                <a:lnTo>
                  <a:pt x="6855789" y="0"/>
                </a:lnTo>
                <a:cubicBezTo>
                  <a:pt x="6907836" y="0"/>
                  <a:pt x="6950029" y="42193"/>
                  <a:pt x="6950029" y="94240"/>
                </a:cubicBezTo>
                <a:lnTo>
                  <a:pt x="6950029" y="518305"/>
                </a:lnTo>
                <a:cubicBezTo>
                  <a:pt x="6950029" y="570352"/>
                  <a:pt x="6907836" y="612545"/>
                  <a:pt x="6855789" y="612545"/>
                </a:cubicBezTo>
                <a:lnTo>
                  <a:pt x="94240" y="612545"/>
                </a:lnTo>
                <a:cubicBezTo>
                  <a:pt x="42228" y="612545"/>
                  <a:pt x="0" y="570317"/>
                  <a:pt x="0" y="518305"/>
                </a:cubicBezTo>
                <a:lnTo>
                  <a:pt x="0" y="94240"/>
                </a:lnTo>
                <a:cubicBezTo>
                  <a:pt x="0" y="42228"/>
                  <a:pt x="42228" y="0"/>
                  <a:pt x="9424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690665" y="4476290"/>
            <a:ext cx="6761554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4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r>
              <a:rPr lang="en-US" sz="1484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Niveau </a:t>
            </a:r>
            <a:r>
              <a:rPr lang="en-US" sz="1855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industriel</a:t>
            </a:r>
            <a:r>
              <a:rPr lang="en-US" sz="1484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excellente capacité de généralisation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1188" y="5442226"/>
            <a:ext cx="4982817" cy="2143907"/>
          </a:xfrm>
          <a:custGeom>
            <a:avLst/>
            <a:gdLst/>
            <a:ahLst/>
            <a:cxnLst/>
            <a:rect l="l" t="t" r="r" b="b"/>
            <a:pathLst>
              <a:path w="4982817" h="2143907">
                <a:moveTo>
                  <a:pt x="47119" y="0"/>
                </a:moveTo>
                <a:lnTo>
                  <a:pt x="4935699" y="0"/>
                </a:lnTo>
                <a:cubicBezTo>
                  <a:pt x="4961722" y="0"/>
                  <a:pt x="4982817" y="21096"/>
                  <a:pt x="4982817" y="47119"/>
                </a:cubicBezTo>
                <a:lnTo>
                  <a:pt x="4982817" y="2049661"/>
                </a:lnTo>
                <a:cubicBezTo>
                  <a:pt x="4982817" y="2101712"/>
                  <a:pt x="4940622" y="2143907"/>
                  <a:pt x="4888571" y="2143907"/>
                </a:cubicBezTo>
                <a:lnTo>
                  <a:pt x="94246" y="2143907"/>
                </a:lnTo>
                <a:cubicBezTo>
                  <a:pt x="42195" y="2143907"/>
                  <a:pt x="0" y="2101712"/>
                  <a:pt x="0" y="2049661"/>
                </a:cubicBezTo>
                <a:lnTo>
                  <a:pt x="0" y="47119"/>
                </a:lnTo>
                <a:cubicBezTo>
                  <a:pt x="0" y="21096"/>
                  <a:pt x="21096" y="0"/>
                  <a:pt x="471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0678" dist="471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1188" y="5442226"/>
            <a:ext cx="4982817" cy="47119"/>
          </a:xfrm>
          <a:custGeom>
            <a:avLst/>
            <a:gdLst/>
            <a:ahLst/>
            <a:cxnLst/>
            <a:rect l="l" t="t" r="r" b="b"/>
            <a:pathLst>
              <a:path w="4982817" h="47119">
                <a:moveTo>
                  <a:pt x="47119" y="0"/>
                </a:moveTo>
                <a:lnTo>
                  <a:pt x="4935699" y="0"/>
                </a:lnTo>
                <a:cubicBezTo>
                  <a:pt x="4961722" y="0"/>
                  <a:pt x="4982817" y="21096"/>
                  <a:pt x="4982817" y="47119"/>
                </a:cubicBezTo>
                <a:lnTo>
                  <a:pt x="4982817" y="47119"/>
                </a:lnTo>
                <a:lnTo>
                  <a:pt x="0" y="47119"/>
                </a:ln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774122" y="5701380"/>
            <a:ext cx="371061" cy="424070"/>
          </a:xfrm>
          <a:custGeom>
            <a:avLst/>
            <a:gdLst/>
            <a:ahLst/>
            <a:cxnLst/>
            <a:rect l="l" t="t" r="r" b="b"/>
            <a:pathLst>
              <a:path w="371061" h="424070">
                <a:moveTo>
                  <a:pt x="371061" y="170456"/>
                </a:moveTo>
                <a:cubicBezTo>
                  <a:pt x="358803" y="178573"/>
                  <a:pt x="344722" y="185116"/>
                  <a:pt x="330062" y="190334"/>
                </a:cubicBezTo>
                <a:cubicBezTo>
                  <a:pt x="291134" y="204249"/>
                  <a:pt x="240030" y="212035"/>
                  <a:pt x="185530" y="212035"/>
                </a:cubicBezTo>
                <a:cubicBezTo>
                  <a:pt x="131031" y="212035"/>
                  <a:pt x="79844" y="204166"/>
                  <a:pt x="40999" y="190334"/>
                </a:cubicBezTo>
                <a:cubicBezTo>
                  <a:pt x="26422" y="185116"/>
                  <a:pt x="12258" y="178573"/>
                  <a:pt x="0" y="170456"/>
                </a:cubicBezTo>
                <a:lnTo>
                  <a:pt x="0" y="238539"/>
                </a:lnTo>
                <a:cubicBezTo>
                  <a:pt x="0" y="275148"/>
                  <a:pt x="83075" y="304800"/>
                  <a:pt x="185530" y="304800"/>
                </a:cubicBezTo>
                <a:cubicBezTo>
                  <a:pt x="287986" y="304800"/>
                  <a:pt x="371061" y="275148"/>
                  <a:pt x="371061" y="238539"/>
                </a:cubicBezTo>
                <a:lnTo>
                  <a:pt x="371061" y="170456"/>
                </a:lnTo>
                <a:close/>
                <a:moveTo>
                  <a:pt x="371061" y="106017"/>
                </a:moveTo>
                <a:lnTo>
                  <a:pt x="371061" y="66261"/>
                </a:lnTo>
                <a:cubicBezTo>
                  <a:pt x="371061" y="29652"/>
                  <a:pt x="287986" y="0"/>
                  <a:pt x="185530" y="0"/>
                </a:cubicBezTo>
                <a:cubicBezTo>
                  <a:pt x="83075" y="0"/>
                  <a:pt x="0" y="29652"/>
                  <a:pt x="0" y="66261"/>
                </a:cubicBezTo>
                <a:lnTo>
                  <a:pt x="0" y="106017"/>
                </a:lnTo>
                <a:cubicBezTo>
                  <a:pt x="0" y="142627"/>
                  <a:pt x="83075" y="172278"/>
                  <a:pt x="185530" y="172278"/>
                </a:cubicBezTo>
                <a:cubicBezTo>
                  <a:pt x="287986" y="172278"/>
                  <a:pt x="371061" y="142627"/>
                  <a:pt x="371061" y="106017"/>
                </a:cubicBezTo>
                <a:close/>
                <a:moveTo>
                  <a:pt x="330062" y="322856"/>
                </a:moveTo>
                <a:cubicBezTo>
                  <a:pt x="291217" y="336688"/>
                  <a:pt x="240113" y="344557"/>
                  <a:pt x="185530" y="344557"/>
                </a:cubicBezTo>
                <a:cubicBezTo>
                  <a:pt x="130948" y="344557"/>
                  <a:pt x="79844" y="336688"/>
                  <a:pt x="40999" y="322856"/>
                </a:cubicBezTo>
                <a:cubicBezTo>
                  <a:pt x="26422" y="317638"/>
                  <a:pt x="12258" y="311095"/>
                  <a:pt x="0" y="302978"/>
                </a:cubicBezTo>
                <a:lnTo>
                  <a:pt x="0" y="357809"/>
                </a:lnTo>
                <a:cubicBezTo>
                  <a:pt x="0" y="394418"/>
                  <a:pt x="83075" y="424070"/>
                  <a:pt x="185530" y="424070"/>
                </a:cubicBezTo>
                <a:cubicBezTo>
                  <a:pt x="287986" y="424070"/>
                  <a:pt x="371061" y="394418"/>
                  <a:pt x="371061" y="357809"/>
                </a:cubicBezTo>
                <a:lnTo>
                  <a:pt x="371061" y="302978"/>
                </a:lnTo>
                <a:cubicBezTo>
                  <a:pt x="358803" y="311095"/>
                  <a:pt x="344722" y="317638"/>
                  <a:pt x="330062" y="322856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53774" y="6219687"/>
            <a:ext cx="4617646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7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Set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0765" y="6596638"/>
            <a:ext cx="4723664" cy="47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39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5,593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9664" y="7067826"/>
            <a:ext cx="460586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4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pour entraînement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36775" y="5442226"/>
            <a:ext cx="4982817" cy="2143907"/>
          </a:xfrm>
          <a:custGeom>
            <a:avLst/>
            <a:gdLst/>
            <a:ahLst/>
            <a:cxnLst/>
            <a:rect l="l" t="t" r="r" b="b"/>
            <a:pathLst>
              <a:path w="4982817" h="2143907">
                <a:moveTo>
                  <a:pt x="47119" y="0"/>
                </a:moveTo>
                <a:lnTo>
                  <a:pt x="4935699" y="0"/>
                </a:lnTo>
                <a:cubicBezTo>
                  <a:pt x="4961722" y="0"/>
                  <a:pt x="4982817" y="21096"/>
                  <a:pt x="4982817" y="47119"/>
                </a:cubicBezTo>
                <a:lnTo>
                  <a:pt x="4982817" y="2049661"/>
                </a:lnTo>
                <a:cubicBezTo>
                  <a:pt x="4982817" y="2101712"/>
                  <a:pt x="4940622" y="2143907"/>
                  <a:pt x="4888571" y="2143907"/>
                </a:cubicBezTo>
                <a:lnTo>
                  <a:pt x="94246" y="2143907"/>
                </a:lnTo>
                <a:cubicBezTo>
                  <a:pt x="42195" y="2143907"/>
                  <a:pt x="0" y="2101712"/>
                  <a:pt x="0" y="2049661"/>
                </a:cubicBezTo>
                <a:lnTo>
                  <a:pt x="0" y="47119"/>
                </a:lnTo>
                <a:cubicBezTo>
                  <a:pt x="0" y="21096"/>
                  <a:pt x="21096" y="0"/>
                  <a:pt x="471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0678" dist="471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636775" y="5442226"/>
            <a:ext cx="4982817" cy="47119"/>
          </a:xfrm>
          <a:custGeom>
            <a:avLst/>
            <a:gdLst/>
            <a:ahLst/>
            <a:cxnLst/>
            <a:rect l="l" t="t" r="r" b="b"/>
            <a:pathLst>
              <a:path w="4982817" h="47119">
                <a:moveTo>
                  <a:pt x="47119" y="0"/>
                </a:moveTo>
                <a:lnTo>
                  <a:pt x="4935699" y="0"/>
                </a:lnTo>
                <a:cubicBezTo>
                  <a:pt x="4961722" y="0"/>
                  <a:pt x="4982817" y="21096"/>
                  <a:pt x="4982817" y="47119"/>
                </a:cubicBezTo>
                <a:lnTo>
                  <a:pt x="4982817" y="47119"/>
                </a:lnTo>
                <a:lnTo>
                  <a:pt x="0" y="47119"/>
                </a:ln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7913204" y="5701380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283762" y="7786"/>
                </a:moveTo>
                <a:cubicBezTo>
                  <a:pt x="273409" y="-2568"/>
                  <a:pt x="256595" y="-2568"/>
                  <a:pt x="246242" y="7786"/>
                </a:cubicBezTo>
                <a:cubicBezTo>
                  <a:pt x="235889" y="18139"/>
                  <a:pt x="235889" y="34953"/>
                  <a:pt x="246242" y="45306"/>
                </a:cubicBezTo>
                <a:lnTo>
                  <a:pt x="254028" y="53009"/>
                </a:lnTo>
                <a:lnTo>
                  <a:pt x="23274" y="283762"/>
                </a:lnTo>
                <a:cubicBezTo>
                  <a:pt x="8365" y="298671"/>
                  <a:pt x="0" y="318880"/>
                  <a:pt x="0" y="340001"/>
                </a:cubicBezTo>
                <a:lnTo>
                  <a:pt x="0" y="344557"/>
                </a:lnTo>
                <a:cubicBezTo>
                  <a:pt x="0" y="388454"/>
                  <a:pt x="35615" y="424070"/>
                  <a:pt x="79513" y="424070"/>
                </a:cubicBezTo>
                <a:lnTo>
                  <a:pt x="84068" y="424070"/>
                </a:lnTo>
                <a:cubicBezTo>
                  <a:pt x="105189" y="424070"/>
                  <a:pt x="125399" y="415704"/>
                  <a:pt x="140307" y="400795"/>
                </a:cubicBezTo>
                <a:lnTo>
                  <a:pt x="371061" y="170042"/>
                </a:lnTo>
                <a:lnTo>
                  <a:pt x="378847" y="177828"/>
                </a:lnTo>
                <a:cubicBezTo>
                  <a:pt x="389200" y="188181"/>
                  <a:pt x="406013" y="188181"/>
                  <a:pt x="416367" y="177828"/>
                </a:cubicBezTo>
                <a:cubicBezTo>
                  <a:pt x="426720" y="167474"/>
                  <a:pt x="426720" y="150661"/>
                  <a:pt x="416367" y="140307"/>
                </a:cubicBezTo>
                <a:lnTo>
                  <a:pt x="283845" y="7786"/>
                </a:lnTo>
                <a:close/>
                <a:moveTo>
                  <a:pt x="170042" y="212035"/>
                </a:moveTo>
                <a:lnTo>
                  <a:pt x="291548" y="90529"/>
                </a:lnTo>
                <a:lnTo>
                  <a:pt x="333541" y="132522"/>
                </a:lnTo>
                <a:lnTo>
                  <a:pt x="254028" y="212035"/>
                </a:lnTo>
                <a:lnTo>
                  <a:pt x="169959" y="212035"/>
                </a:ln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819361" y="6219687"/>
            <a:ext cx="4617646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7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Set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66352" y="6596638"/>
            <a:ext cx="4723664" cy="47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39" b="1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1,399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25251" y="7067826"/>
            <a:ext cx="460586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4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pour validation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802362" y="5442226"/>
            <a:ext cx="4982817" cy="2143907"/>
          </a:xfrm>
          <a:custGeom>
            <a:avLst/>
            <a:gdLst/>
            <a:ahLst/>
            <a:cxnLst/>
            <a:rect l="l" t="t" r="r" b="b"/>
            <a:pathLst>
              <a:path w="4982817" h="2143907">
                <a:moveTo>
                  <a:pt x="47119" y="0"/>
                </a:moveTo>
                <a:lnTo>
                  <a:pt x="4935699" y="0"/>
                </a:lnTo>
                <a:cubicBezTo>
                  <a:pt x="4961722" y="0"/>
                  <a:pt x="4982817" y="21096"/>
                  <a:pt x="4982817" y="47119"/>
                </a:cubicBezTo>
                <a:lnTo>
                  <a:pt x="4982817" y="2049661"/>
                </a:lnTo>
                <a:cubicBezTo>
                  <a:pt x="4982817" y="2101712"/>
                  <a:pt x="4940622" y="2143907"/>
                  <a:pt x="4888571" y="2143907"/>
                </a:cubicBezTo>
                <a:lnTo>
                  <a:pt x="94246" y="2143907"/>
                </a:lnTo>
                <a:cubicBezTo>
                  <a:pt x="42195" y="2143907"/>
                  <a:pt x="0" y="2101712"/>
                  <a:pt x="0" y="2049661"/>
                </a:cubicBezTo>
                <a:lnTo>
                  <a:pt x="0" y="47119"/>
                </a:lnTo>
                <a:cubicBezTo>
                  <a:pt x="0" y="21096"/>
                  <a:pt x="21096" y="0"/>
                  <a:pt x="471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0678" dist="471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0802362" y="5442226"/>
            <a:ext cx="4982817" cy="47119"/>
          </a:xfrm>
          <a:custGeom>
            <a:avLst/>
            <a:gdLst/>
            <a:ahLst/>
            <a:cxnLst/>
            <a:rect l="l" t="t" r="r" b="b"/>
            <a:pathLst>
              <a:path w="4982817" h="47119">
                <a:moveTo>
                  <a:pt x="47119" y="0"/>
                </a:moveTo>
                <a:lnTo>
                  <a:pt x="4935699" y="0"/>
                </a:lnTo>
                <a:cubicBezTo>
                  <a:pt x="4961722" y="0"/>
                  <a:pt x="4982817" y="21096"/>
                  <a:pt x="4982817" y="47119"/>
                </a:cubicBezTo>
                <a:lnTo>
                  <a:pt x="4982817" y="47119"/>
                </a:lnTo>
                <a:lnTo>
                  <a:pt x="0" y="47119"/>
                </a:ln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3025783" y="5701380"/>
            <a:ext cx="530087" cy="424070"/>
          </a:xfrm>
          <a:custGeom>
            <a:avLst/>
            <a:gdLst/>
            <a:ahLst/>
            <a:cxnLst/>
            <a:rect l="l" t="t" r="r" b="b"/>
            <a:pathLst>
              <a:path w="530087" h="424070">
                <a:moveTo>
                  <a:pt x="318052" y="26504"/>
                </a:moveTo>
                <a:lnTo>
                  <a:pt x="424070" y="26504"/>
                </a:lnTo>
                <a:cubicBezTo>
                  <a:pt x="438730" y="26504"/>
                  <a:pt x="450574" y="38348"/>
                  <a:pt x="450574" y="53009"/>
                </a:cubicBezTo>
                <a:cubicBezTo>
                  <a:pt x="450574" y="67669"/>
                  <a:pt x="438730" y="79513"/>
                  <a:pt x="424070" y="79513"/>
                </a:cubicBezTo>
                <a:lnTo>
                  <a:pt x="329979" y="79513"/>
                </a:lnTo>
                <a:cubicBezTo>
                  <a:pt x="325672" y="100882"/>
                  <a:pt x="311012" y="118524"/>
                  <a:pt x="291548" y="126972"/>
                </a:cubicBezTo>
                <a:lnTo>
                  <a:pt x="291548" y="371061"/>
                </a:lnTo>
                <a:lnTo>
                  <a:pt x="424070" y="371061"/>
                </a:lnTo>
                <a:cubicBezTo>
                  <a:pt x="438730" y="371061"/>
                  <a:pt x="450574" y="382905"/>
                  <a:pt x="450574" y="397565"/>
                </a:cubicBezTo>
                <a:cubicBezTo>
                  <a:pt x="450574" y="412225"/>
                  <a:pt x="438730" y="424070"/>
                  <a:pt x="424070" y="424070"/>
                </a:cubicBezTo>
                <a:lnTo>
                  <a:pt x="106017" y="424070"/>
                </a:lnTo>
                <a:cubicBezTo>
                  <a:pt x="91357" y="424070"/>
                  <a:pt x="79513" y="412225"/>
                  <a:pt x="79513" y="397565"/>
                </a:cubicBezTo>
                <a:cubicBezTo>
                  <a:pt x="79513" y="382905"/>
                  <a:pt x="91357" y="371061"/>
                  <a:pt x="106017" y="371061"/>
                </a:cubicBezTo>
                <a:lnTo>
                  <a:pt x="238539" y="371061"/>
                </a:lnTo>
                <a:lnTo>
                  <a:pt x="238539" y="126972"/>
                </a:lnTo>
                <a:cubicBezTo>
                  <a:pt x="219075" y="118441"/>
                  <a:pt x="204415" y="100799"/>
                  <a:pt x="200108" y="79513"/>
                </a:cubicBezTo>
                <a:lnTo>
                  <a:pt x="106017" y="79513"/>
                </a:lnTo>
                <a:cubicBezTo>
                  <a:pt x="91357" y="79513"/>
                  <a:pt x="79513" y="67669"/>
                  <a:pt x="79513" y="53009"/>
                </a:cubicBezTo>
                <a:cubicBezTo>
                  <a:pt x="79513" y="38348"/>
                  <a:pt x="91357" y="26504"/>
                  <a:pt x="106017" y="26504"/>
                </a:cubicBezTo>
                <a:lnTo>
                  <a:pt x="212035" y="26504"/>
                </a:lnTo>
                <a:cubicBezTo>
                  <a:pt x="224127" y="10436"/>
                  <a:pt x="243343" y="0"/>
                  <a:pt x="265043" y="0"/>
                </a:cubicBezTo>
                <a:cubicBezTo>
                  <a:pt x="286744" y="0"/>
                  <a:pt x="305960" y="10436"/>
                  <a:pt x="318052" y="26504"/>
                </a:cubicBezTo>
                <a:close/>
                <a:moveTo>
                  <a:pt x="364103" y="265043"/>
                </a:moveTo>
                <a:lnTo>
                  <a:pt x="484036" y="265043"/>
                </a:lnTo>
                <a:lnTo>
                  <a:pt x="424070" y="162173"/>
                </a:lnTo>
                <a:lnTo>
                  <a:pt x="364103" y="265043"/>
                </a:lnTo>
                <a:close/>
                <a:moveTo>
                  <a:pt x="424070" y="344557"/>
                </a:moveTo>
                <a:cubicBezTo>
                  <a:pt x="371972" y="344557"/>
                  <a:pt x="328654" y="316396"/>
                  <a:pt x="319709" y="279207"/>
                </a:cubicBezTo>
                <a:cubicBezTo>
                  <a:pt x="317555" y="270096"/>
                  <a:pt x="320537" y="260737"/>
                  <a:pt x="325258" y="252620"/>
                </a:cubicBezTo>
                <a:lnTo>
                  <a:pt x="404108" y="117447"/>
                </a:lnTo>
                <a:cubicBezTo>
                  <a:pt x="408250" y="110324"/>
                  <a:pt x="415870" y="106017"/>
                  <a:pt x="424070" y="106017"/>
                </a:cubicBezTo>
                <a:cubicBezTo>
                  <a:pt x="432269" y="106017"/>
                  <a:pt x="439889" y="110407"/>
                  <a:pt x="444031" y="117447"/>
                </a:cubicBezTo>
                <a:lnTo>
                  <a:pt x="522881" y="252620"/>
                </a:lnTo>
                <a:cubicBezTo>
                  <a:pt x="527602" y="260737"/>
                  <a:pt x="530584" y="270096"/>
                  <a:pt x="528430" y="279207"/>
                </a:cubicBezTo>
                <a:cubicBezTo>
                  <a:pt x="519485" y="316313"/>
                  <a:pt x="476167" y="344557"/>
                  <a:pt x="424070" y="344557"/>
                </a:cubicBezTo>
                <a:close/>
                <a:moveTo>
                  <a:pt x="105023" y="162173"/>
                </a:moveTo>
                <a:lnTo>
                  <a:pt x="45057" y="265043"/>
                </a:lnTo>
                <a:lnTo>
                  <a:pt x="165072" y="265043"/>
                </a:lnTo>
                <a:lnTo>
                  <a:pt x="105023" y="162173"/>
                </a:lnTo>
                <a:close/>
                <a:moveTo>
                  <a:pt x="745" y="279207"/>
                </a:moveTo>
                <a:cubicBezTo>
                  <a:pt x="-1408" y="270096"/>
                  <a:pt x="1574" y="260737"/>
                  <a:pt x="6295" y="252620"/>
                </a:cubicBezTo>
                <a:lnTo>
                  <a:pt x="85145" y="117447"/>
                </a:lnTo>
                <a:cubicBezTo>
                  <a:pt x="89287" y="110324"/>
                  <a:pt x="96907" y="106017"/>
                  <a:pt x="105106" y="106017"/>
                </a:cubicBezTo>
                <a:cubicBezTo>
                  <a:pt x="113306" y="106017"/>
                  <a:pt x="120926" y="110407"/>
                  <a:pt x="125067" y="117447"/>
                </a:cubicBezTo>
                <a:lnTo>
                  <a:pt x="203918" y="252620"/>
                </a:lnTo>
                <a:cubicBezTo>
                  <a:pt x="208639" y="260737"/>
                  <a:pt x="211621" y="270096"/>
                  <a:pt x="209467" y="279207"/>
                </a:cubicBezTo>
                <a:cubicBezTo>
                  <a:pt x="200522" y="316313"/>
                  <a:pt x="157204" y="344557"/>
                  <a:pt x="105106" y="344557"/>
                </a:cubicBezTo>
                <a:cubicBezTo>
                  <a:pt x="53009" y="344557"/>
                  <a:pt x="9691" y="316396"/>
                  <a:pt x="745" y="279207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0984948" y="6219687"/>
            <a:ext cx="4617646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70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Ratio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31939" y="6596638"/>
            <a:ext cx="4723664" cy="47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39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80/20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90838" y="7067826"/>
            <a:ext cx="460586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4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ML practice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1188" y="7774609"/>
            <a:ext cx="15313623" cy="895258"/>
          </a:xfrm>
          <a:custGeom>
            <a:avLst/>
            <a:gdLst/>
            <a:ahLst/>
            <a:cxnLst/>
            <a:rect l="l" t="t" r="r" b="b"/>
            <a:pathLst>
              <a:path w="15313623" h="895258">
                <a:moveTo>
                  <a:pt x="94235" y="0"/>
                </a:moveTo>
                <a:lnTo>
                  <a:pt x="15219388" y="0"/>
                </a:lnTo>
                <a:cubicBezTo>
                  <a:pt x="15271433" y="0"/>
                  <a:pt x="15313623" y="42190"/>
                  <a:pt x="15313623" y="94235"/>
                </a:cubicBezTo>
                <a:lnTo>
                  <a:pt x="15313623" y="801023"/>
                </a:lnTo>
                <a:cubicBezTo>
                  <a:pt x="15313623" y="853068"/>
                  <a:pt x="15271433" y="895258"/>
                  <a:pt x="15219388" y="895258"/>
                </a:cubicBezTo>
                <a:lnTo>
                  <a:pt x="94235" y="895258"/>
                </a:lnTo>
                <a:cubicBezTo>
                  <a:pt x="42190" y="895258"/>
                  <a:pt x="0" y="853068"/>
                  <a:pt x="0" y="801023"/>
                </a:cubicBezTo>
                <a:lnTo>
                  <a:pt x="0" y="94235"/>
                </a:lnTo>
                <a:cubicBezTo>
                  <a:pt x="0" y="42190"/>
                  <a:pt x="42190" y="0"/>
                  <a:pt x="94235" y="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759791" y="8010203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1425345" y="8030817"/>
            <a:ext cx="11332081" cy="38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5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globale: Modèle industriel opérationnel avec précision supérieure à 90% et excellente robustesse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818" y="461818"/>
            <a:ext cx="92364" cy="554182"/>
          </a:xfrm>
          <a:custGeom>
            <a:avLst/>
            <a:gdLst/>
            <a:ahLst/>
            <a:cxnLst/>
            <a:rect l="l" t="t" r="r" b="b"/>
            <a:pathLst>
              <a:path w="92364" h="554182">
                <a:moveTo>
                  <a:pt x="0" y="0"/>
                </a:moveTo>
                <a:lnTo>
                  <a:pt x="92364" y="0"/>
                </a:lnTo>
                <a:lnTo>
                  <a:pt x="92364" y="554182"/>
                </a:lnTo>
                <a:lnTo>
                  <a:pt x="0" y="554182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92727" y="461818"/>
            <a:ext cx="6199909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64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Déploiement Production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1818" y="1108364"/>
            <a:ext cx="15447818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complète et fichiers de déploiement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1818" y="1616364"/>
            <a:ext cx="15332364" cy="2678545"/>
          </a:xfrm>
          <a:custGeom>
            <a:avLst/>
            <a:gdLst/>
            <a:ahLst/>
            <a:cxnLst/>
            <a:rect l="l" t="t" r="r" b="b"/>
            <a:pathLst>
              <a:path w="15332364" h="2678545">
                <a:moveTo>
                  <a:pt x="92356" y="0"/>
                </a:moveTo>
                <a:lnTo>
                  <a:pt x="15240007" y="0"/>
                </a:lnTo>
                <a:cubicBezTo>
                  <a:pt x="15291014" y="0"/>
                  <a:pt x="15332364" y="41349"/>
                  <a:pt x="15332364" y="92356"/>
                </a:cubicBezTo>
                <a:lnTo>
                  <a:pt x="15332364" y="2586189"/>
                </a:lnTo>
                <a:cubicBezTo>
                  <a:pt x="15332364" y="2637196"/>
                  <a:pt x="15291014" y="2678545"/>
                  <a:pt x="15240007" y="2678545"/>
                </a:cubicBezTo>
                <a:lnTo>
                  <a:pt x="92356" y="2678545"/>
                </a:lnTo>
                <a:cubicBezTo>
                  <a:pt x="41349" y="2678545"/>
                  <a:pt x="0" y="2637196"/>
                  <a:pt x="0" y="2586189"/>
                </a:cubicBezTo>
                <a:lnTo>
                  <a:pt x="0" y="92356"/>
                </a:lnTo>
                <a:cubicBezTo>
                  <a:pt x="0" y="41349"/>
                  <a:pt x="41349" y="0"/>
                  <a:pt x="923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8636" dist="23090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23455" y="1847273"/>
            <a:ext cx="15009091" cy="36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82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de Production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273" y="2413000"/>
            <a:ext cx="4456545" cy="1639455"/>
          </a:xfrm>
          <a:custGeom>
            <a:avLst/>
            <a:gdLst/>
            <a:ahLst/>
            <a:cxnLst/>
            <a:rect l="l" t="t" r="r" b="b"/>
            <a:pathLst>
              <a:path w="4456545" h="1639455">
                <a:moveTo>
                  <a:pt x="92367" y="0"/>
                </a:moveTo>
                <a:lnTo>
                  <a:pt x="4364179" y="0"/>
                </a:lnTo>
                <a:cubicBezTo>
                  <a:pt x="4415191" y="0"/>
                  <a:pt x="4456545" y="41354"/>
                  <a:pt x="4456545" y="92367"/>
                </a:cubicBezTo>
                <a:lnTo>
                  <a:pt x="4456545" y="1547088"/>
                </a:lnTo>
                <a:cubicBezTo>
                  <a:pt x="4456545" y="1598100"/>
                  <a:pt x="4415191" y="1639455"/>
                  <a:pt x="4364179" y="1639455"/>
                </a:cubicBezTo>
                <a:lnTo>
                  <a:pt x="92367" y="1639455"/>
                </a:lnTo>
                <a:cubicBezTo>
                  <a:pt x="41388" y="1639455"/>
                  <a:pt x="0" y="1598066"/>
                  <a:pt x="0" y="1547088"/>
                </a:cubicBezTo>
                <a:lnTo>
                  <a:pt x="0" y="92367"/>
                </a:lnTo>
                <a:cubicBezTo>
                  <a:pt x="0" y="41388"/>
                  <a:pt x="41388" y="0"/>
                  <a:pt x="92367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 w="25400">
            <a:solidFill>
              <a:srgbClr val="61DAF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657259" y="2609273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452654" y="191799"/>
                </a:moveTo>
                <a:cubicBezTo>
                  <a:pt x="446809" y="189851"/>
                  <a:pt x="440964" y="188011"/>
                  <a:pt x="435119" y="186279"/>
                </a:cubicBezTo>
                <a:cubicBezTo>
                  <a:pt x="436093" y="182274"/>
                  <a:pt x="436959" y="178269"/>
                  <a:pt x="437825" y="174264"/>
                </a:cubicBezTo>
                <a:cubicBezTo>
                  <a:pt x="451139" y="109754"/>
                  <a:pt x="442371" y="57908"/>
                  <a:pt x="412822" y="40806"/>
                </a:cubicBezTo>
                <a:cubicBezTo>
                  <a:pt x="384355" y="24462"/>
                  <a:pt x="337921" y="41455"/>
                  <a:pt x="290945" y="82370"/>
                </a:cubicBezTo>
                <a:cubicBezTo>
                  <a:pt x="286291" y="86374"/>
                  <a:pt x="281745" y="90596"/>
                  <a:pt x="277416" y="94817"/>
                </a:cubicBezTo>
                <a:cubicBezTo>
                  <a:pt x="274493" y="92003"/>
                  <a:pt x="271462" y="89189"/>
                  <a:pt x="268432" y="86483"/>
                </a:cubicBezTo>
                <a:cubicBezTo>
                  <a:pt x="219183" y="42754"/>
                  <a:pt x="169826" y="24354"/>
                  <a:pt x="140277" y="41564"/>
                </a:cubicBezTo>
                <a:cubicBezTo>
                  <a:pt x="111919" y="58016"/>
                  <a:pt x="103476" y="106832"/>
                  <a:pt x="115382" y="167878"/>
                </a:cubicBezTo>
                <a:cubicBezTo>
                  <a:pt x="116573" y="173939"/>
                  <a:pt x="117872" y="179893"/>
                  <a:pt x="119387" y="185954"/>
                </a:cubicBezTo>
                <a:cubicBezTo>
                  <a:pt x="112460" y="187902"/>
                  <a:pt x="105641" y="190067"/>
                  <a:pt x="99255" y="192340"/>
                </a:cubicBezTo>
                <a:cubicBezTo>
                  <a:pt x="41455" y="212364"/>
                  <a:pt x="0" y="243970"/>
                  <a:pt x="0" y="276658"/>
                </a:cubicBezTo>
                <a:cubicBezTo>
                  <a:pt x="0" y="310428"/>
                  <a:pt x="44161" y="344307"/>
                  <a:pt x="104234" y="364872"/>
                </a:cubicBezTo>
                <a:cubicBezTo>
                  <a:pt x="109105" y="366496"/>
                  <a:pt x="113975" y="368120"/>
                  <a:pt x="118954" y="369527"/>
                </a:cubicBezTo>
                <a:cubicBezTo>
                  <a:pt x="117331" y="376021"/>
                  <a:pt x="115924" y="382407"/>
                  <a:pt x="114625" y="389010"/>
                </a:cubicBezTo>
                <a:cubicBezTo>
                  <a:pt x="103260" y="449082"/>
                  <a:pt x="112135" y="496707"/>
                  <a:pt x="140494" y="513051"/>
                </a:cubicBezTo>
                <a:cubicBezTo>
                  <a:pt x="169718" y="529936"/>
                  <a:pt x="218859" y="512618"/>
                  <a:pt x="266700" y="470730"/>
                </a:cubicBezTo>
                <a:cubicBezTo>
                  <a:pt x="270488" y="467374"/>
                  <a:pt x="274277" y="463911"/>
                  <a:pt x="278065" y="460231"/>
                </a:cubicBezTo>
                <a:cubicBezTo>
                  <a:pt x="282828" y="464885"/>
                  <a:pt x="287807" y="469323"/>
                  <a:pt x="292786" y="473652"/>
                </a:cubicBezTo>
                <a:cubicBezTo>
                  <a:pt x="339112" y="513484"/>
                  <a:pt x="384897" y="529612"/>
                  <a:pt x="413147" y="513268"/>
                </a:cubicBezTo>
                <a:cubicBezTo>
                  <a:pt x="442371" y="496382"/>
                  <a:pt x="451896" y="445186"/>
                  <a:pt x="439557" y="382840"/>
                </a:cubicBezTo>
                <a:cubicBezTo>
                  <a:pt x="438583" y="378078"/>
                  <a:pt x="437501" y="373207"/>
                  <a:pt x="436310" y="368228"/>
                </a:cubicBezTo>
                <a:cubicBezTo>
                  <a:pt x="439774" y="367254"/>
                  <a:pt x="443129" y="366171"/>
                  <a:pt x="446484" y="365089"/>
                </a:cubicBezTo>
                <a:cubicBezTo>
                  <a:pt x="508938" y="344415"/>
                  <a:pt x="554182" y="310970"/>
                  <a:pt x="554182" y="276658"/>
                </a:cubicBezTo>
                <a:cubicBezTo>
                  <a:pt x="554182" y="243862"/>
                  <a:pt x="511536" y="212039"/>
                  <a:pt x="452654" y="191799"/>
                </a:cubicBezTo>
                <a:close/>
                <a:moveTo>
                  <a:pt x="306207" y="99904"/>
                </a:moveTo>
                <a:cubicBezTo>
                  <a:pt x="346472" y="64835"/>
                  <a:pt x="384031" y="51089"/>
                  <a:pt x="401132" y="60938"/>
                </a:cubicBezTo>
                <a:cubicBezTo>
                  <a:pt x="419425" y="71437"/>
                  <a:pt x="426460" y="113867"/>
                  <a:pt x="414987" y="169610"/>
                </a:cubicBezTo>
                <a:cubicBezTo>
                  <a:pt x="414229" y="173290"/>
                  <a:pt x="413472" y="176862"/>
                  <a:pt x="412497" y="180434"/>
                </a:cubicBezTo>
                <a:cubicBezTo>
                  <a:pt x="388468" y="175022"/>
                  <a:pt x="364115" y="171125"/>
                  <a:pt x="339653" y="168961"/>
                </a:cubicBezTo>
                <a:cubicBezTo>
                  <a:pt x="325582" y="148828"/>
                  <a:pt x="310212" y="129562"/>
                  <a:pt x="293543" y="111486"/>
                </a:cubicBezTo>
                <a:cubicBezTo>
                  <a:pt x="297764" y="107481"/>
                  <a:pt x="301878" y="103693"/>
                  <a:pt x="306207" y="99904"/>
                </a:cubicBezTo>
                <a:close/>
                <a:moveTo>
                  <a:pt x="180975" y="332834"/>
                </a:moveTo>
                <a:cubicBezTo>
                  <a:pt x="186495" y="342251"/>
                  <a:pt x="192124" y="351667"/>
                  <a:pt x="198077" y="360868"/>
                </a:cubicBezTo>
                <a:cubicBezTo>
                  <a:pt x="181191" y="359028"/>
                  <a:pt x="164414" y="356322"/>
                  <a:pt x="147854" y="352750"/>
                </a:cubicBezTo>
                <a:cubicBezTo>
                  <a:pt x="152616" y="337163"/>
                  <a:pt x="158570" y="321036"/>
                  <a:pt x="165497" y="304584"/>
                </a:cubicBezTo>
                <a:cubicBezTo>
                  <a:pt x="170476" y="314109"/>
                  <a:pt x="175563" y="323525"/>
                  <a:pt x="180975" y="332834"/>
                </a:cubicBezTo>
                <a:close/>
                <a:moveTo>
                  <a:pt x="148179" y="202623"/>
                </a:moveTo>
                <a:cubicBezTo>
                  <a:pt x="163765" y="199159"/>
                  <a:pt x="180326" y="196345"/>
                  <a:pt x="197536" y="194180"/>
                </a:cubicBezTo>
                <a:cubicBezTo>
                  <a:pt x="191799" y="203164"/>
                  <a:pt x="186170" y="212364"/>
                  <a:pt x="180867" y="221673"/>
                </a:cubicBezTo>
                <a:cubicBezTo>
                  <a:pt x="175563" y="230873"/>
                  <a:pt x="170368" y="240290"/>
                  <a:pt x="165497" y="249815"/>
                </a:cubicBezTo>
                <a:cubicBezTo>
                  <a:pt x="158678" y="233687"/>
                  <a:pt x="152941" y="217884"/>
                  <a:pt x="148179" y="202623"/>
                </a:cubicBezTo>
                <a:close/>
                <a:moveTo>
                  <a:pt x="177836" y="277199"/>
                </a:moveTo>
                <a:cubicBezTo>
                  <a:pt x="184980" y="262262"/>
                  <a:pt x="192773" y="247650"/>
                  <a:pt x="200999" y="233254"/>
                </a:cubicBezTo>
                <a:cubicBezTo>
                  <a:pt x="209225" y="218859"/>
                  <a:pt x="218101" y="204896"/>
                  <a:pt x="227409" y="191149"/>
                </a:cubicBezTo>
                <a:cubicBezTo>
                  <a:pt x="243645" y="189959"/>
                  <a:pt x="260206" y="189309"/>
                  <a:pt x="277091" y="189309"/>
                </a:cubicBezTo>
                <a:cubicBezTo>
                  <a:pt x="293976" y="189309"/>
                  <a:pt x="310645" y="189959"/>
                  <a:pt x="326772" y="191149"/>
                </a:cubicBezTo>
                <a:cubicBezTo>
                  <a:pt x="335973" y="204788"/>
                  <a:pt x="344740" y="218750"/>
                  <a:pt x="353074" y="233038"/>
                </a:cubicBezTo>
                <a:cubicBezTo>
                  <a:pt x="361409" y="247325"/>
                  <a:pt x="369202" y="261937"/>
                  <a:pt x="376562" y="276766"/>
                </a:cubicBezTo>
                <a:cubicBezTo>
                  <a:pt x="369310" y="291703"/>
                  <a:pt x="361517" y="306424"/>
                  <a:pt x="353183" y="320928"/>
                </a:cubicBezTo>
                <a:cubicBezTo>
                  <a:pt x="344957" y="335323"/>
                  <a:pt x="336189" y="349286"/>
                  <a:pt x="326989" y="363141"/>
                </a:cubicBezTo>
                <a:cubicBezTo>
                  <a:pt x="310861" y="364331"/>
                  <a:pt x="294084" y="364872"/>
                  <a:pt x="277091" y="364872"/>
                </a:cubicBezTo>
                <a:cubicBezTo>
                  <a:pt x="260097" y="364872"/>
                  <a:pt x="243645" y="364331"/>
                  <a:pt x="227734" y="363357"/>
                </a:cubicBezTo>
                <a:cubicBezTo>
                  <a:pt x="218317" y="349611"/>
                  <a:pt x="209442" y="335540"/>
                  <a:pt x="201107" y="321144"/>
                </a:cubicBezTo>
                <a:cubicBezTo>
                  <a:pt x="192773" y="306748"/>
                  <a:pt x="185088" y="292136"/>
                  <a:pt x="177836" y="277199"/>
                </a:cubicBezTo>
                <a:close/>
                <a:moveTo>
                  <a:pt x="373315" y="332617"/>
                </a:moveTo>
                <a:cubicBezTo>
                  <a:pt x="378835" y="323092"/>
                  <a:pt x="384031" y="313459"/>
                  <a:pt x="389118" y="303718"/>
                </a:cubicBezTo>
                <a:cubicBezTo>
                  <a:pt x="396045" y="319412"/>
                  <a:pt x="402107" y="335323"/>
                  <a:pt x="407410" y="351667"/>
                </a:cubicBezTo>
                <a:cubicBezTo>
                  <a:pt x="390633" y="355456"/>
                  <a:pt x="373640" y="358378"/>
                  <a:pt x="356538" y="360326"/>
                </a:cubicBezTo>
                <a:cubicBezTo>
                  <a:pt x="362383" y="351234"/>
                  <a:pt x="367903" y="341926"/>
                  <a:pt x="373315" y="332617"/>
                </a:cubicBezTo>
                <a:close/>
                <a:moveTo>
                  <a:pt x="388901" y="249815"/>
                </a:moveTo>
                <a:cubicBezTo>
                  <a:pt x="383814" y="240290"/>
                  <a:pt x="378619" y="230765"/>
                  <a:pt x="373207" y="221456"/>
                </a:cubicBezTo>
                <a:cubicBezTo>
                  <a:pt x="367903" y="212256"/>
                  <a:pt x="362383" y="203164"/>
                  <a:pt x="356646" y="194180"/>
                </a:cubicBezTo>
                <a:cubicBezTo>
                  <a:pt x="374073" y="196345"/>
                  <a:pt x="390741" y="199267"/>
                  <a:pt x="406328" y="202839"/>
                </a:cubicBezTo>
                <a:cubicBezTo>
                  <a:pt x="401349" y="218859"/>
                  <a:pt x="395504" y="234445"/>
                  <a:pt x="388901" y="249815"/>
                </a:cubicBezTo>
                <a:close/>
                <a:moveTo>
                  <a:pt x="277307" y="128046"/>
                </a:moveTo>
                <a:cubicBezTo>
                  <a:pt x="288672" y="140386"/>
                  <a:pt x="299388" y="153374"/>
                  <a:pt x="309346" y="166796"/>
                </a:cubicBezTo>
                <a:cubicBezTo>
                  <a:pt x="287915" y="165822"/>
                  <a:pt x="266375" y="165822"/>
                  <a:pt x="244944" y="166796"/>
                </a:cubicBezTo>
                <a:cubicBezTo>
                  <a:pt x="255551" y="152833"/>
                  <a:pt x="266484" y="139844"/>
                  <a:pt x="277307" y="128046"/>
                </a:cubicBezTo>
                <a:close/>
                <a:moveTo>
                  <a:pt x="151751" y="61696"/>
                </a:moveTo>
                <a:cubicBezTo>
                  <a:pt x="169935" y="51089"/>
                  <a:pt x="210308" y="66242"/>
                  <a:pt x="252845" y="103909"/>
                </a:cubicBezTo>
                <a:cubicBezTo>
                  <a:pt x="255551" y="106290"/>
                  <a:pt x="258257" y="108888"/>
                  <a:pt x="261072" y="111486"/>
                </a:cubicBezTo>
                <a:cubicBezTo>
                  <a:pt x="244295" y="129562"/>
                  <a:pt x="228816" y="148828"/>
                  <a:pt x="214637" y="168961"/>
                </a:cubicBezTo>
                <a:cubicBezTo>
                  <a:pt x="190175" y="171125"/>
                  <a:pt x="165930" y="174914"/>
                  <a:pt x="141901" y="180217"/>
                </a:cubicBezTo>
                <a:cubicBezTo>
                  <a:pt x="140494" y="174697"/>
                  <a:pt x="139303" y="169069"/>
                  <a:pt x="138112" y="163440"/>
                </a:cubicBezTo>
                <a:cubicBezTo>
                  <a:pt x="127938" y="111053"/>
                  <a:pt x="134649" y="71546"/>
                  <a:pt x="151751" y="61696"/>
                </a:cubicBezTo>
                <a:close/>
                <a:moveTo>
                  <a:pt x="125232" y="347013"/>
                </a:moveTo>
                <a:cubicBezTo>
                  <a:pt x="120686" y="345714"/>
                  <a:pt x="116248" y="344307"/>
                  <a:pt x="111811" y="342792"/>
                </a:cubicBezTo>
                <a:cubicBezTo>
                  <a:pt x="88756" y="335540"/>
                  <a:pt x="62562" y="324066"/>
                  <a:pt x="43620" y="309021"/>
                </a:cubicBezTo>
                <a:cubicBezTo>
                  <a:pt x="32688" y="301445"/>
                  <a:pt x="25328" y="289755"/>
                  <a:pt x="23271" y="276658"/>
                </a:cubicBezTo>
                <a:cubicBezTo>
                  <a:pt x="23271" y="256850"/>
                  <a:pt x="57475" y="231522"/>
                  <a:pt x="106832" y="214313"/>
                </a:cubicBezTo>
                <a:cubicBezTo>
                  <a:pt x="113001" y="212148"/>
                  <a:pt x="119279" y="210199"/>
                  <a:pt x="125557" y="208359"/>
                </a:cubicBezTo>
                <a:cubicBezTo>
                  <a:pt x="132917" y="231847"/>
                  <a:pt x="141793" y="254902"/>
                  <a:pt x="152075" y="277199"/>
                </a:cubicBezTo>
                <a:cubicBezTo>
                  <a:pt x="141684" y="299821"/>
                  <a:pt x="132701" y="323201"/>
                  <a:pt x="125232" y="347013"/>
                </a:cubicBezTo>
                <a:close/>
                <a:moveTo>
                  <a:pt x="251438" y="453087"/>
                </a:moveTo>
                <a:cubicBezTo>
                  <a:pt x="233579" y="469431"/>
                  <a:pt x="212905" y="482420"/>
                  <a:pt x="190392" y="491295"/>
                </a:cubicBezTo>
                <a:cubicBezTo>
                  <a:pt x="178377" y="497032"/>
                  <a:pt x="164523" y="497573"/>
                  <a:pt x="152184" y="492702"/>
                </a:cubicBezTo>
                <a:cubicBezTo>
                  <a:pt x="134974" y="482744"/>
                  <a:pt x="127830" y="444536"/>
                  <a:pt x="137571" y="393123"/>
                </a:cubicBezTo>
                <a:cubicBezTo>
                  <a:pt x="138762" y="387061"/>
                  <a:pt x="140061" y="381000"/>
                  <a:pt x="141576" y="375047"/>
                </a:cubicBezTo>
                <a:cubicBezTo>
                  <a:pt x="165822" y="380242"/>
                  <a:pt x="190284" y="383814"/>
                  <a:pt x="215070" y="385654"/>
                </a:cubicBezTo>
                <a:cubicBezTo>
                  <a:pt x="229358" y="405895"/>
                  <a:pt x="245052" y="425270"/>
                  <a:pt x="261829" y="443454"/>
                </a:cubicBezTo>
                <a:cubicBezTo>
                  <a:pt x="258366" y="446809"/>
                  <a:pt x="254902" y="450056"/>
                  <a:pt x="251438" y="453087"/>
                </a:cubicBezTo>
                <a:close/>
                <a:moveTo>
                  <a:pt x="277957" y="426785"/>
                </a:moveTo>
                <a:cubicBezTo>
                  <a:pt x="266916" y="414879"/>
                  <a:pt x="255876" y="401674"/>
                  <a:pt x="245161" y="387494"/>
                </a:cubicBezTo>
                <a:cubicBezTo>
                  <a:pt x="255551" y="387927"/>
                  <a:pt x="266267" y="388144"/>
                  <a:pt x="277091" y="388144"/>
                </a:cubicBezTo>
                <a:cubicBezTo>
                  <a:pt x="288239" y="388144"/>
                  <a:pt x="299172" y="387927"/>
                  <a:pt x="309995" y="387386"/>
                </a:cubicBezTo>
                <a:cubicBezTo>
                  <a:pt x="300037" y="401132"/>
                  <a:pt x="289322" y="414229"/>
                  <a:pt x="277957" y="426785"/>
                </a:cubicBezTo>
                <a:close/>
                <a:moveTo>
                  <a:pt x="419425" y="459257"/>
                </a:moveTo>
                <a:cubicBezTo>
                  <a:pt x="418451" y="472462"/>
                  <a:pt x="411956" y="484801"/>
                  <a:pt x="401565" y="493135"/>
                </a:cubicBezTo>
                <a:cubicBezTo>
                  <a:pt x="384355" y="503093"/>
                  <a:pt x="347663" y="490105"/>
                  <a:pt x="308047" y="456118"/>
                </a:cubicBezTo>
                <a:cubicBezTo>
                  <a:pt x="303501" y="452221"/>
                  <a:pt x="298955" y="448000"/>
                  <a:pt x="294301" y="443670"/>
                </a:cubicBezTo>
                <a:cubicBezTo>
                  <a:pt x="310861" y="425378"/>
                  <a:pt x="326123" y="406003"/>
                  <a:pt x="339978" y="385654"/>
                </a:cubicBezTo>
                <a:cubicBezTo>
                  <a:pt x="364764" y="383598"/>
                  <a:pt x="389443" y="379809"/>
                  <a:pt x="413796" y="374289"/>
                </a:cubicBezTo>
                <a:cubicBezTo>
                  <a:pt x="414879" y="378727"/>
                  <a:pt x="415853" y="383165"/>
                  <a:pt x="416719" y="387494"/>
                </a:cubicBezTo>
                <a:cubicBezTo>
                  <a:pt x="422022" y="410874"/>
                  <a:pt x="422888" y="435228"/>
                  <a:pt x="419425" y="459257"/>
                </a:cubicBezTo>
                <a:close/>
                <a:moveTo>
                  <a:pt x="439124" y="342900"/>
                </a:moveTo>
                <a:cubicBezTo>
                  <a:pt x="436093" y="343874"/>
                  <a:pt x="433063" y="344848"/>
                  <a:pt x="429924" y="345714"/>
                </a:cubicBezTo>
                <a:cubicBezTo>
                  <a:pt x="422347" y="322118"/>
                  <a:pt x="413039" y="299063"/>
                  <a:pt x="402323" y="276658"/>
                </a:cubicBezTo>
                <a:cubicBezTo>
                  <a:pt x="412714" y="254577"/>
                  <a:pt x="421481" y="231847"/>
                  <a:pt x="428841" y="208576"/>
                </a:cubicBezTo>
                <a:cubicBezTo>
                  <a:pt x="434470" y="210199"/>
                  <a:pt x="439882" y="211931"/>
                  <a:pt x="445077" y="213663"/>
                </a:cubicBezTo>
                <a:cubicBezTo>
                  <a:pt x="495516" y="230981"/>
                  <a:pt x="530911" y="256742"/>
                  <a:pt x="530911" y="276441"/>
                </a:cubicBezTo>
                <a:cubicBezTo>
                  <a:pt x="530911" y="297656"/>
                  <a:pt x="493135" y="325041"/>
                  <a:pt x="439124" y="342900"/>
                </a:cubicBezTo>
                <a:close/>
                <a:moveTo>
                  <a:pt x="277091" y="326664"/>
                </a:moveTo>
                <a:cubicBezTo>
                  <a:pt x="304451" y="326664"/>
                  <a:pt x="326664" y="304451"/>
                  <a:pt x="326664" y="277091"/>
                </a:cubicBezTo>
                <a:cubicBezTo>
                  <a:pt x="326664" y="249731"/>
                  <a:pt x="304451" y="227518"/>
                  <a:pt x="277091" y="227518"/>
                </a:cubicBezTo>
                <a:cubicBezTo>
                  <a:pt x="249731" y="227518"/>
                  <a:pt x="227518" y="249731"/>
                  <a:pt x="227518" y="277091"/>
                </a:cubicBezTo>
                <a:cubicBezTo>
                  <a:pt x="227518" y="304451"/>
                  <a:pt x="249731" y="326664"/>
                  <a:pt x="277091" y="326664"/>
                </a:cubicBezTo>
                <a:close/>
              </a:path>
            </a:pathLst>
          </a:custGeom>
          <a:solidFill>
            <a:srgbClr val="61DA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42818" y="3255818"/>
            <a:ext cx="4179455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18" b="1" dirty="0">
                <a:solidFill>
                  <a:srgbClr val="2E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0136" y="3625273"/>
            <a:ext cx="4144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3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utilisateur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60879" y="3059545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340005" y="188471"/>
                </a:moveTo>
                <a:cubicBezTo>
                  <a:pt x="348461" y="180014"/>
                  <a:pt x="348461" y="166282"/>
                  <a:pt x="340005" y="157825"/>
                </a:cubicBezTo>
                <a:lnTo>
                  <a:pt x="231766" y="49587"/>
                </a:lnTo>
                <a:cubicBezTo>
                  <a:pt x="223310" y="41131"/>
                  <a:pt x="209577" y="41131"/>
                  <a:pt x="201121" y="49587"/>
                </a:cubicBezTo>
                <a:cubicBezTo>
                  <a:pt x="192665" y="58043"/>
                  <a:pt x="192665" y="71776"/>
                  <a:pt x="201121" y="80232"/>
                </a:cubicBezTo>
                <a:lnTo>
                  <a:pt x="272423" y="151534"/>
                </a:lnTo>
                <a:lnTo>
                  <a:pt x="21648" y="151534"/>
                </a:lnTo>
                <a:cubicBezTo>
                  <a:pt x="9674" y="151534"/>
                  <a:pt x="0" y="161208"/>
                  <a:pt x="0" y="173182"/>
                </a:cubicBezTo>
                <a:cubicBezTo>
                  <a:pt x="0" y="185156"/>
                  <a:pt x="9674" y="194830"/>
                  <a:pt x="21648" y="194830"/>
                </a:cubicBezTo>
                <a:lnTo>
                  <a:pt x="272423" y="194830"/>
                </a:lnTo>
                <a:lnTo>
                  <a:pt x="201121" y="266132"/>
                </a:lnTo>
                <a:cubicBezTo>
                  <a:pt x="192665" y="274588"/>
                  <a:pt x="192665" y="288321"/>
                  <a:pt x="201121" y="296777"/>
                </a:cubicBezTo>
                <a:cubicBezTo>
                  <a:pt x="209577" y="305233"/>
                  <a:pt x="223310" y="305233"/>
                  <a:pt x="231766" y="296777"/>
                </a:cubicBezTo>
                <a:lnTo>
                  <a:pt x="340005" y="188538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897743" y="2413000"/>
            <a:ext cx="4456545" cy="1639455"/>
          </a:xfrm>
          <a:custGeom>
            <a:avLst/>
            <a:gdLst/>
            <a:ahLst/>
            <a:cxnLst/>
            <a:rect l="l" t="t" r="r" b="b"/>
            <a:pathLst>
              <a:path w="4456545" h="1639455">
                <a:moveTo>
                  <a:pt x="92367" y="0"/>
                </a:moveTo>
                <a:lnTo>
                  <a:pt x="4364179" y="0"/>
                </a:lnTo>
                <a:cubicBezTo>
                  <a:pt x="4415191" y="0"/>
                  <a:pt x="4456545" y="41354"/>
                  <a:pt x="4456545" y="92367"/>
                </a:cubicBezTo>
                <a:lnTo>
                  <a:pt x="4456545" y="1547088"/>
                </a:lnTo>
                <a:cubicBezTo>
                  <a:pt x="4456545" y="1598100"/>
                  <a:pt x="4415191" y="1639455"/>
                  <a:pt x="4364179" y="1639455"/>
                </a:cubicBezTo>
                <a:lnTo>
                  <a:pt x="92367" y="1639455"/>
                </a:lnTo>
                <a:cubicBezTo>
                  <a:pt x="41388" y="1639455"/>
                  <a:pt x="0" y="1598066"/>
                  <a:pt x="0" y="1547088"/>
                </a:cubicBezTo>
                <a:lnTo>
                  <a:pt x="0" y="92367"/>
                </a:lnTo>
                <a:cubicBezTo>
                  <a:pt x="0" y="41388"/>
                  <a:pt x="41388" y="0"/>
                  <a:pt x="92367" y="0"/>
                </a:cubicBezTo>
                <a:close/>
              </a:path>
            </a:pathLst>
          </a:custGeom>
          <a:solidFill>
            <a:srgbClr val="009688">
              <a:alpha val="10196"/>
            </a:srgbClr>
          </a:solidFill>
          <a:ln w="25400">
            <a:solidFill>
              <a:srgbClr val="0096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850729" y="2609273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138545" y="346364"/>
                </a:moveTo>
                <a:lnTo>
                  <a:pt x="26518" y="346364"/>
                </a:lnTo>
                <a:cubicBezTo>
                  <a:pt x="-433" y="346364"/>
                  <a:pt x="-16993" y="317031"/>
                  <a:pt x="-3139" y="293868"/>
                </a:cubicBezTo>
                <a:lnTo>
                  <a:pt x="54119" y="198401"/>
                </a:lnTo>
                <a:cubicBezTo>
                  <a:pt x="63536" y="182707"/>
                  <a:pt x="80421" y="173182"/>
                  <a:pt x="98714" y="173182"/>
                </a:cubicBezTo>
                <a:lnTo>
                  <a:pt x="201540" y="173182"/>
                </a:lnTo>
                <a:cubicBezTo>
                  <a:pt x="283910" y="33662"/>
                  <a:pt x="406761" y="26627"/>
                  <a:pt x="488914" y="38641"/>
                </a:cubicBezTo>
                <a:cubicBezTo>
                  <a:pt x="502768" y="40698"/>
                  <a:pt x="513592" y="51522"/>
                  <a:pt x="515541" y="65268"/>
                </a:cubicBezTo>
                <a:cubicBezTo>
                  <a:pt x="527555" y="147421"/>
                  <a:pt x="520520" y="270272"/>
                  <a:pt x="381000" y="352641"/>
                </a:cubicBezTo>
                <a:lnTo>
                  <a:pt x="381000" y="455468"/>
                </a:lnTo>
                <a:cubicBezTo>
                  <a:pt x="381000" y="473761"/>
                  <a:pt x="371475" y="490646"/>
                  <a:pt x="355780" y="500063"/>
                </a:cubicBezTo>
                <a:lnTo>
                  <a:pt x="260314" y="557321"/>
                </a:lnTo>
                <a:cubicBezTo>
                  <a:pt x="237259" y="571175"/>
                  <a:pt x="207818" y="554507"/>
                  <a:pt x="207818" y="527663"/>
                </a:cubicBezTo>
                <a:lnTo>
                  <a:pt x="207818" y="415636"/>
                </a:lnTo>
                <a:cubicBezTo>
                  <a:pt x="207818" y="377428"/>
                  <a:pt x="176754" y="346364"/>
                  <a:pt x="138545" y="346364"/>
                </a:cubicBezTo>
                <a:lnTo>
                  <a:pt x="138437" y="346364"/>
                </a:lnTo>
                <a:close/>
                <a:moveTo>
                  <a:pt x="432955" y="173182"/>
                </a:moveTo>
                <a:cubicBezTo>
                  <a:pt x="432955" y="144507"/>
                  <a:pt x="409674" y="121227"/>
                  <a:pt x="381000" y="121227"/>
                </a:cubicBezTo>
                <a:cubicBezTo>
                  <a:pt x="352326" y="121227"/>
                  <a:pt x="329045" y="144507"/>
                  <a:pt x="329045" y="173182"/>
                </a:cubicBezTo>
                <a:cubicBezTo>
                  <a:pt x="329045" y="201856"/>
                  <a:pt x="352326" y="225136"/>
                  <a:pt x="381000" y="225136"/>
                </a:cubicBezTo>
                <a:cubicBezTo>
                  <a:pt x="409674" y="225136"/>
                  <a:pt x="432955" y="201856"/>
                  <a:pt x="432955" y="173182"/>
                </a:cubicBezTo>
                <a:close/>
              </a:path>
            </a:pathLst>
          </a:custGeom>
          <a:solidFill>
            <a:srgbClr val="0096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36288" y="3255818"/>
            <a:ext cx="4179455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18" b="1" dirty="0">
                <a:solidFill>
                  <a:srgbClr val="2E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3607" y="3625273"/>
            <a:ext cx="4144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3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RESTful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54349" y="3059545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340005" y="188471"/>
                </a:moveTo>
                <a:cubicBezTo>
                  <a:pt x="348461" y="180014"/>
                  <a:pt x="348461" y="166282"/>
                  <a:pt x="340005" y="157825"/>
                </a:cubicBezTo>
                <a:lnTo>
                  <a:pt x="231766" y="49587"/>
                </a:lnTo>
                <a:cubicBezTo>
                  <a:pt x="223310" y="41131"/>
                  <a:pt x="209577" y="41131"/>
                  <a:pt x="201121" y="49587"/>
                </a:cubicBezTo>
                <a:cubicBezTo>
                  <a:pt x="192665" y="58043"/>
                  <a:pt x="192665" y="71776"/>
                  <a:pt x="201121" y="80232"/>
                </a:cubicBezTo>
                <a:lnTo>
                  <a:pt x="272423" y="151534"/>
                </a:lnTo>
                <a:lnTo>
                  <a:pt x="21648" y="151534"/>
                </a:lnTo>
                <a:cubicBezTo>
                  <a:pt x="9674" y="151534"/>
                  <a:pt x="0" y="161208"/>
                  <a:pt x="0" y="173182"/>
                </a:cubicBezTo>
                <a:cubicBezTo>
                  <a:pt x="0" y="185156"/>
                  <a:pt x="9674" y="194830"/>
                  <a:pt x="21648" y="194830"/>
                </a:cubicBezTo>
                <a:lnTo>
                  <a:pt x="272423" y="194830"/>
                </a:lnTo>
                <a:lnTo>
                  <a:pt x="201121" y="266132"/>
                </a:lnTo>
                <a:cubicBezTo>
                  <a:pt x="192665" y="274588"/>
                  <a:pt x="192665" y="288321"/>
                  <a:pt x="201121" y="296777"/>
                </a:cubicBezTo>
                <a:cubicBezTo>
                  <a:pt x="209577" y="305233"/>
                  <a:pt x="223310" y="305233"/>
                  <a:pt x="231766" y="296777"/>
                </a:cubicBezTo>
                <a:lnTo>
                  <a:pt x="340005" y="188538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091213" y="2413000"/>
            <a:ext cx="4456545" cy="1639455"/>
          </a:xfrm>
          <a:custGeom>
            <a:avLst/>
            <a:gdLst/>
            <a:ahLst/>
            <a:cxnLst/>
            <a:rect l="l" t="t" r="r" b="b"/>
            <a:pathLst>
              <a:path w="4456545" h="1639455">
                <a:moveTo>
                  <a:pt x="92367" y="0"/>
                </a:moveTo>
                <a:lnTo>
                  <a:pt x="4364179" y="0"/>
                </a:lnTo>
                <a:cubicBezTo>
                  <a:pt x="4415191" y="0"/>
                  <a:pt x="4456545" y="41354"/>
                  <a:pt x="4456545" y="92367"/>
                </a:cubicBezTo>
                <a:lnTo>
                  <a:pt x="4456545" y="1547088"/>
                </a:lnTo>
                <a:cubicBezTo>
                  <a:pt x="4456545" y="1598100"/>
                  <a:pt x="4415191" y="1639455"/>
                  <a:pt x="4364179" y="1639455"/>
                </a:cubicBezTo>
                <a:lnTo>
                  <a:pt x="92367" y="1639455"/>
                </a:lnTo>
                <a:cubicBezTo>
                  <a:pt x="41388" y="1639455"/>
                  <a:pt x="0" y="1598066"/>
                  <a:pt x="0" y="1547088"/>
                </a:cubicBezTo>
                <a:lnTo>
                  <a:pt x="0" y="92367"/>
                </a:lnTo>
                <a:cubicBezTo>
                  <a:pt x="0" y="41388"/>
                  <a:pt x="41388" y="0"/>
                  <a:pt x="92367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 w="25400">
            <a:solidFill>
              <a:srgbClr val="1F49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3044199" y="2609273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129886" y="60614"/>
                </a:moveTo>
                <a:cubicBezTo>
                  <a:pt x="129886" y="27168"/>
                  <a:pt x="157054" y="0"/>
                  <a:pt x="190500" y="0"/>
                </a:cubicBezTo>
                <a:lnTo>
                  <a:pt x="216477" y="0"/>
                </a:lnTo>
                <a:cubicBezTo>
                  <a:pt x="235636" y="0"/>
                  <a:pt x="251114" y="15478"/>
                  <a:pt x="251114" y="34636"/>
                </a:cubicBezTo>
                <a:lnTo>
                  <a:pt x="251114" y="519545"/>
                </a:lnTo>
                <a:cubicBezTo>
                  <a:pt x="251114" y="538704"/>
                  <a:pt x="235636" y="554182"/>
                  <a:pt x="216477" y="554182"/>
                </a:cubicBezTo>
                <a:lnTo>
                  <a:pt x="181841" y="554182"/>
                </a:lnTo>
                <a:cubicBezTo>
                  <a:pt x="149586" y="554182"/>
                  <a:pt x="122418" y="532101"/>
                  <a:pt x="114733" y="502227"/>
                </a:cubicBezTo>
                <a:cubicBezTo>
                  <a:pt x="113975" y="502227"/>
                  <a:pt x="113326" y="502227"/>
                  <a:pt x="112568" y="502227"/>
                </a:cubicBezTo>
                <a:cubicBezTo>
                  <a:pt x="64727" y="502227"/>
                  <a:pt x="25977" y="463478"/>
                  <a:pt x="25977" y="415636"/>
                </a:cubicBezTo>
                <a:cubicBezTo>
                  <a:pt x="25977" y="396153"/>
                  <a:pt x="32472" y="378186"/>
                  <a:pt x="43295" y="363682"/>
                </a:cubicBezTo>
                <a:cubicBezTo>
                  <a:pt x="22297" y="347879"/>
                  <a:pt x="8659" y="322768"/>
                  <a:pt x="8659" y="294409"/>
                </a:cubicBezTo>
                <a:cubicBezTo>
                  <a:pt x="8659" y="260963"/>
                  <a:pt x="27709" y="231847"/>
                  <a:pt x="55418" y="217451"/>
                </a:cubicBezTo>
                <a:cubicBezTo>
                  <a:pt x="47733" y="204463"/>
                  <a:pt x="43295" y="189309"/>
                  <a:pt x="43295" y="173182"/>
                </a:cubicBezTo>
                <a:cubicBezTo>
                  <a:pt x="43295" y="125340"/>
                  <a:pt x="82045" y="86591"/>
                  <a:pt x="129886" y="86591"/>
                </a:cubicBezTo>
                <a:lnTo>
                  <a:pt x="129886" y="60614"/>
                </a:lnTo>
                <a:close/>
                <a:moveTo>
                  <a:pt x="424295" y="60614"/>
                </a:moveTo>
                <a:lnTo>
                  <a:pt x="424295" y="86591"/>
                </a:lnTo>
                <a:cubicBezTo>
                  <a:pt x="472137" y="86591"/>
                  <a:pt x="510886" y="125340"/>
                  <a:pt x="510886" y="173182"/>
                </a:cubicBezTo>
                <a:cubicBezTo>
                  <a:pt x="510886" y="189418"/>
                  <a:pt x="506449" y="204571"/>
                  <a:pt x="498764" y="217451"/>
                </a:cubicBezTo>
                <a:cubicBezTo>
                  <a:pt x="526581" y="231847"/>
                  <a:pt x="545523" y="260855"/>
                  <a:pt x="545523" y="294409"/>
                </a:cubicBezTo>
                <a:cubicBezTo>
                  <a:pt x="545523" y="322768"/>
                  <a:pt x="531885" y="347879"/>
                  <a:pt x="510886" y="363682"/>
                </a:cubicBezTo>
                <a:cubicBezTo>
                  <a:pt x="521710" y="378186"/>
                  <a:pt x="528205" y="396153"/>
                  <a:pt x="528205" y="415636"/>
                </a:cubicBezTo>
                <a:cubicBezTo>
                  <a:pt x="528205" y="463478"/>
                  <a:pt x="489455" y="502227"/>
                  <a:pt x="441614" y="502227"/>
                </a:cubicBezTo>
                <a:cubicBezTo>
                  <a:pt x="440856" y="502227"/>
                  <a:pt x="440207" y="502227"/>
                  <a:pt x="439449" y="502227"/>
                </a:cubicBezTo>
                <a:cubicBezTo>
                  <a:pt x="431764" y="532101"/>
                  <a:pt x="404596" y="554182"/>
                  <a:pt x="372341" y="554182"/>
                </a:cubicBezTo>
                <a:lnTo>
                  <a:pt x="337705" y="554182"/>
                </a:lnTo>
                <a:cubicBezTo>
                  <a:pt x="318546" y="554182"/>
                  <a:pt x="303068" y="538704"/>
                  <a:pt x="303068" y="519545"/>
                </a:cubicBezTo>
                <a:lnTo>
                  <a:pt x="303068" y="34636"/>
                </a:lnTo>
                <a:cubicBezTo>
                  <a:pt x="303068" y="15478"/>
                  <a:pt x="318546" y="0"/>
                  <a:pt x="337705" y="0"/>
                </a:cubicBezTo>
                <a:lnTo>
                  <a:pt x="363682" y="0"/>
                </a:lnTo>
                <a:cubicBezTo>
                  <a:pt x="397128" y="0"/>
                  <a:pt x="424295" y="27168"/>
                  <a:pt x="424295" y="60614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1229759" y="3255818"/>
            <a:ext cx="4179455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18" b="1" dirty="0">
                <a:solidFill>
                  <a:srgbClr val="2E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 + Scaler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247077" y="3625273"/>
            <a:ext cx="4144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3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 ML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909" y="4479636"/>
            <a:ext cx="4964545" cy="2124364"/>
          </a:xfrm>
          <a:custGeom>
            <a:avLst/>
            <a:gdLst/>
            <a:ahLst/>
            <a:cxnLst/>
            <a:rect l="l" t="t" r="r" b="b"/>
            <a:pathLst>
              <a:path w="4964545" h="2124364">
                <a:moveTo>
                  <a:pt x="46182" y="0"/>
                </a:moveTo>
                <a:lnTo>
                  <a:pt x="4872178" y="0"/>
                </a:lnTo>
                <a:cubicBezTo>
                  <a:pt x="4923191" y="0"/>
                  <a:pt x="4964545" y="41354"/>
                  <a:pt x="4964545" y="92367"/>
                </a:cubicBezTo>
                <a:lnTo>
                  <a:pt x="4964545" y="2031996"/>
                </a:lnTo>
                <a:cubicBezTo>
                  <a:pt x="4964545" y="2083009"/>
                  <a:pt x="4923191" y="2124364"/>
                  <a:pt x="4872178" y="2124364"/>
                </a:cubicBezTo>
                <a:lnTo>
                  <a:pt x="46182" y="2124364"/>
                </a:lnTo>
                <a:cubicBezTo>
                  <a:pt x="20676" y="2124364"/>
                  <a:pt x="0" y="2103687"/>
                  <a:pt x="0" y="2078182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9273" dist="4618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84909" y="4479636"/>
            <a:ext cx="46182" cy="2124364"/>
          </a:xfrm>
          <a:custGeom>
            <a:avLst/>
            <a:gdLst/>
            <a:ahLst/>
            <a:cxnLst/>
            <a:rect l="l" t="t" r="r" b="b"/>
            <a:pathLst>
              <a:path w="46182" h="2124364">
                <a:moveTo>
                  <a:pt x="46182" y="0"/>
                </a:moveTo>
                <a:lnTo>
                  <a:pt x="46182" y="0"/>
                </a:lnTo>
                <a:lnTo>
                  <a:pt x="46182" y="2124364"/>
                </a:lnTo>
                <a:lnTo>
                  <a:pt x="46182" y="2124364"/>
                </a:lnTo>
                <a:cubicBezTo>
                  <a:pt x="20676" y="2124364"/>
                  <a:pt x="0" y="2103687"/>
                  <a:pt x="0" y="2078182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61DA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21591" y="472209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169745" y="71925"/>
                </a:moveTo>
                <a:cubicBezTo>
                  <a:pt x="167553" y="71194"/>
                  <a:pt x="165362" y="70504"/>
                  <a:pt x="163170" y="69855"/>
                </a:cubicBezTo>
                <a:cubicBezTo>
                  <a:pt x="163535" y="68353"/>
                  <a:pt x="163860" y="66851"/>
                  <a:pt x="164184" y="65349"/>
                </a:cubicBezTo>
                <a:cubicBezTo>
                  <a:pt x="169177" y="41158"/>
                  <a:pt x="165889" y="21715"/>
                  <a:pt x="154808" y="15302"/>
                </a:cubicBezTo>
                <a:cubicBezTo>
                  <a:pt x="144133" y="9173"/>
                  <a:pt x="126720" y="15546"/>
                  <a:pt x="109105" y="30889"/>
                </a:cubicBezTo>
                <a:cubicBezTo>
                  <a:pt x="107359" y="32390"/>
                  <a:pt x="105654" y="33973"/>
                  <a:pt x="104031" y="35556"/>
                </a:cubicBezTo>
                <a:cubicBezTo>
                  <a:pt x="102935" y="34501"/>
                  <a:pt x="101798" y="33446"/>
                  <a:pt x="100662" y="32431"/>
                </a:cubicBezTo>
                <a:cubicBezTo>
                  <a:pt x="82194" y="16033"/>
                  <a:pt x="63685" y="9133"/>
                  <a:pt x="52604" y="15586"/>
                </a:cubicBezTo>
                <a:cubicBezTo>
                  <a:pt x="41970" y="21756"/>
                  <a:pt x="38804" y="40062"/>
                  <a:pt x="43268" y="62954"/>
                </a:cubicBezTo>
                <a:cubicBezTo>
                  <a:pt x="43715" y="65227"/>
                  <a:pt x="44202" y="67460"/>
                  <a:pt x="44770" y="69733"/>
                </a:cubicBezTo>
                <a:cubicBezTo>
                  <a:pt x="42172" y="70463"/>
                  <a:pt x="39615" y="71275"/>
                  <a:pt x="37221" y="72128"/>
                </a:cubicBezTo>
                <a:cubicBezTo>
                  <a:pt x="15546" y="79637"/>
                  <a:pt x="0" y="91489"/>
                  <a:pt x="0" y="103747"/>
                </a:cubicBezTo>
                <a:cubicBezTo>
                  <a:pt x="0" y="116411"/>
                  <a:pt x="16561" y="129115"/>
                  <a:pt x="39088" y="136827"/>
                </a:cubicBezTo>
                <a:cubicBezTo>
                  <a:pt x="40914" y="137436"/>
                  <a:pt x="42741" y="138045"/>
                  <a:pt x="44608" y="138573"/>
                </a:cubicBezTo>
                <a:cubicBezTo>
                  <a:pt x="43999" y="141008"/>
                  <a:pt x="43471" y="143403"/>
                  <a:pt x="42984" y="145879"/>
                </a:cubicBezTo>
                <a:cubicBezTo>
                  <a:pt x="38722" y="168406"/>
                  <a:pt x="42051" y="186265"/>
                  <a:pt x="52685" y="192394"/>
                </a:cubicBezTo>
                <a:cubicBezTo>
                  <a:pt x="63644" y="198726"/>
                  <a:pt x="82072" y="192232"/>
                  <a:pt x="100012" y="176524"/>
                </a:cubicBezTo>
                <a:cubicBezTo>
                  <a:pt x="101433" y="175265"/>
                  <a:pt x="102854" y="173967"/>
                  <a:pt x="104274" y="172587"/>
                </a:cubicBezTo>
                <a:cubicBezTo>
                  <a:pt x="106060" y="174332"/>
                  <a:pt x="107927" y="175996"/>
                  <a:pt x="109795" y="177620"/>
                </a:cubicBezTo>
                <a:cubicBezTo>
                  <a:pt x="127167" y="192557"/>
                  <a:pt x="144336" y="198604"/>
                  <a:pt x="154930" y="192475"/>
                </a:cubicBezTo>
                <a:cubicBezTo>
                  <a:pt x="165889" y="186143"/>
                  <a:pt x="169461" y="166945"/>
                  <a:pt x="164834" y="143565"/>
                </a:cubicBezTo>
                <a:cubicBezTo>
                  <a:pt x="164469" y="141779"/>
                  <a:pt x="164063" y="139953"/>
                  <a:pt x="163616" y="138085"/>
                </a:cubicBezTo>
                <a:cubicBezTo>
                  <a:pt x="164915" y="137720"/>
                  <a:pt x="166173" y="137314"/>
                  <a:pt x="167432" y="136908"/>
                </a:cubicBezTo>
                <a:cubicBezTo>
                  <a:pt x="190852" y="129156"/>
                  <a:pt x="207818" y="116614"/>
                  <a:pt x="207818" y="103747"/>
                </a:cubicBezTo>
                <a:cubicBezTo>
                  <a:pt x="207818" y="91448"/>
                  <a:pt x="191826" y="79515"/>
                  <a:pt x="169745" y="71925"/>
                </a:cubicBezTo>
                <a:close/>
                <a:moveTo>
                  <a:pt x="114828" y="37464"/>
                </a:moveTo>
                <a:cubicBezTo>
                  <a:pt x="129927" y="24313"/>
                  <a:pt x="144012" y="19158"/>
                  <a:pt x="150425" y="22852"/>
                </a:cubicBezTo>
                <a:cubicBezTo>
                  <a:pt x="157284" y="26789"/>
                  <a:pt x="159923" y="42700"/>
                  <a:pt x="155620" y="63604"/>
                </a:cubicBezTo>
                <a:cubicBezTo>
                  <a:pt x="155336" y="64984"/>
                  <a:pt x="155052" y="66323"/>
                  <a:pt x="154687" y="67663"/>
                </a:cubicBezTo>
                <a:cubicBezTo>
                  <a:pt x="145676" y="65633"/>
                  <a:pt x="136543" y="64172"/>
                  <a:pt x="127370" y="63360"/>
                </a:cubicBezTo>
                <a:cubicBezTo>
                  <a:pt x="122093" y="55811"/>
                  <a:pt x="116329" y="48586"/>
                  <a:pt x="110079" y="41807"/>
                </a:cubicBezTo>
                <a:cubicBezTo>
                  <a:pt x="111662" y="40305"/>
                  <a:pt x="113204" y="38885"/>
                  <a:pt x="114828" y="37464"/>
                </a:cubicBezTo>
                <a:close/>
                <a:moveTo>
                  <a:pt x="67866" y="124813"/>
                </a:moveTo>
                <a:cubicBezTo>
                  <a:pt x="69936" y="128344"/>
                  <a:pt x="72046" y="131875"/>
                  <a:pt x="74279" y="135325"/>
                </a:cubicBezTo>
                <a:cubicBezTo>
                  <a:pt x="67947" y="134635"/>
                  <a:pt x="61655" y="133621"/>
                  <a:pt x="55445" y="132281"/>
                </a:cubicBezTo>
                <a:cubicBezTo>
                  <a:pt x="57231" y="126436"/>
                  <a:pt x="59464" y="120388"/>
                  <a:pt x="62061" y="114219"/>
                </a:cubicBezTo>
                <a:cubicBezTo>
                  <a:pt x="63928" y="117791"/>
                  <a:pt x="65836" y="121322"/>
                  <a:pt x="67866" y="124813"/>
                </a:cubicBezTo>
                <a:close/>
                <a:moveTo>
                  <a:pt x="55567" y="75984"/>
                </a:moveTo>
                <a:cubicBezTo>
                  <a:pt x="61412" y="74685"/>
                  <a:pt x="67622" y="73629"/>
                  <a:pt x="74076" y="72818"/>
                </a:cubicBezTo>
                <a:cubicBezTo>
                  <a:pt x="71925" y="76186"/>
                  <a:pt x="69814" y="79637"/>
                  <a:pt x="67825" y="83127"/>
                </a:cubicBezTo>
                <a:cubicBezTo>
                  <a:pt x="65836" y="86577"/>
                  <a:pt x="63888" y="90109"/>
                  <a:pt x="62061" y="93681"/>
                </a:cubicBezTo>
                <a:cubicBezTo>
                  <a:pt x="59504" y="87633"/>
                  <a:pt x="57353" y="81707"/>
                  <a:pt x="55567" y="75984"/>
                </a:cubicBezTo>
                <a:close/>
                <a:moveTo>
                  <a:pt x="66689" y="103950"/>
                </a:moveTo>
                <a:cubicBezTo>
                  <a:pt x="69367" y="98348"/>
                  <a:pt x="72290" y="92869"/>
                  <a:pt x="75375" y="87470"/>
                </a:cubicBezTo>
                <a:cubicBezTo>
                  <a:pt x="78459" y="82072"/>
                  <a:pt x="81788" y="76836"/>
                  <a:pt x="85279" y="71681"/>
                </a:cubicBezTo>
                <a:cubicBezTo>
                  <a:pt x="91367" y="71235"/>
                  <a:pt x="97577" y="70991"/>
                  <a:pt x="103909" y="70991"/>
                </a:cubicBezTo>
                <a:cubicBezTo>
                  <a:pt x="110241" y="70991"/>
                  <a:pt x="116492" y="71235"/>
                  <a:pt x="122540" y="71681"/>
                </a:cubicBezTo>
                <a:cubicBezTo>
                  <a:pt x="125990" y="76795"/>
                  <a:pt x="129278" y="82031"/>
                  <a:pt x="132403" y="87389"/>
                </a:cubicBezTo>
                <a:cubicBezTo>
                  <a:pt x="135528" y="92747"/>
                  <a:pt x="138451" y="98227"/>
                  <a:pt x="141211" y="103787"/>
                </a:cubicBezTo>
                <a:cubicBezTo>
                  <a:pt x="138491" y="109389"/>
                  <a:pt x="135569" y="114909"/>
                  <a:pt x="132444" y="120348"/>
                </a:cubicBezTo>
                <a:cubicBezTo>
                  <a:pt x="129359" y="125746"/>
                  <a:pt x="126071" y="130982"/>
                  <a:pt x="122621" y="136178"/>
                </a:cubicBezTo>
                <a:cubicBezTo>
                  <a:pt x="116573" y="136624"/>
                  <a:pt x="110282" y="136827"/>
                  <a:pt x="103909" y="136827"/>
                </a:cubicBezTo>
                <a:cubicBezTo>
                  <a:pt x="97537" y="136827"/>
                  <a:pt x="91367" y="136624"/>
                  <a:pt x="85400" y="136259"/>
                </a:cubicBezTo>
                <a:cubicBezTo>
                  <a:pt x="81869" y="131104"/>
                  <a:pt x="78541" y="125827"/>
                  <a:pt x="75415" y="120429"/>
                </a:cubicBezTo>
                <a:cubicBezTo>
                  <a:pt x="72290" y="115031"/>
                  <a:pt x="69408" y="109551"/>
                  <a:pt x="66689" y="103950"/>
                </a:cubicBezTo>
                <a:close/>
                <a:moveTo>
                  <a:pt x="139993" y="124731"/>
                </a:moveTo>
                <a:cubicBezTo>
                  <a:pt x="142063" y="121160"/>
                  <a:pt x="144012" y="117547"/>
                  <a:pt x="145919" y="113894"/>
                </a:cubicBezTo>
                <a:cubicBezTo>
                  <a:pt x="148517" y="119780"/>
                  <a:pt x="150790" y="125746"/>
                  <a:pt x="152779" y="131875"/>
                </a:cubicBezTo>
                <a:cubicBezTo>
                  <a:pt x="146487" y="133296"/>
                  <a:pt x="140115" y="134392"/>
                  <a:pt x="133702" y="135122"/>
                </a:cubicBezTo>
                <a:cubicBezTo>
                  <a:pt x="135894" y="131713"/>
                  <a:pt x="137964" y="128222"/>
                  <a:pt x="139993" y="124731"/>
                </a:cubicBezTo>
                <a:close/>
                <a:moveTo>
                  <a:pt x="145838" y="93681"/>
                </a:moveTo>
                <a:cubicBezTo>
                  <a:pt x="143930" y="90109"/>
                  <a:pt x="141982" y="86537"/>
                  <a:pt x="139953" y="83046"/>
                </a:cubicBezTo>
                <a:cubicBezTo>
                  <a:pt x="137964" y="79596"/>
                  <a:pt x="135894" y="76186"/>
                  <a:pt x="133742" y="72818"/>
                </a:cubicBezTo>
                <a:cubicBezTo>
                  <a:pt x="140277" y="73629"/>
                  <a:pt x="146528" y="74725"/>
                  <a:pt x="152373" y="76065"/>
                </a:cubicBezTo>
                <a:cubicBezTo>
                  <a:pt x="150506" y="82072"/>
                  <a:pt x="148314" y="87917"/>
                  <a:pt x="145838" y="93681"/>
                </a:cubicBezTo>
                <a:close/>
                <a:moveTo>
                  <a:pt x="103990" y="48017"/>
                </a:moveTo>
                <a:cubicBezTo>
                  <a:pt x="108252" y="52645"/>
                  <a:pt x="112271" y="57515"/>
                  <a:pt x="116005" y="62548"/>
                </a:cubicBezTo>
                <a:cubicBezTo>
                  <a:pt x="107968" y="62183"/>
                  <a:pt x="99891" y="62183"/>
                  <a:pt x="91854" y="62548"/>
                </a:cubicBezTo>
                <a:cubicBezTo>
                  <a:pt x="95832" y="57312"/>
                  <a:pt x="99931" y="52442"/>
                  <a:pt x="103990" y="48017"/>
                </a:cubicBezTo>
                <a:close/>
                <a:moveTo>
                  <a:pt x="56906" y="23136"/>
                </a:moveTo>
                <a:cubicBezTo>
                  <a:pt x="63725" y="19158"/>
                  <a:pt x="78865" y="24841"/>
                  <a:pt x="94817" y="38966"/>
                </a:cubicBezTo>
                <a:cubicBezTo>
                  <a:pt x="95832" y="39859"/>
                  <a:pt x="96847" y="40833"/>
                  <a:pt x="97902" y="41807"/>
                </a:cubicBezTo>
                <a:cubicBezTo>
                  <a:pt x="91610" y="48586"/>
                  <a:pt x="85806" y="55811"/>
                  <a:pt x="80489" y="63360"/>
                </a:cubicBezTo>
                <a:cubicBezTo>
                  <a:pt x="71316" y="64172"/>
                  <a:pt x="62224" y="65593"/>
                  <a:pt x="53213" y="67581"/>
                </a:cubicBezTo>
                <a:cubicBezTo>
                  <a:pt x="52685" y="65511"/>
                  <a:pt x="52239" y="63401"/>
                  <a:pt x="51792" y="61290"/>
                </a:cubicBezTo>
                <a:cubicBezTo>
                  <a:pt x="47977" y="41645"/>
                  <a:pt x="50493" y="26830"/>
                  <a:pt x="56906" y="23136"/>
                </a:cubicBezTo>
                <a:close/>
                <a:moveTo>
                  <a:pt x="46962" y="130130"/>
                </a:moveTo>
                <a:cubicBezTo>
                  <a:pt x="45257" y="129643"/>
                  <a:pt x="43593" y="129115"/>
                  <a:pt x="41929" y="128547"/>
                </a:cubicBezTo>
                <a:cubicBezTo>
                  <a:pt x="33283" y="125827"/>
                  <a:pt x="23461" y="121525"/>
                  <a:pt x="16358" y="115883"/>
                </a:cubicBezTo>
                <a:cubicBezTo>
                  <a:pt x="12258" y="113042"/>
                  <a:pt x="9498" y="108658"/>
                  <a:pt x="8727" y="103747"/>
                </a:cubicBezTo>
                <a:cubicBezTo>
                  <a:pt x="8727" y="96319"/>
                  <a:pt x="21553" y="86821"/>
                  <a:pt x="40062" y="80367"/>
                </a:cubicBezTo>
                <a:cubicBezTo>
                  <a:pt x="42375" y="79555"/>
                  <a:pt x="44730" y="78825"/>
                  <a:pt x="47084" y="78135"/>
                </a:cubicBezTo>
                <a:cubicBezTo>
                  <a:pt x="49844" y="86943"/>
                  <a:pt x="53172" y="95588"/>
                  <a:pt x="57028" y="103950"/>
                </a:cubicBezTo>
                <a:cubicBezTo>
                  <a:pt x="53132" y="112433"/>
                  <a:pt x="49763" y="121200"/>
                  <a:pt x="46962" y="130130"/>
                </a:cubicBezTo>
                <a:close/>
                <a:moveTo>
                  <a:pt x="94289" y="169908"/>
                </a:moveTo>
                <a:cubicBezTo>
                  <a:pt x="87592" y="176037"/>
                  <a:pt x="79840" y="180907"/>
                  <a:pt x="71397" y="184236"/>
                </a:cubicBezTo>
                <a:cubicBezTo>
                  <a:pt x="66891" y="186387"/>
                  <a:pt x="61696" y="186590"/>
                  <a:pt x="57069" y="184763"/>
                </a:cubicBezTo>
                <a:cubicBezTo>
                  <a:pt x="50615" y="181029"/>
                  <a:pt x="47936" y="166701"/>
                  <a:pt x="51589" y="147421"/>
                </a:cubicBezTo>
                <a:cubicBezTo>
                  <a:pt x="52036" y="145148"/>
                  <a:pt x="52523" y="142875"/>
                  <a:pt x="53091" y="140643"/>
                </a:cubicBezTo>
                <a:cubicBezTo>
                  <a:pt x="62183" y="142591"/>
                  <a:pt x="71356" y="143930"/>
                  <a:pt x="80651" y="144620"/>
                </a:cubicBezTo>
                <a:cubicBezTo>
                  <a:pt x="86009" y="152211"/>
                  <a:pt x="91895" y="159476"/>
                  <a:pt x="98186" y="166295"/>
                </a:cubicBezTo>
                <a:cubicBezTo>
                  <a:pt x="96887" y="167553"/>
                  <a:pt x="95588" y="168771"/>
                  <a:pt x="94289" y="169908"/>
                </a:cubicBezTo>
                <a:close/>
                <a:moveTo>
                  <a:pt x="104234" y="160044"/>
                </a:moveTo>
                <a:cubicBezTo>
                  <a:pt x="100094" y="155580"/>
                  <a:pt x="95954" y="150628"/>
                  <a:pt x="91935" y="145310"/>
                </a:cubicBezTo>
                <a:cubicBezTo>
                  <a:pt x="95832" y="145473"/>
                  <a:pt x="99850" y="145554"/>
                  <a:pt x="103909" y="145554"/>
                </a:cubicBezTo>
                <a:cubicBezTo>
                  <a:pt x="108090" y="145554"/>
                  <a:pt x="112189" y="145473"/>
                  <a:pt x="116248" y="145270"/>
                </a:cubicBezTo>
                <a:cubicBezTo>
                  <a:pt x="112514" y="150425"/>
                  <a:pt x="108496" y="155336"/>
                  <a:pt x="104234" y="160044"/>
                </a:cubicBezTo>
                <a:close/>
                <a:moveTo>
                  <a:pt x="157284" y="172221"/>
                </a:moveTo>
                <a:cubicBezTo>
                  <a:pt x="156919" y="177173"/>
                  <a:pt x="154484" y="181800"/>
                  <a:pt x="150587" y="184926"/>
                </a:cubicBezTo>
                <a:cubicBezTo>
                  <a:pt x="144133" y="188660"/>
                  <a:pt x="130373" y="183789"/>
                  <a:pt x="115518" y="171044"/>
                </a:cubicBezTo>
                <a:cubicBezTo>
                  <a:pt x="113813" y="169583"/>
                  <a:pt x="112108" y="168000"/>
                  <a:pt x="110363" y="166376"/>
                </a:cubicBezTo>
                <a:cubicBezTo>
                  <a:pt x="116573" y="159517"/>
                  <a:pt x="122296" y="152251"/>
                  <a:pt x="127492" y="144620"/>
                </a:cubicBezTo>
                <a:cubicBezTo>
                  <a:pt x="136787" y="143849"/>
                  <a:pt x="146041" y="142429"/>
                  <a:pt x="155174" y="140358"/>
                </a:cubicBezTo>
                <a:cubicBezTo>
                  <a:pt x="155580" y="142023"/>
                  <a:pt x="155945" y="143687"/>
                  <a:pt x="156270" y="145310"/>
                </a:cubicBezTo>
                <a:cubicBezTo>
                  <a:pt x="158258" y="154078"/>
                  <a:pt x="158583" y="163210"/>
                  <a:pt x="157284" y="172221"/>
                </a:cubicBezTo>
                <a:close/>
                <a:moveTo>
                  <a:pt x="164672" y="128588"/>
                </a:moveTo>
                <a:cubicBezTo>
                  <a:pt x="163535" y="128953"/>
                  <a:pt x="162399" y="129318"/>
                  <a:pt x="161221" y="129643"/>
                </a:cubicBezTo>
                <a:cubicBezTo>
                  <a:pt x="158380" y="120794"/>
                  <a:pt x="154889" y="112149"/>
                  <a:pt x="150871" y="103747"/>
                </a:cubicBezTo>
                <a:cubicBezTo>
                  <a:pt x="154768" y="95466"/>
                  <a:pt x="158055" y="86943"/>
                  <a:pt x="160816" y="78216"/>
                </a:cubicBezTo>
                <a:cubicBezTo>
                  <a:pt x="162926" y="78825"/>
                  <a:pt x="164956" y="79474"/>
                  <a:pt x="166904" y="80124"/>
                </a:cubicBezTo>
                <a:cubicBezTo>
                  <a:pt x="185819" y="86618"/>
                  <a:pt x="199091" y="96278"/>
                  <a:pt x="199091" y="103666"/>
                </a:cubicBezTo>
                <a:cubicBezTo>
                  <a:pt x="199091" y="111621"/>
                  <a:pt x="184926" y="121890"/>
                  <a:pt x="164672" y="128588"/>
                </a:cubicBezTo>
                <a:close/>
                <a:moveTo>
                  <a:pt x="103909" y="122499"/>
                </a:moveTo>
                <a:cubicBezTo>
                  <a:pt x="114169" y="122499"/>
                  <a:pt x="122499" y="114169"/>
                  <a:pt x="122499" y="103909"/>
                </a:cubicBezTo>
                <a:cubicBezTo>
                  <a:pt x="122499" y="93649"/>
                  <a:pt x="114169" y="85319"/>
                  <a:pt x="103909" y="85319"/>
                </a:cubicBezTo>
                <a:cubicBezTo>
                  <a:pt x="93649" y="85319"/>
                  <a:pt x="85319" y="93649"/>
                  <a:pt x="85319" y="103909"/>
                </a:cubicBezTo>
                <a:cubicBezTo>
                  <a:pt x="85319" y="114169"/>
                  <a:pt x="93649" y="122499"/>
                  <a:pt x="103909" y="122499"/>
                </a:cubicBezTo>
                <a:close/>
              </a:path>
            </a:pathLst>
          </a:custGeom>
          <a:solidFill>
            <a:srgbClr val="61DA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958273" y="4664364"/>
            <a:ext cx="4410364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2727" y="5080000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React 18 + TypeScript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2727" y="5357091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shadcn/ui components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2727" y="5634182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Tailwind CSS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2727" y="5911273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Formulaire 6 champs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2727" y="6188364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Compteur animé prix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57273" y="4479636"/>
            <a:ext cx="4964545" cy="2124364"/>
          </a:xfrm>
          <a:custGeom>
            <a:avLst/>
            <a:gdLst/>
            <a:ahLst/>
            <a:cxnLst/>
            <a:rect l="l" t="t" r="r" b="b"/>
            <a:pathLst>
              <a:path w="4964545" h="2124364">
                <a:moveTo>
                  <a:pt x="46182" y="0"/>
                </a:moveTo>
                <a:lnTo>
                  <a:pt x="4872178" y="0"/>
                </a:lnTo>
                <a:cubicBezTo>
                  <a:pt x="4923191" y="0"/>
                  <a:pt x="4964545" y="41354"/>
                  <a:pt x="4964545" y="92367"/>
                </a:cubicBezTo>
                <a:lnTo>
                  <a:pt x="4964545" y="2031996"/>
                </a:lnTo>
                <a:cubicBezTo>
                  <a:pt x="4964545" y="2083009"/>
                  <a:pt x="4923191" y="2124364"/>
                  <a:pt x="4872178" y="2124364"/>
                </a:cubicBezTo>
                <a:lnTo>
                  <a:pt x="46182" y="2124364"/>
                </a:lnTo>
                <a:cubicBezTo>
                  <a:pt x="20676" y="2124364"/>
                  <a:pt x="0" y="2103687"/>
                  <a:pt x="0" y="2078182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9273" dist="4618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657273" y="4479636"/>
            <a:ext cx="46182" cy="2124364"/>
          </a:xfrm>
          <a:custGeom>
            <a:avLst/>
            <a:gdLst/>
            <a:ahLst/>
            <a:cxnLst/>
            <a:rect l="l" t="t" r="r" b="b"/>
            <a:pathLst>
              <a:path w="46182" h="2124364">
                <a:moveTo>
                  <a:pt x="46182" y="0"/>
                </a:moveTo>
                <a:lnTo>
                  <a:pt x="46182" y="0"/>
                </a:lnTo>
                <a:lnTo>
                  <a:pt x="46182" y="2124364"/>
                </a:lnTo>
                <a:lnTo>
                  <a:pt x="46182" y="2124364"/>
                </a:lnTo>
                <a:cubicBezTo>
                  <a:pt x="20676" y="2124364"/>
                  <a:pt x="0" y="2103687"/>
                  <a:pt x="0" y="2078182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0096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893955" y="472209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51955" y="129886"/>
                </a:moveTo>
                <a:lnTo>
                  <a:pt x="9944" y="129886"/>
                </a:lnTo>
                <a:cubicBezTo>
                  <a:pt x="-162" y="129886"/>
                  <a:pt x="-6373" y="118887"/>
                  <a:pt x="-1177" y="110200"/>
                </a:cubicBezTo>
                <a:lnTo>
                  <a:pt x="20295" y="74401"/>
                </a:lnTo>
                <a:cubicBezTo>
                  <a:pt x="23826" y="68515"/>
                  <a:pt x="30158" y="64943"/>
                  <a:pt x="37018" y="64943"/>
                </a:cubicBezTo>
                <a:lnTo>
                  <a:pt x="75578" y="64943"/>
                </a:lnTo>
                <a:cubicBezTo>
                  <a:pt x="106466" y="12623"/>
                  <a:pt x="152535" y="9985"/>
                  <a:pt x="183343" y="14490"/>
                </a:cubicBezTo>
                <a:cubicBezTo>
                  <a:pt x="188538" y="15262"/>
                  <a:pt x="192597" y="19321"/>
                  <a:pt x="193328" y="24475"/>
                </a:cubicBezTo>
                <a:cubicBezTo>
                  <a:pt x="197833" y="55283"/>
                  <a:pt x="195195" y="101352"/>
                  <a:pt x="142875" y="132241"/>
                </a:cubicBezTo>
                <a:lnTo>
                  <a:pt x="142875" y="170801"/>
                </a:lnTo>
                <a:cubicBezTo>
                  <a:pt x="142875" y="177660"/>
                  <a:pt x="139303" y="183992"/>
                  <a:pt x="133418" y="187523"/>
                </a:cubicBezTo>
                <a:lnTo>
                  <a:pt x="97618" y="208995"/>
                </a:lnTo>
                <a:cubicBezTo>
                  <a:pt x="88972" y="214191"/>
                  <a:pt x="77932" y="207940"/>
                  <a:pt x="77932" y="197874"/>
                </a:cubicBezTo>
                <a:lnTo>
                  <a:pt x="77932" y="155864"/>
                </a:lnTo>
                <a:cubicBezTo>
                  <a:pt x="77932" y="141536"/>
                  <a:pt x="66283" y="129886"/>
                  <a:pt x="51955" y="129886"/>
                </a:cubicBezTo>
                <a:lnTo>
                  <a:pt x="51914" y="129886"/>
                </a:lnTo>
                <a:close/>
                <a:moveTo>
                  <a:pt x="162358" y="64943"/>
                </a:moveTo>
                <a:cubicBezTo>
                  <a:pt x="162358" y="54190"/>
                  <a:pt x="153628" y="45460"/>
                  <a:pt x="142875" y="45460"/>
                </a:cubicBezTo>
                <a:cubicBezTo>
                  <a:pt x="132122" y="45460"/>
                  <a:pt x="123392" y="54190"/>
                  <a:pt x="123392" y="64943"/>
                </a:cubicBezTo>
                <a:cubicBezTo>
                  <a:pt x="123392" y="75696"/>
                  <a:pt x="132122" y="84426"/>
                  <a:pt x="142875" y="84426"/>
                </a:cubicBezTo>
                <a:cubicBezTo>
                  <a:pt x="153628" y="84426"/>
                  <a:pt x="162358" y="75696"/>
                  <a:pt x="162358" y="64943"/>
                </a:cubicBezTo>
                <a:close/>
              </a:path>
            </a:pathLst>
          </a:custGeom>
          <a:solidFill>
            <a:srgbClr val="0096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130636" y="4664364"/>
            <a:ext cx="4410364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65091" y="5080000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FastAPI framework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65091" y="5357091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Pydantic validation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65091" y="5634182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Uvicorn server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65091" y="5911273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Endpoint /predict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65091" y="6188364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CORS enabled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29636" y="4479636"/>
            <a:ext cx="4964545" cy="2124364"/>
          </a:xfrm>
          <a:custGeom>
            <a:avLst/>
            <a:gdLst/>
            <a:ahLst/>
            <a:cxnLst/>
            <a:rect l="l" t="t" r="r" b="b"/>
            <a:pathLst>
              <a:path w="4964545" h="2124364">
                <a:moveTo>
                  <a:pt x="46182" y="0"/>
                </a:moveTo>
                <a:lnTo>
                  <a:pt x="4872178" y="0"/>
                </a:lnTo>
                <a:cubicBezTo>
                  <a:pt x="4923191" y="0"/>
                  <a:pt x="4964545" y="41354"/>
                  <a:pt x="4964545" y="92367"/>
                </a:cubicBezTo>
                <a:lnTo>
                  <a:pt x="4964545" y="2031996"/>
                </a:lnTo>
                <a:cubicBezTo>
                  <a:pt x="4964545" y="2083009"/>
                  <a:pt x="4923191" y="2124364"/>
                  <a:pt x="4872178" y="2124364"/>
                </a:cubicBezTo>
                <a:lnTo>
                  <a:pt x="46182" y="2124364"/>
                </a:lnTo>
                <a:cubicBezTo>
                  <a:pt x="20676" y="2124364"/>
                  <a:pt x="0" y="2103687"/>
                  <a:pt x="0" y="2078182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9273" dist="4618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10829636" y="4479636"/>
            <a:ext cx="46182" cy="2124364"/>
          </a:xfrm>
          <a:custGeom>
            <a:avLst/>
            <a:gdLst/>
            <a:ahLst/>
            <a:cxnLst/>
            <a:rect l="l" t="t" r="r" b="b"/>
            <a:pathLst>
              <a:path w="46182" h="2124364">
                <a:moveTo>
                  <a:pt x="46182" y="0"/>
                </a:moveTo>
                <a:lnTo>
                  <a:pt x="46182" y="0"/>
                </a:lnTo>
                <a:lnTo>
                  <a:pt x="46182" y="2124364"/>
                </a:lnTo>
                <a:lnTo>
                  <a:pt x="46182" y="2124364"/>
                </a:lnTo>
                <a:cubicBezTo>
                  <a:pt x="20676" y="2124364"/>
                  <a:pt x="0" y="2103687"/>
                  <a:pt x="0" y="2078182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11066318" y="472209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48707" y="22730"/>
                </a:moveTo>
                <a:cubicBezTo>
                  <a:pt x="48707" y="10188"/>
                  <a:pt x="58895" y="0"/>
                  <a:pt x="71438" y="0"/>
                </a:cubicBezTo>
                <a:lnTo>
                  <a:pt x="81179" y="0"/>
                </a:lnTo>
                <a:cubicBezTo>
                  <a:pt x="88363" y="0"/>
                  <a:pt x="94168" y="5804"/>
                  <a:pt x="94168" y="12989"/>
                </a:cubicBezTo>
                <a:lnTo>
                  <a:pt x="94168" y="194830"/>
                </a:lnTo>
                <a:cubicBezTo>
                  <a:pt x="94168" y="202014"/>
                  <a:pt x="88363" y="207818"/>
                  <a:pt x="81179" y="207818"/>
                </a:cubicBezTo>
                <a:lnTo>
                  <a:pt x="68190" y="207818"/>
                </a:lnTo>
                <a:cubicBezTo>
                  <a:pt x="56095" y="207818"/>
                  <a:pt x="45907" y="199538"/>
                  <a:pt x="43025" y="188335"/>
                </a:cubicBezTo>
                <a:cubicBezTo>
                  <a:pt x="42741" y="188335"/>
                  <a:pt x="42497" y="188335"/>
                  <a:pt x="42213" y="188335"/>
                </a:cubicBezTo>
                <a:cubicBezTo>
                  <a:pt x="24273" y="188335"/>
                  <a:pt x="9741" y="173804"/>
                  <a:pt x="9741" y="155864"/>
                </a:cubicBezTo>
                <a:cubicBezTo>
                  <a:pt x="9741" y="148558"/>
                  <a:pt x="12177" y="141820"/>
                  <a:pt x="16236" y="136381"/>
                </a:cubicBezTo>
                <a:cubicBezTo>
                  <a:pt x="8361" y="130455"/>
                  <a:pt x="3247" y="121038"/>
                  <a:pt x="3247" y="110403"/>
                </a:cubicBezTo>
                <a:cubicBezTo>
                  <a:pt x="3247" y="97861"/>
                  <a:pt x="10391" y="86943"/>
                  <a:pt x="20782" y="81544"/>
                </a:cubicBezTo>
                <a:cubicBezTo>
                  <a:pt x="17900" y="76674"/>
                  <a:pt x="16236" y="70991"/>
                  <a:pt x="16236" y="64943"/>
                </a:cubicBezTo>
                <a:cubicBezTo>
                  <a:pt x="16236" y="47003"/>
                  <a:pt x="30767" y="32472"/>
                  <a:pt x="48707" y="32472"/>
                </a:cubicBezTo>
                <a:lnTo>
                  <a:pt x="48707" y="22730"/>
                </a:lnTo>
                <a:close/>
                <a:moveTo>
                  <a:pt x="159111" y="22730"/>
                </a:moveTo>
                <a:lnTo>
                  <a:pt x="159111" y="32472"/>
                </a:lnTo>
                <a:cubicBezTo>
                  <a:pt x="177051" y="32472"/>
                  <a:pt x="191582" y="47003"/>
                  <a:pt x="191582" y="64943"/>
                </a:cubicBezTo>
                <a:cubicBezTo>
                  <a:pt x="191582" y="71032"/>
                  <a:pt x="189918" y="76714"/>
                  <a:pt x="187036" y="81544"/>
                </a:cubicBezTo>
                <a:cubicBezTo>
                  <a:pt x="197468" y="86943"/>
                  <a:pt x="204571" y="97821"/>
                  <a:pt x="204571" y="110403"/>
                </a:cubicBezTo>
                <a:cubicBezTo>
                  <a:pt x="204571" y="121038"/>
                  <a:pt x="199457" y="130455"/>
                  <a:pt x="191582" y="136381"/>
                </a:cubicBezTo>
                <a:cubicBezTo>
                  <a:pt x="195641" y="141820"/>
                  <a:pt x="198077" y="148558"/>
                  <a:pt x="198077" y="155864"/>
                </a:cubicBezTo>
                <a:cubicBezTo>
                  <a:pt x="198077" y="173804"/>
                  <a:pt x="183546" y="188335"/>
                  <a:pt x="165605" y="188335"/>
                </a:cubicBezTo>
                <a:cubicBezTo>
                  <a:pt x="165321" y="188335"/>
                  <a:pt x="165077" y="188335"/>
                  <a:pt x="164793" y="188335"/>
                </a:cubicBezTo>
                <a:cubicBezTo>
                  <a:pt x="161911" y="199538"/>
                  <a:pt x="151724" y="207818"/>
                  <a:pt x="139628" y="207818"/>
                </a:cubicBezTo>
                <a:lnTo>
                  <a:pt x="126639" y="207818"/>
                </a:lnTo>
                <a:cubicBezTo>
                  <a:pt x="119455" y="207818"/>
                  <a:pt x="113651" y="202014"/>
                  <a:pt x="113651" y="194830"/>
                </a:cubicBezTo>
                <a:lnTo>
                  <a:pt x="113651" y="12989"/>
                </a:lnTo>
                <a:cubicBezTo>
                  <a:pt x="113651" y="5804"/>
                  <a:pt x="119455" y="0"/>
                  <a:pt x="126639" y="0"/>
                </a:cubicBezTo>
                <a:lnTo>
                  <a:pt x="136381" y="0"/>
                </a:lnTo>
                <a:cubicBezTo>
                  <a:pt x="148923" y="0"/>
                  <a:pt x="159111" y="10188"/>
                  <a:pt x="159111" y="2273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1303000" y="4664364"/>
            <a:ext cx="4410364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37455" y="5080000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XGBoost model (.pkl)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37455" y="5357091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Scaler Standard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37455" y="5634182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Préprocessing pipeline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37455" y="5911273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7 features d'entrée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37455" y="6188364"/>
            <a:ext cx="4652818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Versioning modèles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61818" y="6788727"/>
            <a:ext cx="15332364" cy="1893455"/>
          </a:xfrm>
          <a:custGeom>
            <a:avLst/>
            <a:gdLst/>
            <a:ahLst/>
            <a:cxnLst/>
            <a:rect l="l" t="t" r="r" b="b"/>
            <a:pathLst>
              <a:path w="15332364" h="1893455">
                <a:moveTo>
                  <a:pt x="92363" y="0"/>
                </a:moveTo>
                <a:lnTo>
                  <a:pt x="15240001" y="0"/>
                </a:lnTo>
                <a:cubicBezTo>
                  <a:pt x="15291011" y="0"/>
                  <a:pt x="15332364" y="41352"/>
                  <a:pt x="15332364" y="92363"/>
                </a:cubicBezTo>
                <a:lnTo>
                  <a:pt x="15332364" y="1801092"/>
                </a:lnTo>
                <a:cubicBezTo>
                  <a:pt x="15332364" y="1852102"/>
                  <a:pt x="15291011" y="1893455"/>
                  <a:pt x="15240001" y="1893455"/>
                </a:cubicBezTo>
                <a:lnTo>
                  <a:pt x="92363" y="1893455"/>
                </a:lnTo>
                <a:cubicBezTo>
                  <a:pt x="41352" y="1893455"/>
                  <a:pt x="0" y="1852102"/>
                  <a:pt x="0" y="1801092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73182" dist="11545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461818" y="6788727"/>
            <a:ext cx="15332364" cy="600364"/>
          </a:xfrm>
          <a:custGeom>
            <a:avLst/>
            <a:gdLst/>
            <a:ahLst/>
            <a:cxnLst/>
            <a:rect l="l" t="t" r="r" b="b"/>
            <a:pathLst>
              <a:path w="15332364" h="600364">
                <a:moveTo>
                  <a:pt x="0" y="0"/>
                </a:moveTo>
                <a:lnTo>
                  <a:pt x="15332364" y="0"/>
                </a:lnTo>
                <a:lnTo>
                  <a:pt x="15332364" y="600364"/>
                </a:lnTo>
                <a:lnTo>
                  <a:pt x="0" y="600364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92727" y="6927273"/>
            <a:ext cx="14986000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Fichiers de Déploiement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6545" y="7573818"/>
            <a:ext cx="4860636" cy="923636"/>
          </a:xfrm>
          <a:custGeom>
            <a:avLst/>
            <a:gdLst/>
            <a:ahLst/>
            <a:cxnLst/>
            <a:rect l="l" t="t" r="r" b="b"/>
            <a:pathLst>
              <a:path w="4860636" h="923636">
                <a:moveTo>
                  <a:pt x="92364" y="0"/>
                </a:moveTo>
                <a:lnTo>
                  <a:pt x="4768273" y="0"/>
                </a:lnTo>
                <a:cubicBezTo>
                  <a:pt x="4819284" y="0"/>
                  <a:pt x="4860636" y="41353"/>
                  <a:pt x="4860636" y="92364"/>
                </a:cubicBezTo>
                <a:lnTo>
                  <a:pt x="4860636" y="831273"/>
                </a:lnTo>
                <a:cubicBezTo>
                  <a:pt x="4860636" y="882284"/>
                  <a:pt x="4819284" y="923636"/>
                  <a:pt x="4768273" y="923636"/>
                </a:cubicBezTo>
                <a:lnTo>
                  <a:pt x="92364" y="923636"/>
                </a:lnTo>
                <a:cubicBezTo>
                  <a:pt x="41353" y="923636"/>
                  <a:pt x="0" y="882284"/>
                  <a:pt x="0" y="831273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920750" y="7862455"/>
            <a:ext cx="259773" cy="346364"/>
          </a:xfrm>
          <a:custGeom>
            <a:avLst/>
            <a:gdLst/>
            <a:ahLst/>
            <a:cxnLst/>
            <a:rect l="l" t="t" r="r" b="b"/>
            <a:pathLst>
              <a:path w="259773" h="346364">
                <a:moveTo>
                  <a:pt x="0" y="43295"/>
                </a:moveTo>
                <a:cubicBezTo>
                  <a:pt x="0" y="19415"/>
                  <a:pt x="19415" y="0"/>
                  <a:pt x="43295" y="0"/>
                </a:cubicBezTo>
                <a:lnTo>
                  <a:pt x="144431" y="0"/>
                </a:lnTo>
                <a:cubicBezTo>
                  <a:pt x="155931" y="0"/>
                  <a:pt x="166958" y="4532"/>
                  <a:pt x="175076" y="12650"/>
                </a:cubicBezTo>
                <a:lnTo>
                  <a:pt x="247122" y="84764"/>
                </a:lnTo>
                <a:cubicBezTo>
                  <a:pt x="255240" y="92882"/>
                  <a:pt x="259773" y="103909"/>
                  <a:pt x="259773" y="115409"/>
                </a:cubicBezTo>
                <a:lnTo>
                  <a:pt x="259773" y="303068"/>
                </a:lnTo>
                <a:cubicBezTo>
                  <a:pt x="259773" y="326948"/>
                  <a:pt x="240357" y="346364"/>
                  <a:pt x="216477" y="346364"/>
                </a:cubicBezTo>
                <a:lnTo>
                  <a:pt x="43295" y="346364"/>
                </a:lnTo>
                <a:cubicBezTo>
                  <a:pt x="19415" y="346364"/>
                  <a:pt x="0" y="326948"/>
                  <a:pt x="0" y="303068"/>
                </a:cubicBezTo>
                <a:lnTo>
                  <a:pt x="0" y="43295"/>
                </a:lnTo>
                <a:close/>
                <a:moveTo>
                  <a:pt x="140710" y="39575"/>
                </a:moveTo>
                <a:lnTo>
                  <a:pt x="140710" y="102827"/>
                </a:lnTo>
                <a:cubicBezTo>
                  <a:pt x="140710" y="111824"/>
                  <a:pt x="147949" y="119063"/>
                  <a:pt x="156946" y="119063"/>
                </a:cubicBezTo>
                <a:lnTo>
                  <a:pt x="220198" y="119063"/>
                </a:lnTo>
                <a:lnTo>
                  <a:pt x="140710" y="39575"/>
                </a:lnTo>
                <a:close/>
                <a:moveTo>
                  <a:pt x="104315" y="199971"/>
                </a:moveTo>
                <a:cubicBezTo>
                  <a:pt x="110133" y="193138"/>
                  <a:pt x="109389" y="182923"/>
                  <a:pt x="102556" y="177105"/>
                </a:cubicBezTo>
                <a:cubicBezTo>
                  <a:pt x="95724" y="171288"/>
                  <a:pt x="85509" y="172032"/>
                  <a:pt x="79691" y="178864"/>
                </a:cubicBezTo>
                <a:lnTo>
                  <a:pt x="47219" y="216748"/>
                </a:lnTo>
                <a:cubicBezTo>
                  <a:pt x="42010" y="222836"/>
                  <a:pt x="42010" y="231766"/>
                  <a:pt x="47219" y="237854"/>
                </a:cubicBezTo>
                <a:lnTo>
                  <a:pt x="79691" y="275738"/>
                </a:lnTo>
                <a:cubicBezTo>
                  <a:pt x="85509" y="282570"/>
                  <a:pt x="95791" y="283315"/>
                  <a:pt x="102556" y="277497"/>
                </a:cubicBezTo>
                <a:cubicBezTo>
                  <a:pt x="109321" y="271679"/>
                  <a:pt x="110133" y="261396"/>
                  <a:pt x="104315" y="254631"/>
                </a:cubicBezTo>
                <a:lnTo>
                  <a:pt x="80908" y="227301"/>
                </a:lnTo>
                <a:lnTo>
                  <a:pt x="104315" y="199971"/>
                </a:lnTo>
                <a:close/>
                <a:moveTo>
                  <a:pt x="180082" y="178864"/>
                </a:moveTo>
                <a:cubicBezTo>
                  <a:pt x="174264" y="172032"/>
                  <a:pt x="163982" y="171288"/>
                  <a:pt x="157217" y="177105"/>
                </a:cubicBezTo>
                <a:cubicBezTo>
                  <a:pt x="150452" y="182923"/>
                  <a:pt x="149640" y="193206"/>
                  <a:pt x="155458" y="199971"/>
                </a:cubicBezTo>
                <a:lnTo>
                  <a:pt x="178864" y="227301"/>
                </a:lnTo>
                <a:lnTo>
                  <a:pt x="155458" y="254631"/>
                </a:lnTo>
                <a:cubicBezTo>
                  <a:pt x="149640" y="261464"/>
                  <a:pt x="150384" y="271679"/>
                  <a:pt x="157217" y="277497"/>
                </a:cubicBezTo>
                <a:cubicBezTo>
                  <a:pt x="164049" y="283315"/>
                  <a:pt x="174264" y="282570"/>
                  <a:pt x="180082" y="275738"/>
                </a:cubicBezTo>
                <a:lnTo>
                  <a:pt x="212554" y="237854"/>
                </a:lnTo>
                <a:cubicBezTo>
                  <a:pt x="217763" y="231766"/>
                  <a:pt x="217763" y="222836"/>
                  <a:pt x="212554" y="216748"/>
                </a:cubicBezTo>
                <a:lnTo>
                  <a:pt x="180082" y="178864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1402773" y="7758545"/>
            <a:ext cx="1431636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xgb_model.pkl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02773" y="8081818"/>
            <a:ext cx="1408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 entraîné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95697" y="7573818"/>
            <a:ext cx="4860636" cy="923636"/>
          </a:xfrm>
          <a:custGeom>
            <a:avLst/>
            <a:gdLst/>
            <a:ahLst/>
            <a:cxnLst/>
            <a:rect l="l" t="t" r="r" b="b"/>
            <a:pathLst>
              <a:path w="4860636" h="923636">
                <a:moveTo>
                  <a:pt x="92364" y="0"/>
                </a:moveTo>
                <a:lnTo>
                  <a:pt x="4768273" y="0"/>
                </a:lnTo>
                <a:cubicBezTo>
                  <a:pt x="4819284" y="0"/>
                  <a:pt x="4860636" y="41353"/>
                  <a:pt x="4860636" y="92364"/>
                </a:cubicBezTo>
                <a:lnTo>
                  <a:pt x="4860636" y="831273"/>
                </a:lnTo>
                <a:cubicBezTo>
                  <a:pt x="4860636" y="882284"/>
                  <a:pt x="4819284" y="923636"/>
                  <a:pt x="4768273" y="923636"/>
                </a:cubicBezTo>
                <a:lnTo>
                  <a:pt x="92364" y="923636"/>
                </a:lnTo>
                <a:cubicBezTo>
                  <a:pt x="41353" y="923636"/>
                  <a:pt x="0" y="882284"/>
                  <a:pt x="0" y="831273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5969902" y="7862455"/>
            <a:ext cx="259773" cy="346364"/>
          </a:xfrm>
          <a:custGeom>
            <a:avLst/>
            <a:gdLst/>
            <a:ahLst/>
            <a:cxnLst/>
            <a:rect l="l" t="t" r="r" b="b"/>
            <a:pathLst>
              <a:path w="259773" h="346364">
                <a:moveTo>
                  <a:pt x="0" y="43295"/>
                </a:moveTo>
                <a:cubicBezTo>
                  <a:pt x="0" y="19415"/>
                  <a:pt x="19415" y="0"/>
                  <a:pt x="43295" y="0"/>
                </a:cubicBezTo>
                <a:lnTo>
                  <a:pt x="144431" y="0"/>
                </a:lnTo>
                <a:cubicBezTo>
                  <a:pt x="155931" y="0"/>
                  <a:pt x="166958" y="4532"/>
                  <a:pt x="175076" y="12650"/>
                </a:cubicBezTo>
                <a:lnTo>
                  <a:pt x="247122" y="84764"/>
                </a:lnTo>
                <a:cubicBezTo>
                  <a:pt x="255240" y="92882"/>
                  <a:pt x="259773" y="103909"/>
                  <a:pt x="259773" y="115409"/>
                </a:cubicBezTo>
                <a:lnTo>
                  <a:pt x="259773" y="303068"/>
                </a:lnTo>
                <a:cubicBezTo>
                  <a:pt x="259773" y="326948"/>
                  <a:pt x="240357" y="346364"/>
                  <a:pt x="216477" y="346364"/>
                </a:cubicBezTo>
                <a:lnTo>
                  <a:pt x="43295" y="346364"/>
                </a:lnTo>
                <a:cubicBezTo>
                  <a:pt x="19415" y="346364"/>
                  <a:pt x="0" y="326948"/>
                  <a:pt x="0" y="303068"/>
                </a:cubicBezTo>
                <a:lnTo>
                  <a:pt x="0" y="43295"/>
                </a:lnTo>
                <a:close/>
                <a:moveTo>
                  <a:pt x="140710" y="39575"/>
                </a:moveTo>
                <a:lnTo>
                  <a:pt x="140710" y="102827"/>
                </a:lnTo>
                <a:cubicBezTo>
                  <a:pt x="140710" y="111824"/>
                  <a:pt x="147949" y="119063"/>
                  <a:pt x="156946" y="119063"/>
                </a:cubicBezTo>
                <a:lnTo>
                  <a:pt x="220198" y="119063"/>
                </a:lnTo>
                <a:lnTo>
                  <a:pt x="140710" y="39575"/>
                </a:lnTo>
                <a:close/>
                <a:moveTo>
                  <a:pt x="104315" y="199971"/>
                </a:moveTo>
                <a:cubicBezTo>
                  <a:pt x="110133" y="193138"/>
                  <a:pt x="109389" y="182923"/>
                  <a:pt x="102556" y="177105"/>
                </a:cubicBezTo>
                <a:cubicBezTo>
                  <a:pt x="95724" y="171288"/>
                  <a:pt x="85509" y="172032"/>
                  <a:pt x="79691" y="178864"/>
                </a:cubicBezTo>
                <a:lnTo>
                  <a:pt x="47219" y="216748"/>
                </a:lnTo>
                <a:cubicBezTo>
                  <a:pt x="42010" y="222836"/>
                  <a:pt x="42010" y="231766"/>
                  <a:pt x="47219" y="237854"/>
                </a:cubicBezTo>
                <a:lnTo>
                  <a:pt x="79691" y="275738"/>
                </a:lnTo>
                <a:cubicBezTo>
                  <a:pt x="85509" y="282570"/>
                  <a:pt x="95791" y="283315"/>
                  <a:pt x="102556" y="277497"/>
                </a:cubicBezTo>
                <a:cubicBezTo>
                  <a:pt x="109321" y="271679"/>
                  <a:pt x="110133" y="261396"/>
                  <a:pt x="104315" y="254631"/>
                </a:cubicBezTo>
                <a:lnTo>
                  <a:pt x="80908" y="227301"/>
                </a:lnTo>
                <a:lnTo>
                  <a:pt x="104315" y="199971"/>
                </a:lnTo>
                <a:close/>
                <a:moveTo>
                  <a:pt x="180082" y="178864"/>
                </a:moveTo>
                <a:cubicBezTo>
                  <a:pt x="174264" y="172032"/>
                  <a:pt x="163982" y="171288"/>
                  <a:pt x="157217" y="177105"/>
                </a:cubicBezTo>
                <a:cubicBezTo>
                  <a:pt x="150452" y="182923"/>
                  <a:pt x="149640" y="193206"/>
                  <a:pt x="155458" y="199971"/>
                </a:cubicBezTo>
                <a:lnTo>
                  <a:pt x="178864" y="227301"/>
                </a:lnTo>
                <a:lnTo>
                  <a:pt x="155458" y="254631"/>
                </a:lnTo>
                <a:cubicBezTo>
                  <a:pt x="149640" y="261464"/>
                  <a:pt x="150384" y="271679"/>
                  <a:pt x="157217" y="277497"/>
                </a:cubicBezTo>
                <a:cubicBezTo>
                  <a:pt x="164049" y="283315"/>
                  <a:pt x="174264" y="282570"/>
                  <a:pt x="180082" y="275738"/>
                </a:cubicBezTo>
                <a:lnTo>
                  <a:pt x="212554" y="237854"/>
                </a:lnTo>
                <a:cubicBezTo>
                  <a:pt x="217763" y="231766"/>
                  <a:pt x="217763" y="222836"/>
                  <a:pt x="212554" y="216748"/>
                </a:cubicBezTo>
                <a:lnTo>
                  <a:pt x="180082" y="178864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6451925" y="7758545"/>
            <a:ext cx="1593273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scaler.pkl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51925" y="8081818"/>
            <a:ext cx="1570182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 StandardScaler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744849" y="7573818"/>
            <a:ext cx="4860636" cy="923636"/>
          </a:xfrm>
          <a:custGeom>
            <a:avLst/>
            <a:gdLst/>
            <a:ahLst/>
            <a:cxnLst/>
            <a:rect l="l" t="t" r="r" b="b"/>
            <a:pathLst>
              <a:path w="4860636" h="923636">
                <a:moveTo>
                  <a:pt x="92364" y="0"/>
                </a:moveTo>
                <a:lnTo>
                  <a:pt x="4768273" y="0"/>
                </a:lnTo>
                <a:cubicBezTo>
                  <a:pt x="4819284" y="0"/>
                  <a:pt x="4860636" y="41353"/>
                  <a:pt x="4860636" y="92364"/>
                </a:cubicBezTo>
                <a:lnTo>
                  <a:pt x="4860636" y="831273"/>
                </a:lnTo>
                <a:cubicBezTo>
                  <a:pt x="4860636" y="882284"/>
                  <a:pt x="4819284" y="923636"/>
                  <a:pt x="4768273" y="923636"/>
                </a:cubicBezTo>
                <a:lnTo>
                  <a:pt x="92364" y="923636"/>
                </a:lnTo>
                <a:cubicBezTo>
                  <a:pt x="41353" y="923636"/>
                  <a:pt x="0" y="882284"/>
                  <a:pt x="0" y="831273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10997406" y="7862455"/>
            <a:ext cx="303068" cy="346364"/>
          </a:xfrm>
          <a:custGeom>
            <a:avLst/>
            <a:gdLst/>
            <a:ahLst/>
            <a:cxnLst/>
            <a:rect l="l" t="t" r="r" b="b"/>
            <a:pathLst>
              <a:path w="303068" h="346364">
                <a:moveTo>
                  <a:pt x="303068" y="139222"/>
                </a:moveTo>
                <a:cubicBezTo>
                  <a:pt x="293056" y="145852"/>
                  <a:pt x="281556" y="151196"/>
                  <a:pt x="269582" y="155458"/>
                </a:cubicBezTo>
                <a:cubicBezTo>
                  <a:pt x="237787" y="166823"/>
                  <a:pt x="196047" y="173182"/>
                  <a:pt x="151534" y="173182"/>
                </a:cubicBezTo>
                <a:cubicBezTo>
                  <a:pt x="107021" y="173182"/>
                  <a:pt x="65214" y="166755"/>
                  <a:pt x="33486" y="155458"/>
                </a:cubicBezTo>
                <a:cubicBezTo>
                  <a:pt x="21580" y="151196"/>
                  <a:pt x="10012" y="145852"/>
                  <a:pt x="0" y="139222"/>
                </a:cubicBezTo>
                <a:lnTo>
                  <a:pt x="0" y="194830"/>
                </a:lnTo>
                <a:cubicBezTo>
                  <a:pt x="0" y="224730"/>
                  <a:pt x="67852" y="248949"/>
                  <a:pt x="151534" y="248949"/>
                </a:cubicBezTo>
                <a:cubicBezTo>
                  <a:pt x="235216" y="248949"/>
                  <a:pt x="303068" y="224730"/>
                  <a:pt x="303068" y="194830"/>
                </a:cubicBezTo>
                <a:lnTo>
                  <a:pt x="303068" y="139222"/>
                </a:lnTo>
                <a:close/>
                <a:moveTo>
                  <a:pt x="303068" y="86591"/>
                </a:moveTo>
                <a:lnTo>
                  <a:pt x="303068" y="54119"/>
                </a:lnTo>
                <a:cubicBezTo>
                  <a:pt x="303068" y="24218"/>
                  <a:pt x="235216" y="0"/>
                  <a:pt x="151534" y="0"/>
                </a:cubicBezTo>
                <a:cubicBezTo>
                  <a:pt x="67852" y="0"/>
                  <a:pt x="0" y="24218"/>
                  <a:pt x="0" y="54119"/>
                </a:cubicBezTo>
                <a:lnTo>
                  <a:pt x="0" y="86591"/>
                </a:lnTo>
                <a:cubicBezTo>
                  <a:pt x="0" y="116492"/>
                  <a:pt x="67852" y="140710"/>
                  <a:pt x="151534" y="140710"/>
                </a:cubicBezTo>
                <a:cubicBezTo>
                  <a:pt x="235216" y="140710"/>
                  <a:pt x="303068" y="116492"/>
                  <a:pt x="303068" y="86591"/>
                </a:cubicBezTo>
                <a:close/>
                <a:moveTo>
                  <a:pt x="269582" y="263696"/>
                </a:moveTo>
                <a:cubicBezTo>
                  <a:pt x="237854" y="274994"/>
                  <a:pt x="196115" y="281420"/>
                  <a:pt x="151534" y="281420"/>
                </a:cubicBezTo>
                <a:cubicBezTo>
                  <a:pt x="106953" y="281420"/>
                  <a:pt x="65214" y="274994"/>
                  <a:pt x="33486" y="263696"/>
                </a:cubicBezTo>
                <a:cubicBezTo>
                  <a:pt x="21580" y="259434"/>
                  <a:pt x="10012" y="254090"/>
                  <a:pt x="0" y="247461"/>
                </a:cubicBezTo>
                <a:lnTo>
                  <a:pt x="0" y="292244"/>
                </a:lnTo>
                <a:cubicBezTo>
                  <a:pt x="0" y="322145"/>
                  <a:pt x="67852" y="346364"/>
                  <a:pt x="151534" y="346364"/>
                </a:cubicBezTo>
                <a:cubicBezTo>
                  <a:pt x="235216" y="346364"/>
                  <a:pt x="303068" y="322145"/>
                  <a:pt x="303068" y="292244"/>
                </a:cubicBezTo>
                <a:lnTo>
                  <a:pt x="303068" y="247461"/>
                </a:lnTo>
                <a:cubicBezTo>
                  <a:pt x="293056" y="254090"/>
                  <a:pt x="281556" y="259434"/>
                  <a:pt x="269582" y="263696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11501077" y="7758545"/>
            <a:ext cx="1304636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1F49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X_clean.csv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501077" y="8081818"/>
            <a:ext cx="1281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6,992×28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955" y="500955"/>
            <a:ext cx="100191" cy="601146"/>
          </a:xfrm>
          <a:custGeom>
            <a:avLst/>
            <a:gdLst/>
            <a:ahLst/>
            <a:cxnLst/>
            <a:rect l="l" t="t" r="r" b="b"/>
            <a:pathLst>
              <a:path w="100191" h="601146">
                <a:moveTo>
                  <a:pt x="0" y="0"/>
                </a:moveTo>
                <a:lnTo>
                  <a:pt x="100191" y="0"/>
                </a:lnTo>
                <a:lnTo>
                  <a:pt x="100191" y="601146"/>
                </a:lnTo>
                <a:lnTo>
                  <a:pt x="0" y="601146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51433" y="500955"/>
            <a:ext cx="4696456" cy="60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33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Web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0955" y="1202293"/>
            <a:ext cx="15379328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2" dirty="0">
                <a:solidFill>
                  <a:srgbClr val="8FA1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utilisateur intuitive et expérience fluide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0955" y="1778391"/>
            <a:ext cx="4946934" cy="50096"/>
          </a:xfrm>
          <a:custGeom>
            <a:avLst/>
            <a:gdLst/>
            <a:ahLst/>
            <a:cxnLst/>
            <a:rect l="l" t="t" r="r" b="b"/>
            <a:pathLst>
              <a:path w="4946934" h="50096">
                <a:moveTo>
                  <a:pt x="50096" y="0"/>
                </a:moveTo>
                <a:lnTo>
                  <a:pt x="4896838" y="0"/>
                </a:lnTo>
                <a:cubicBezTo>
                  <a:pt x="4924505" y="0"/>
                  <a:pt x="4946934" y="22429"/>
                  <a:pt x="4946934" y="50096"/>
                </a:cubicBezTo>
                <a:lnTo>
                  <a:pt x="4946934" y="50096"/>
                </a:lnTo>
                <a:lnTo>
                  <a:pt x="0" y="50096"/>
                </a:lnTo>
                <a:lnTo>
                  <a:pt x="0" y="50096"/>
                </a:lnTo>
                <a:cubicBezTo>
                  <a:pt x="0" y="22447"/>
                  <a:pt x="22447" y="0"/>
                  <a:pt x="50096" y="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00955" y="1803439"/>
            <a:ext cx="4946934" cy="651242"/>
          </a:xfrm>
          <a:custGeom>
            <a:avLst/>
            <a:gdLst/>
            <a:ahLst/>
            <a:cxnLst/>
            <a:rect l="l" t="t" r="r" b="b"/>
            <a:pathLst>
              <a:path w="4946934" h="651242">
                <a:moveTo>
                  <a:pt x="0" y="0"/>
                </a:moveTo>
                <a:lnTo>
                  <a:pt x="4946934" y="0"/>
                </a:lnTo>
                <a:lnTo>
                  <a:pt x="4946934" y="651242"/>
                </a:lnTo>
                <a:lnTo>
                  <a:pt x="0" y="651242"/>
                </a:lnTo>
                <a:lnTo>
                  <a:pt x="0" y="0"/>
                </a:ln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4980" y="1953726"/>
            <a:ext cx="4658884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Page d'Accueil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8061" y="1778391"/>
            <a:ext cx="4373732" cy="4619486"/>
          </a:xfrm>
          <a:custGeom>
            <a:avLst/>
            <a:gdLst/>
            <a:ahLst/>
            <a:cxnLst/>
            <a:rect l="l" t="t" r="r" b="b"/>
            <a:pathLst>
              <a:path w="4373732" h="4619486">
                <a:moveTo>
                  <a:pt x="44291" y="0"/>
                </a:moveTo>
                <a:lnTo>
                  <a:pt x="4329441" y="0"/>
                </a:lnTo>
                <a:cubicBezTo>
                  <a:pt x="4353902" y="0"/>
                  <a:pt x="4373732" y="26015"/>
                  <a:pt x="4373732" y="58107"/>
                </a:cubicBezTo>
                <a:lnTo>
                  <a:pt x="4373732" y="4503259"/>
                </a:lnTo>
                <a:cubicBezTo>
                  <a:pt x="4373732" y="4567449"/>
                  <a:pt x="4334068" y="4619486"/>
                  <a:pt x="4285140" y="4619486"/>
                </a:cubicBezTo>
                <a:lnTo>
                  <a:pt x="88592" y="4619486"/>
                </a:lnTo>
                <a:cubicBezTo>
                  <a:pt x="39664" y="4619486"/>
                  <a:pt x="0" y="4567449"/>
                  <a:pt x="0" y="4503259"/>
                </a:cubicBezTo>
                <a:lnTo>
                  <a:pt x="0" y="58107"/>
                </a:lnTo>
                <a:cubicBezTo>
                  <a:pt x="0" y="26037"/>
                  <a:pt x="19846" y="0"/>
                  <a:pt x="4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13097" dist="2504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008061" y="1778391"/>
            <a:ext cx="4373732" cy="254000"/>
          </a:xfrm>
          <a:custGeom>
            <a:avLst/>
            <a:gdLst/>
            <a:ahLst/>
            <a:cxnLst/>
            <a:rect l="l" t="t" r="r" b="b"/>
            <a:pathLst>
              <a:path w="4373732" h="254000">
                <a:moveTo>
                  <a:pt x="44291" y="0"/>
                </a:moveTo>
                <a:lnTo>
                  <a:pt x="4329441" y="0"/>
                </a:lnTo>
                <a:cubicBezTo>
                  <a:pt x="4353902" y="0"/>
                  <a:pt x="4373732" y="113720"/>
                  <a:pt x="4373732" y="254000"/>
                </a:cubicBezTo>
                <a:lnTo>
                  <a:pt x="4373732" y="254000"/>
                </a:lnTo>
                <a:lnTo>
                  <a:pt x="0" y="254000"/>
                </a:lnTo>
                <a:lnTo>
                  <a:pt x="0" y="254000"/>
                </a:lnTo>
                <a:cubicBezTo>
                  <a:pt x="0" y="113814"/>
                  <a:pt x="19846" y="0"/>
                  <a:pt x="44291" y="0"/>
                </a:cubicBez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08061" y="1803439"/>
            <a:ext cx="4373732" cy="651242"/>
          </a:xfrm>
          <a:custGeom>
            <a:avLst/>
            <a:gdLst/>
            <a:ahLst/>
            <a:cxnLst/>
            <a:rect l="l" t="t" r="r" b="b"/>
            <a:pathLst>
              <a:path w="4373732" h="651242">
                <a:moveTo>
                  <a:pt x="0" y="0"/>
                </a:moveTo>
                <a:lnTo>
                  <a:pt x="4373732" y="0"/>
                </a:lnTo>
                <a:lnTo>
                  <a:pt x="4373732" y="651242"/>
                </a:lnTo>
                <a:lnTo>
                  <a:pt x="0" y="651242"/>
                </a:lnTo>
                <a:lnTo>
                  <a:pt x="0" y="0"/>
                </a:lnTo>
                <a:close/>
              </a:path>
            </a:pathLst>
          </a:custGeom>
          <a:solidFill>
            <a:srgbClr val="8FA1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795427" y="1953726"/>
            <a:ext cx="4658884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Formulaire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801849" y="1778391"/>
            <a:ext cx="4946934" cy="4619486"/>
          </a:xfrm>
          <a:custGeom>
            <a:avLst/>
            <a:gdLst/>
            <a:ahLst/>
            <a:cxnLst/>
            <a:rect l="l" t="t" r="r" b="b"/>
            <a:pathLst>
              <a:path w="4946934" h="4619486">
                <a:moveTo>
                  <a:pt x="50096" y="0"/>
                </a:moveTo>
                <a:lnTo>
                  <a:pt x="4896838" y="0"/>
                </a:lnTo>
                <a:cubicBezTo>
                  <a:pt x="4924505" y="0"/>
                  <a:pt x="4946934" y="26015"/>
                  <a:pt x="4946934" y="58107"/>
                </a:cubicBezTo>
                <a:lnTo>
                  <a:pt x="4946934" y="4503259"/>
                </a:lnTo>
                <a:cubicBezTo>
                  <a:pt x="4946934" y="4567449"/>
                  <a:pt x="4902072" y="4619486"/>
                  <a:pt x="4846732" y="4619486"/>
                </a:cubicBezTo>
                <a:lnTo>
                  <a:pt x="100202" y="4619486"/>
                </a:lnTo>
                <a:cubicBezTo>
                  <a:pt x="44862" y="4619486"/>
                  <a:pt x="0" y="4567449"/>
                  <a:pt x="0" y="4503259"/>
                </a:cubicBezTo>
                <a:lnTo>
                  <a:pt x="0" y="58107"/>
                </a:lnTo>
                <a:cubicBezTo>
                  <a:pt x="0" y="26037"/>
                  <a:pt x="22447" y="0"/>
                  <a:pt x="500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13097" dist="2504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0801849" y="1778391"/>
            <a:ext cx="4946934" cy="50096"/>
          </a:xfrm>
          <a:custGeom>
            <a:avLst/>
            <a:gdLst/>
            <a:ahLst/>
            <a:cxnLst/>
            <a:rect l="l" t="t" r="r" b="b"/>
            <a:pathLst>
              <a:path w="4946934" h="50096">
                <a:moveTo>
                  <a:pt x="50096" y="0"/>
                </a:moveTo>
                <a:lnTo>
                  <a:pt x="4896838" y="0"/>
                </a:lnTo>
                <a:cubicBezTo>
                  <a:pt x="4924505" y="0"/>
                  <a:pt x="4946934" y="22429"/>
                  <a:pt x="4946934" y="50096"/>
                </a:cubicBezTo>
                <a:lnTo>
                  <a:pt x="4946934" y="50096"/>
                </a:lnTo>
                <a:lnTo>
                  <a:pt x="0" y="50096"/>
                </a:lnTo>
                <a:lnTo>
                  <a:pt x="0" y="50096"/>
                </a:lnTo>
                <a:cubicBezTo>
                  <a:pt x="0" y="22447"/>
                  <a:pt x="22447" y="0"/>
                  <a:pt x="50096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0801849" y="1803439"/>
            <a:ext cx="4946934" cy="651242"/>
          </a:xfrm>
          <a:custGeom>
            <a:avLst/>
            <a:gdLst/>
            <a:ahLst/>
            <a:cxnLst/>
            <a:rect l="l" t="t" r="r" b="b"/>
            <a:pathLst>
              <a:path w="4946934" h="651242">
                <a:moveTo>
                  <a:pt x="0" y="0"/>
                </a:moveTo>
                <a:lnTo>
                  <a:pt x="4946934" y="0"/>
                </a:lnTo>
                <a:lnTo>
                  <a:pt x="4946934" y="651242"/>
                </a:lnTo>
                <a:lnTo>
                  <a:pt x="0" y="651242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0945874" y="1953726"/>
            <a:ext cx="4658884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Résultats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01849" y="2454681"/>
            <a:ext cx="4946934" cy="2755254"/>
          </a:xfrm>
          <a:custGeom>
            <a:avLst/>
            <a:gdLst/>
            <a:ahLst/>
            <a:cxnLst/>
            <a:rect l="l" t="t" r="r" b="b"/>
            <a:pathLst>
              <a:path w="4946934" h="2755254">
                <a:moveTo>
                  <a:pt x="0" y="0"/>
                </a:moveTo>
                <a:lnTo>
                  <a:pt x="4946934" y="0"/>
                </a:lnTo>
                <a:lnTo>
                  <a:pt x="4946934" y="2755254"/>
                </a:lnTo>
                <a:lnTo>
                  <a:pt x="0" y="275525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00955" y="6701503"/>
            <a:ext cx="15229042" cy="1332568"/>
          </a:xfrm>
          <a:custGeom>
            <a:avLst/>
            <a:gdLst/>
            <a:ahLst/>
            <a:cxnLst/>
            <a:rect l="l" t="t" r="r" b="b"/>
            <a:pathLst>
              <a:path w="15229042" h="1332568">
                <a:moveTo>
                  <a:pt x="50096" y="0"/>
                </a:moveTo>
                <a:lnTo>
                  <a:pt x="15128847" y="0"/>
                </a:lnTo>
                <a:cubicBezTo>
                  <a:pt x="15184183" y="0"/>
                  <a:pt x="15229042" y="33613"/>
                  <a:pt x="15229042" y="75077"/>
                </a:cubicBezTo>
                <a:lnTo>
                  <a:pt x="15229042" y="1257491"/>
                </a:lnTo>
                <a:cubicBezTo>
                  <a:pt x="15229042" y="1298955"/>
                  <a:pt x="15184183" y="1332568"/>
                  <a:pt x="15128847" y="1332568"/>
                </a:cubicBezTo>
                <a:lnTo>
                  <a:pt x="50096" y="1332568"/>
                </a:lnTo>
                <a:cubicBezTo>
                  <a:pt x="22429" y="1332568"/>
                  <a:pt x="0" y="1315762"/>
                  <a:pt x="0" y="1295031"/>
                </a:cubicBezTo>
                <a:lnTo>
                  <a:pt x="0" y="37537"/>
                </a:lnTo>
                <a:cubicBezTo>
                  <a:pt x="0" y="16820"/>
                  <a:pt x="22447" y="0"/>
                  <a:pt x="5009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1146" y="6199322"/>
            <a:ext cx="50096" cy="1778391"/>
          </a:xfrm>
          <a:custGeom>
            <a:avLst/>
            <a:gdLst/>
            <a:ahLst/>
            <a:cxnLst/>
            <a:rect l="l" t="t" r="r" b="b"/>
            <a:pathLst>
              <a:path w="50096" h="1778391">
                <a:moveTo>
                  <a:pt x="50096" y="0"/>
                </a:moveTo>
                <a:lnTo>
                  <a:pt x="50096" y="0"/>
                </a:lnTo>
                <a:lnTo>
                  <a:pt x="50096" y="1778391"/>
                </a:lnTo>
                <a:lnTo>
                  <a:pt x="50096" y="1778391"/>
                </a:lnTo>
                <a:cubicBezTo>
                  <a:pt x="22429" y="1778391"/>
                  <a:pt x="0" y="1755963"/>
                  <a:pt x="0" y="1728296"/>
                </a:cubicBezTo>
                <a:lnTo>
                  <a:pt x="0" y="50096"/>
                </a:lnTo>
                <a:cubicBezTo>
                  <a:pt x="0" y="22447"/>
                  <a:pt x="22447" y="0"/>
                  <a:pt x="50096" y="0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32838" y="6261941"/>
            <a:ext cx="250478" cy="250478"/>
          </a:xfrm>
          <a:custGeom>
            <a:avLst/>
            <a:gdLst/>
            <a:ahLst/>
            <a:cxnLst/>
            <a:rect l="l" t="t" r="r" b="b"/>
            <a:pathLst>
              <a:path w="250478" h="250478">
                <a:moveTo>
                  <a:pt x="250478" y="125239"/>
                </a:moveTo>
                <a:cubicBezTo>
                  <a:pt x="250478" y="125679"/>
                  <a:pt x="250478" y="126119"/>
                  <a:pt x="250478" y="126560"/>
                </a:cubicBezTo>
                <a:cubicBezTo>
                  <a:pt x="250282" y="144416"/>
                  <a:pt x="234040" y="156549"/>
                  <a:pt x="216184" y="156549"/>
                </a:cubicBezTo>
                <a:lnTo>
                  <a:pt x="168290" y="156549"/>
                </a:lnTo>
                <a:cubicBezTo>
                  <a:pt x="155326" y="156549"/>
                  <a:pt x="144807" y="167067"/>
                  <a:pt x="144807" y="180031"/>
                </a:cubicBezTo>
                <a:cubicBezTo>
                  <a:pt x="144807" y="181694"/>
                  <a:pt x="145003" y="183309"/>
                  <a:pt x="145297" y="184874"/>
                </a:cubicBezTo>
                <a:cubicBezTo>
                  <a:pt x="146324" y="189864"/>
                  <a:pt x="148477" y="194658"/>
                  <a:pt x="150580" y="199502"/>
                </a:cubicBezTo>
                <a:cubicBezTo>
                  <a:pt x="153564" y="206253"/>
                  <a:pt x="156500" y="212955"/>
                  <a:pt x="156500" y="220049"/>
                </a:cubicBezTo>
                <a:cubicBezTo>
                  <a:pt x="156500" y="235606"/>
                  <a:pt x="145933" y="249744"/>
                  <a:pt x="130376" y="250380"/>
                </a:cubicBezTo>
                <a:cubicBezTo>
                  <a:pt x="128663" y="250429"/>
                  <a:pt x="126951" y="250478"/>
                  <a:pt x="125190" y="250478"/>
                </a:cubicBezTo>
                <a:cubicBezTo>
                  <a:pt x="56015" y="250478"/>
                  <a:pt x="-49" y="194414"/>
                  <a:pt x="-49" y="125239"/>
                </a:cubicBezTo>
                <a:cubicBezTo>
                  <a:pt x="-49" y="56064"/>
                  <a:pt x="56064" y="0"/>
                  <a:pt x="125239" y="0"/>
                </a:cubicBezTo>
                <a:cubicBezTo>
                  <a:pt x="194414" y="0"/>
                  <a:pt x="250478" y="56064"/>
                  <a:pt x="250478" y="125239"/>
                </a:cubicBezTo>
                <a:close/>
                <a:moveTo>
                  <a:pt x="62619" y="140894"/>
                </a:moveTo>
                <a:cubicBezTo>
                  <a:pt x="62619" y="132254"/>
                  <a:pt x="55605" y="125239"/>
                  <a:pt x="46965" y="125239"/>
                </a:cubicBezTo>
                <a:cubicBezTo>
                  <a:pt x="38324" y="125239"/>
                  <a:pt x="31310" y="132254"/>
                  <a:pt x="31310" y="140894"/>
                </a:cubicBezTo>
                <a:cubicBezTo>
                  <a:pt x="31310" y="149534"/>
                  <a:pt x="38324" y="156549"/>
                  <a:pt x="46965" y="156549"/>
                </a:cubicBezTo>
                <a:cubicBezTo>
                  <a:pt x="55605" y="156549"/>
                  <a:pt x="62619" y="149534"/>
                  <a:pt x="62619" y="140894"/>
                </a:cubicBezTo>
                <a:close/>
                <a:moveTo>
                  <a:pt x="62619" y="93929"/>
                </a:moveTo>
                <a:cubicBezTo>
                  <a:pt x="71260" y="93929"/>
                  <a:pt x="78274" y="86914"/>
                  <a:pt x="78274" y="78274"/>
                </a:cubicBezTo>
                <a:cubicBezTo>
                  <a:pt x="78274" y="69634"/>
                  <a:pt x="71260" y="62619"/>
                  <a:pt x="62619" y="62619"/>
                </a:cubicBezTo>
                <a:cubicBezTo>
                  <a:pt x="53979" y="62619"/>
                  <a:pt x="46965" y="69634"/>
                  <a:pt x="46965" y="78274"/>
                </a:cubicBezTo>
                <a:cubicBezTo>
                  <a:pt x="46965" y="86914"/>
                  <a:pt x="53979" y="93929"/>
                  <a:pt x="62619" y="93929"/>
                </a:cubicBezTo>
                <a:close/>
                <a:moveTo>
                  <a:pt x="140894" y="46965"/>
                </a:moveTo>
                <a:cubicBezTo>
                  <a:pt x="140894" y="38324"/>
                  <a:pt x="133879" y="31310"/>
                  <a:pt x="125239" y="31310"/>
                </a:cubicBezTo>
                <a:cubicBezTo>
                  <a:pt x="116599" y="31310"/>
                  <a:pt x="109584" y="38324"/>
                  <a:pt x="109584" y="46965"/>
                </a:cubicBezTo>
                <a:cubicBezTo>
                  <a:pt x="109584" y="55605"/>
                  <a:pt x="116599" y="62619"/>
                  <a:pt x="125239" y="62619"/>
                </a:cubicBezTo>
                <a:cubicBezTo>
                  <a:pt x="133879" y="62619"/>
                  <a:pt x="140894" y="55605"/>
                  <a:pt x="140894" y="46965"/>
                </a:cubicBezTo>
                <a:close/>
                <a:moveTo>
                  <a:pt x="187858" y="93929"/>
                </a:moveTo>
                <a:cubicBezTo>
                  <a:pt x="196498" y="93929"/>
                  <a:pt x="203513" y="86914"/>
                  <a:pt x="203513" y="78274"/>
                </a:cubicBezTo>
                <a:cubicBezTo>
                  <a:pt x="203513" y="69634"/>
                  <a:pt x="196498" y="62619"/>
                  <a:pt x="187858" y="62619"/>
                </a:cubicBezTo>
                <a:cubicBezTo>
                  <a:pt x="179218" y="62619"/>
                  <a:pt x="172203" y="69634"/>
                  <a:pt x="172203" y="78274"/>
                </a:cubicBezTo>
                <a:cubicBezTo>
                  <a:pt x="172203" y="86914"/>
                  <a:pt x="179218" y="93929"/>
                  <a:pt x="187858" y="93929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233602" y="6236894"/>
            <a:ext cx="14515180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2" b="1" dirty="0">
                <a:solidFill>
                  <a:srgbClr val="1F49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&amp; UX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459182" y="6900659"/>
            <a:ext cx="281787" cy="375716"/>
          </a:xfrm>
          <a:custGeom>
            <a:avLst/>
            <a:gdLst/>
            <a:ahLst/>
            <a:cxnLst/>
            <a:rect l="l" t="t" r="r" b="b"/>
            <a:pathLst>
              <a:path w="281787" h="375716">
                <a:moveTo>
                  <a:pt x="11741" y="46965"/>
                </a:moveTo>
                <a:cubicBezTo>
                  <a:pt x="11741" y="21061"/>
                  <a:pt x="32802" y="0"/>
                  <a:pt x="58706" y="0"/>
                </a:cubicBezTo>
                <a:lnTo>
                  <a:pt x="223082" y="0"/>
                </a:lnTo>
                <a:cubicBezTo>
                  <a:pt x="248986" y="0"/>
                  <a:pt x="270046" y="21061"/>
                  <a:pt x="270046" y="46965"/>
                </a:cubicBezTo>
                <a:lnTo>
                  <a:pt x="270046" y="328752"/>
                </a:lnTo>
                <a:cubicBezTo>
                  <a:pt x="270046" y="354656"/>
                  <a:pt x="248986" y="375716"/>
                  <a:pt x="223082" y="375716"/>
                </a:cubicBezTo>
                <a:lnTo>
                  <a:pt x="58706" y="375716"/>
                </a:lnTo>
                <a:cubicBezTo>
                  <a:pt x="32802" y="375716"/>
                  <a:pt x="11741" y="354656"/>
                  <a:pt x="11741" y="328752"/>
                </a:cubicBezTo>
                <a:lnTo>
                  <a:pt x="11741" y="46965"/>
                </a:lnTo>
                <a:close/>
                <a:moveTo>
                  <a:pt x="58706" y="46965"/>
                </a:moveTo>
                <a:lnTo>
                  <a:pt x="58706" y="270046"/>
                </a:lnTo>
                <a:lnTo>
                  <a:pt x="223082" y="270046"/>
                </a:lnTo>
                <a:lnTo>
                  <a:pt x="223082" y="46965"/>
                </a:lnTo>
                <a:lnTo>
                  <a:pt x="58706" y="46965"/>
                </a:lnTo>
                <a:close/>
                <a:moveTo>
                  <a:pt x="140894" y="346364"/>
                </a:moveTo>
                <a:cubicBezTo>
                  <a:pt x="153882" y="346364"/>
                  <a:pt x="164376" y="335870"/>
                  <a:pt x="164376" y="322881"/>
                </a:cubicBezTo>
                <a:cubicBezTo>
                  <a:pt x="164376" y="309893"/>
                  <a:pt x="153882" y="299399"/>
                  <a:pt x="140894" y="299399"/>
                </a:cubicBezTo>
                <a:cubicBezTo>
                  <a:pt x="127905" y="299399"/>
                  <a:pt x="117411" y="309893"/>
                  <a:pt x="117411" y="322881"/>
                </a:cubicBezTo>
                <a:cubicBezTo>
                  <a:pt x="117411" y="335870"/>
                  <a:pt x="127905" y="346364"/>
                  <a:pt x="140894" y="346364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51433" y="7489282"/>
            <a:ext cx="3619402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78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41399" y="6900659"/>
            <a:ext cx="328752" cy="375716"/>
          </a:xfrm>
          <a:custGeom>
            <a:avLst/>
            <a:gdLst/>
            <a:ahLst/>
            <a:cxnLst/>
            <a:rect l="l" t="t" r="r" b="b"/>
            <a:pathLst>
              <a:path w="328752" h="375716">
                <a:moveTo>
                  <a:pt x="248619" y="-7265"/>
                </a:moveTo>
                <a:cubicBezTo>
                  <a:pt x="257351" y="-954"/>
                  <a:pt x="260580" y="10494"/>
                  <a:pt x="256617" y="20474"/>
                </a:cubicBezTo>
                <a:lnTo>
                  <a:pt x="199086" y="164376"/>
                </a:lnTo>
                <a:lnTo>
                  <a:pt x="305270" y="164376"/>
                </a:lnTo>
                <a:cubicBezTo>
                  <a:pt x="315176" y="164376"/>
                  <a:pt x="323982" y="170540"/>
                  <a:pt x="327358" y="179860"/>
                </a:cubicBezTo>
                <a:cubicBezTo>
                  <a:pt x="330733" y="189179"/>
                  <a:pt x="327871" y="199599"/>
                  <a:pt x="320313" y="205910"/>
                </a:cubicBezTo>
                <a:lnTo>
                  <a:pt x="108972" y="382027"/>
                </a:lnTo>
                <a:cubicBezTo>
                  <a:pt x="100680" y="388925"/>
                  <a:pt x="88866" y="389292"/>
                  <a:pt x="80133" y="382981"/>
                </a:cubicBezTo>
                <a:cubicBezTo>
                  <a:pt x="71401" y="376670"/>
                  <a:pt x="68172" y="365223"/>
                  <a:pt x="72135" y="355243"/>
                </a:cubicBezTo>
                <a:lnTo>
                  <a:pt x="129666" y="211341"/>
                </a:lnTo>
                <a:lnTo>
                  <a:pt x="23482" y="211341"/>
                </a:lnTo>
                <a:cubicBezTo>
                  <a:pt x="13576" y="211341"/>
                  <a:pt x="4770" y="205176"/>
                  <a:pt x="1394" y="195857"/>
                </a:cubicBezTo>
                <a:cubicBezTo>
                  <a:pt x="-1981" y="186537"/>
                  <a:pt x="881" y="176117"/>
                  <a:pt x="8439" y="169806"/>
                </a:cubicBezTo>
                <a:lnTo>
                  <a:pt x="219779" y="-6311"/>
                </a:lnTo>
                <a:cubicBezTo>
                  <a:pt x="228072" y="-13209"/>
                  <a:pt x="239886" y="-13576"/>
                  <a:pt x="248619" y="-7265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496074" y="7489282"/>
            <a:ext cx="3619402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78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Chargement Rapide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12462" y="6957017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0" y="187858"/>
                </a:moveTo>
                <a:cubicBezTo>
                  <a:pt x="0" y="84176"/>
                  <a:pt x="84176" y="0"/>
                  <a:pt x="187858" y="0"/>
                </a:cubicBezTo>
                <a:cubicBezTo>
                  <a:pt x="291540" y="0"/>
                  <a:pt x="375716" y="84176"/>
                  <a:pt x="375716" y="187858"/>
                </a:cubicBezTo>
                <a:cubicBezTo>
                  <a:pt x="375716" y="291540"/>
                  <a:pt x="291540" y="375716"/>
                  <a:pt x="187858" y="375716"/>
                </a:cubicBezTo>
                <a:cubicBezTo>
                  <a:pt x="84176" y="375716"/>
                  <a:pt x="0" y="291540"/>
                  <a:pt x="0" y="187858"/>
                </a:cubicBezTo>
                <a:close/>
                <a:moveTo>
                  <a:pt x="118512" y="124676"/>
                </a:moveTo>
                <a:cubicBezTo>
                  <a:pt x="109560" y="120860"/>
                  <a:pt x="99213" y="124970"/>
                  <a:pt x="95397" y="133922"/>
                </a:cubicBezTo>
                <a:cubicBezTo>
                  <a:pt x="91581" y="142875"/>
                  <a:pt x="95690" y="153222"/>
                  <a:pt x="104643" y="157038"/>
                </a:cubicBezTo>
                <a:lnTo>
                  <a:pt x="113375" y="160780"/>
                </a:lnTo>
                <a:cubicBezTo>
                  <a:pt x="126070" y="166211"/>
                  <a:pt x="139206" y="170247"/>
                  <a:pt x="152708" y="172742"/>
                </a:cubicBezTo>
                <a:lnTo>
                  <a:pt x="152708" y="209506"/>
                </a:lnTo>
                <a:cubicBezTo>
                  <a:pt x="152708" y="212661"/>
                  <a:pt x="152195" y="215817"/>
                  <a:pt x="151167" y="218752"/>
                </a:cubicBezTo>
                <a:lnTo>
                  <a:pt x="130107" y="281934"/>
                </a:lnTo>
                <a:cubicBezTo>
                  <a:pt x="127024" y="291180"/>
                  <a:pt x="132014" y="301160"/>
                  <a:pt x="141261" y="304242"/>
                </a:cubicBezTo>
                <a:cubicBezTo>
                  <a:pt x="150507" y="307324"/>
                  <a:pt x="160487" y="302334"/>
                  <a:pt x="163569" y="293088"/>
                </a:cubicBezTo>
                <a:lnTo>
                  <a:pt x="181474" y="239372"/>
                </a:lnTo>
                <a:cubicBezTo>
                  <a:pt x="182428" y="236584"/>
                  <a:pt x="184996" y="234676"/>
                  <a:pt x="187932" y="234676"/>
                </a:cubicBezTo>
                <a:cubicBezTo>
                  <a:pt x="190867" y="234676"/>
                  <a:pt x="193509" y="236584"/>
                  <a:pt x="194389" y="239372"/>
                </a:cubicBezTo>
                <a:lnTo>
                  <a:pt x="212294" y="293088"/>
                </a:lnTo>
                <a:cubicBezTo>
                  <a:pt x="215377" y="302334"/>
                  <a:pt x="225357" y="307324"/>
                  <a:pt x="234603" y="304242"/>
                </a:cubicBezTo>
                <a:cubicBezTo>
                  <a:pt x="243849" y="301160"/>
                  <a:pt x="248765" y="291327"/>
                  <a:pt x="245683" y="282081"/>
                </a:cubicBezTo>
                <a:lnTo>
                  <a:pt x="224623" y="218899"/>
                </a:lnTo>
                <a:cubicBezTo>
                  <a:pt x="223595" y="215890"/>
                  <a:pt x="223082" y="212808"/>
                  <a:pt x="223082" y="209653"/>
                </a:cubicBezTo>
                <a:lnTo>
                  <a:pt x="223082" y="172888"/>
                </a:lnTo>
                <a:cubicBezTo>
                  <a:pt x="236584" y="170320"/>
                  <a:pt x="249719" y="166357"/>
                  <a:pt x="262414" y="160927"/>
                </a:cubicBezTo>
                <a:lnTo>
                  <a:pt x="271147" y="157185"/>
                </a:lnTo>
                <a:cubicBezTo>
                  <a:pt x="280100" y="153369"/>
                  <a:pt x="284209" y="143022"/>
                  <a:pt x="280393" y="134069"/>
                </a:cubicBezTo>
                <a:cubicBezTo>
                  <a:pt x="276577" y="125117"/>
                  <a:pt x="266230" y="121007"/>
                  <a:pt x="257278" y="124823"/>
                </a:cubicBezTo>
                <a:lnTo>
                  <a:pt x="248545" y="128419"/>
                </a:lnTo>
                <a:cubicBezTo>
                  <a:pt x="229393" y="136638"/>
                  <a:pt x="208772" y="140894"/>
                  <a:pt x="187858" y="140894"/>
                </a:cubicBezTo>
                <a:cubicBezTo>
                  <a:pt x="166944" y="140894"/>
                  <a:pt x="146397" y="136638"/>
                  <a:pt x="127171" y="128419"/>
                </a:cubicBezTo>
                <a:lnTo>
                  <a:pt x="118439" y="124676"/>
                </a:lnTo>
                <a:close/>
                <a:moveTo>
                  <a:pt x="187858" y="117411"/>
                </a:moveTo>
                <a:cubicBezTo>
                  <a:pt x="204059" y="117411"/>
                  <a:pt x="217211" y="104259"/>
                  <a:pt x="217211" y="88059"/>
                </a:cubicBezTo>
                <a:cubicBezTo>
                  <a:pt x="217211" y="71858"/>
                  <a:pt x="204059" y="58706"/>
                  <a:pt x="187858" y="58706"/>
                </a:cubicBezTo>
                <a:cubicBezTo>
                  <a:pt x="171658" y="58706"/>
                  <a:pt x="158505" y="71858"/>
                  <a:pt x="158505" y="88059"/>
                </a:cubicBezTo>
                <a:cubicBezTo>
                  <a:pt x="158505" y="104259"/>
                  <a:pt x="171658" y="117411"/>
                  <a:pt x="187858" y="117411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190619" y="7489282"/>
            <a:ext cx="3619402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78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Accessible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532838" y="6957017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23482" y="23482"/>
                </a:moveTo>
                <a:cubicBezTo>
                  <a:pt x="36471" y="23482"/>
                  <a:pt x="46965" y="33976"/>
                  <a:pt x="46965" y="46965"/>
                </a:cubicBezTo>
                <a:lnTo>
                  <a:pt x="46965" y="293529"/>
                </a:lnTo>
                <a:cubicBezTo>
                  <a:pt x="46965" y="299986"/>
                  <a:pt x="52248" y="305270"/>
                  <a:pt x="58706" y="305270"/>
                </a:cubicBezTo>
                <a:lnTo>
                  <a:pt x="352234" y="305270"/>
                </a:lnTo>
                <a:cubicBezTo>
                  <a:pt x="365223" y="305270"/>
                  <a:pt x="375716" y="315763"/>
                  <a:pt x="375716" y="328752"/>
                </a:cubicBezTo>
                <a:cubicBezTo>
                  <a:pt x="375716" y="341741"/>
                  <a:pt x="365223" y="352234"/>
                  <a:pt x="352234" y="352234"/>
                </a:cubicBezTo>
                <a:lnTo>
                  <a:pt x="58706" y="352234"/>
                </a:lnTo>
                <a:cubicBezTo>
                  <a:pt x="26271" y="352234"/>
                  <a:pt x="0" y="325963"/>
                  <a:pt x="0" y="293529"/>
                </a:cubicBezTo>
                <a:lnTo>
                  <a:pt x="0" y="46965"/>
                </a:lnTo>
                <a:cubicBezTo>
                  <a:pt x="0" y="33976"/>
                  <a:pt x="10494" y="23482"/>
                  <a:pt x="23482" y="23482"/>
                </a:cubicBezTo>
                <a:close/>
                <a:moveTo>
                  <a:pt x="93929" y="70447"/>
                </a:moveTo>
                <a:cubicBezTo>
                  <a:pt x="93929" y="57458"/>
                  <a:pt x="104423" y="46965"/>
                  <a:pt x="117411" y="46965"/>
                </a:cubicBezTo>
                <a:lnTo>
                  <a:pt x="258305" y="46965"/>
                </a:lnTo>
                <a:cubicBezTo>
                  <a:pt x="271294" y="46965"/>
                  <a:pt x="281787" y="57458"/>
                  <a:pt x="281787" y="70447"/>
                </a:cubicBezTo>
                <a:cubicBezTo>
                  <a:pt x="281787" y="83435"/>
                  <a:pt x="271294" y="93929"/>
                  <a:pt x="258305" y="93929"/>
                </a:cubicBezTo>
                <a:lnTo>
                  <a:pt x="117411" y="93929"/>
                </a:lnTo>
                <a:cubicBezTo>
                  <a:pt x="104423" y="93929"/>
                  <a:pt x="93929" y="83435"/>
                  <a:pt x="93929" y="70447"/>
                </a:cubicBezTo>
                <a:close/>
                <a:moveTo>
                  <a:pt x="117411" y="129153"/>
                </a:moveTo>
                <a:lnTo>
                  <a:pt x="211341" y="129153"/>
                </a:lnTo>
                <a:cubicBezTo>
                  <a:pt x="224329" y="129153"/>
                  <a:pt x="234823" y="139646"/>
                  <a:pt x="234823" y="152635"/>
                </a:cubicBezTo>
                <a:cubicBezTo>
                  <a:pt x="234823" y="165623"/>
                  <a:pt x="224329" y="176117"/>
                  <a:pt x="211341" y="176117"/>
                </a:cubicBezTo>
                <a:lnTo>
                  <a:pt x="117411" y="176117"/>
                </a:lnTo>
                <a:cubicBezTo>
                  <a:pt x="104423" y="176117"/>
                  <a:pt x="93929" y="165623"/>
                  <a:pt x="93929" y="152635"/>
                </a:cubicBezTo>
                <a:cubicBezTo>
                  <a:pt x="93929" y="139646"/>
                  <a:pt x="104423" y="129153"/>
                  <a:pt x="117411" y="129153"/>
                </a:cubicBezTo>
                <a:close/>
                <a:moveTo>
                  <a:pt x="117411" y="211341"/>
                </a:moveTo>
                <a:lnTo>
                  <a:pt x="305270" y="211341"/>
                </a:lnTo>
                <a:cubicBezTo>
                  <a:pt x="318258" y="211341"/>
                  <a:pt x="328752" y="221834"/>
                  <a:pt x="328752" y="234823"/>
                </a:cubicBezTo>
                <a:cubicBezTo>
                  <a:pt x="328752" y="247811"/>
                  <a:pt x="318258" y="258305"/>
                  <a:pt x="305270" y="258305"/>
                </a:cubicBezTo>
                <a:lnTo>
                  <a:pt x="117411" y="258305"/>
                </a:lnTo>
                <a:cubicBezTo>
                  <a:pt x="104423" y="258305"/>
                  <a:pt x="93929" y="247811"/>
                  <a:pt x="93929" y="234823"/>
                </a:cubicBezTo>
                <a:cubicBezTo>
                  <a:pt x="93929" y="221834"/>
                  <a:pt x="104423" y="211341"/>
                  <a:pt x="117411" y="211341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1985356" y="7489282"/>
            <a:ext cx="3619402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78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Visuel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0955" y="8140524"/>
            <a:ext cx="7526854" cy="701337"/>
          </a:xfrm>
          <a:custGeom>
            <a:avLst/>
            <a:gdLst/>
            <a:ahLst/>
            <a:cxnLst/>
            <a:rect l="l" t="t" r="r" b="b"/>
            <a:pathLst>
              <a:path w="7526854" h="701337">
                <a:moveTo>
                  <a:pt x="100193" y="0"/>
                </a:moveTo>
                <a:lnTo>
                  <a:pt x="7426661" y="0"/>
                </a:lnTo>
                <a:cubicBezTo>
                  <a:pt x="7481996" y="0"/>
                  <a:pt x="7526854" y="44858"/>
                  <a:pt x="7526854" y="100193"/>
                </a:cubicBezTo>
                <a:lnTo>
                  <a:pt x="7526854" y="601144"/>
                </a:lnTo>
                <a:cubicBezTo>
                  <a:pt x="7526854" y="656479"/>
                  <a:pt x="7481996" y="701337"/>
                  <a:pt x="7426661" y="701337"/>
                </a:cubicBezTo>
                <a:lnTo>
                  <a:pt x="100193" y="701337"/>
                </a:lnTo>
                <a:cubicBezTo>
                  <a:pt x="44858" y="701337"/>
                  <a:pt x="0" y="656479"/>
                  <a:pt x="0" y="601144"/>
                </a:cubicBezTo>
                <a:lnTo>
                  <a:pt x="0" y="100193"/>
                </a:lnTo>
                <a:cubicBezTo>
                  <a:pt x="0" y="44895"/>
                  <a:pt x="44895" y="0"/>
                  <a:pt x="100193" y="0"/>
                </a:cubicBezTo>
                <a:close/>
              </a:path>
            </a:pathLst>
          </a:custGeom>
          <a:solidFill>
            <a:srgbClr val="1F497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51433" y="8340906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150287" y="300573"/>
                </a:moveTo>
                <a:cubicBezTo>
                  <a:pt x="233232" y="300573"/>
                  <a:pt x="300573" y="233232"/>
                  <a:pt x="300573" y="150287"/>
                </a:cubicBezTo>
                <a:cubicBezTo>
                  <a:pt x="300573" y="67341"/>
                  <a:pt x="233232" y="0"/>
                  <a:pt x="150287" y="0"/>
                </a:cubicBezTo>
                <a:cubicBezTo>
                  <a:pt x="67341" y="0"/>
                  <a:pt x="0" y="67341"/>
                  <a:pt x="0" y="150287"/>
                </a:cubicBezTo>
                <a:cubicBezTo>
                  <a:pt x="0" y="233232"/>
                  <a:pt x="67341" y="300573"/>
                  <a:pt x="150287" y="300573"/>
                </a:cubicBezTo>
                <a:close/>
                <a:moveTo>
                  <a:pt x="199834" y="124867"/>
                </a:moveTo>
                <a:lnTo>
                  <a:pt x="152870" y="200010"/>
                </a:lnTo>
                <a:cubicBezTo>
                  <a:pt x="150404" y="203944"/>
                  <a:pt x="146177" y="206409"/>
                  <a:pt x="141539" y="206644"/>
                </a:cubicBezTo>
                <a:cubicBezTo>
                  <a:pt x="136902" y="206879"/>
                  <a:pt x="132440" y="204765"/>
                  <a:pt x="129681" y="201008"/>
                </a:cubicBezTo>
                <a:lnTo>
                  <a:pt x="101502" y="163437"/>
                </a:lnTo>
                <a:cubicBezTo>
                  <a:pt x="96806" y="157214"/>
                  <a:pt x="98097" y="148408"/>
                  <a:pt x="104320" y="143712"/>
                </a:cubicBezTo>
                <a:cubicBezTo>
                  <a:pt x="110543" y="139015"/>
                  <a:pt x="119349" y="140307"/>
                  <a:pt x="124045" y="146529"/>
                </a:cubicBezTo>
                <a:lnTo>
                  <a:pt x="139896" y="167663"/>
                </a:lnTo>
                <a:lnTo>
                  <a:pt x="175941" y="109956"/>
                </a:lnTo>
                <a:cubicBezTo>
                  <a:pt x="180050" y="103381"/>
                  <a:pt x="188739" y="101326"/>
                  <a:pt x="195373" y="105494"/>
                </a:cubicBezTo>
                <a:cubicBezTo>
                  <a:pt x="202006" y="109662"/>
                  <a:pt x="204002" y="118292"/>
                  <a:pt x="199834" y="124926"/>
                </a:cubicBezTo>
                <a:close/>
              </a:path>
            </a:pathLst>
          </a:custGeom>
          <a:solidFill>
            <a:srgbClr val="1F49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294069" y="8340906"/>
            <a:ext cx="5798558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78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Technologie:</a:t>
            </a:r>
            <a:r>
              <a:rPr lang="en-US" sz="1578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+ TypeScript pour robustesse et maintenabilité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90619" y="8140524"/>
            <a:ext cx="7526854" cy="701337"/>
          </a:xfrm>
          <a:custGeom>
            <a:avLst/>
            <a:gdLst/>
            <a:ahLst/>
            <a:cxnLst/>
            <a:rect l="l" t="t" r="r" b="b"/>
            <a:pathLst>
              <a:path w="7526854" h="701337">
                <a:moveTo>
                  <a:pt x="100193" y="0"/>
                </a:moveTo>
                <a:lnTo>
                  <a:pt x="7426661" y="0"/>
                </a:lnTo>
                <a:cubicBezTo>
                  <a:pt x="7481996" y="0"/>
                  <a:pt x="7526854" y="44858"/>
                  <a:pt x="7526854" y="100193"/>
                </a:cubicBezTo>
                <a:lnTo>
                  <a:pt x="7526854" y="601144"/>
                </a:lnTo>
                <a:cubicBezTo>
                  <a:pt x="7526854" y="656479"/>
                  <a:pt x="7481996" y="701337"/>
                  <a:pt x="7426661" y="701337"/>
                </a:cubicBezTo>
                <a:lnTo>
                  <a:pt x="100193" y="701337"/>
                </a:lnTo>
                <a:cubicBezTo>
                  <a:pt x="44858" y="701337"/>
                  <a:pt x="0" y="656479"/>
                  <a:pt x="0" y="601144"/>
                </a:cubicBezTo>
                <a:lnTo>
                  <a:pt x="0" y="100193"/>
                </a:lnTo>
                <a:cubicBezTo>
                  <a:pt x="0" y="44895"/>
                  <a:pt x="44895" y="0"/>
                  <a:pt x="100193" y="0"/>
                </a:cubicBezTo>
                <a:close/>
              </a:path>
            </a:pathLst>
          </a:custGeom>
          <a:solidFill>
            <a:srgbClr val="C0504D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8464579" y="8340906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150287" y="300573"/>
                </a:moveTo>
                <a:cubicBezTo>
                  <a:pt x="233232" y="300573"/>
                  <a:pt x="300573" y="233232"/>
                  <a:pt x="300573" y="150287"/>
                </a:cubicBezTo>
                <a:cubicBezTo>
                  <a:pt x="300573" y="67341"/>
                  <a:pt x="233232" y="0"/>
                  <a:pt x="150287" y="0"/>
                </a:cubicBezTo>
                <a:cubicBezTo>
                  <a:pt x="67341" y="0"/>
                  <a:pt x="0" y="67341"/>
                  <a:pt x="0" y="150287"/>
                </a:cubicBezTo>
                <a:cubicBezTo>
                  <a:pt x="0" y="233232"/>
                  <a:pt x="67341" y="300573"/>
                  <a:pt x="150287" y="300573"/>
                </a:cubicBezTo>
                <a:close/>
                <a:moveTo>
                  <a:pt x="199834" y="124867"/>
                </a:moveTo>
                <a:lnTo>
                  <a:pt x="152870" y="200010"/>
                </a:lnTo>
                <a:cubicBezTo>
                  <a:pt x="150404" y="203944"/>
                  <a:pt x="146177" y="206409"/>
                  <a:pt x="141539" y="206644"/>
                </a:cubicBezTo>
                <a:cubicBezTo>
                  <a:pt x="136902" y="206879"/>
                  <a:pt x="132440" y="204765"/>
                  <a:pt x="129681" y="201008"/>
                </a:cubicBezTo>
                <a:lnTo>
                  <a:pt x="101502" y="163437"/>
                </a:lnTo>
                <a:cubicBezTo>
                  <a:pt x="96806" y="157214"/>
                  <a:pt x="98097" y="148408"/>
                  <a:pt x="104320" y="143712"/>
                </a:cubicBezTo>
                <a:cubicBezTo>
                  <a:pt x="110543" y="139015"/>
                  <a:pt x="119349" y="140307"/>
                  <a:pt x="124045" y="146529"/>
                </a:cubicBezTo>
                <a:lnTo>
                  <a:pt x="139896" y="167663"/>
                </a:lnTo>
                <a:lnTo>
                  <a:pt x="175941" y="109956"/>
                </a:lnTo>
                <a:cubicBezTo>
                  <a:pt x="180050" y="103381"/>
                  <a:pt x="188739" y="101326"/>
                  <a:pt x="195373" y="105494"/>
                </a:cubicBezTo>
                <a:cubicBezTo>
                  <a:pt x="202006" y="109662"/>
                  <a:pt x="204002" y="118292"/>
                  <a:pt x="199834" y="124926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978486" y="8340906"/>
            <a:ext cx="5385270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78" b="1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System:</a:t>
            </a:r>
            <a:r>
              <a:rPr lang="en-US" sz="1578" dirty="0">
                <a:solidFill>
                  <a:srgbClr val="2E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shadcn/ui + Tailwind pour cohérence visuelle</a:t>
            </a:r>
            <a:endParaRPr lang="en-US" sz="1600" dirty="0"/>
          </a:p>
        </p:txBody>
      </p:sp>
      <p:pic>
        <p:nvPicPr>
          <p:cNvPr id="35" name="Image 0" descr="https://kimi-img.moonshot.cn/pub/slides/25-12-30-19:20:49-d59rb49e3tpj8e5d5b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31" y="2661325"/>
            <a:ext cx="5115996" cy="3130971"/>
          </a:xfrm>
          <a:prstGeom prst="rect">
            <a:avLst/>
          </a:prstGeom>
        </p:spPr>
      </p:pic>
      <p:pic>
        <p:nvPicPr>
          <p:cNvPr id="36" name="Image 1" descr="https://kimi-img.moonshot.cn/pub/slides/25-12-30-19:24:13-d59rcnb3kdlkj216cad0.png"/>
          <p:cNvPicPr>
            <a:picLocks noChangeAspect="1"/>
          </p:cNvPicPr>
          <p:nvPr/>
        </p:nvPicPr>
        <p:blipFill>
          <a:blip r:embed="rId4"/>
          <a:srcRect l="29839" t="15323" r="29839" b="4032"/>
          <a:stretch/>
        </p:blipFill>
        <p:spPr>
          <a:xfrm>
            <a:off x="6527352" y="2454681"/>
            <a:ext cx="3285110" cy="3936362"/>
          </a:xfrm>
          <a:prstGeom prst="rect">
            <a:avLst/>
          </a:prstGeom>
        </p:spPr>
      </p:pic>
      <p:pic>
        <p:nvPicPr>
          <p:cNvPr id="37" name="Image 2" descr="https://kimi-img.moonshot.cn/pub/slides/25-12-30-19:27:05-d59re2bua3daivo5mq9g.png"/>
          <p:cNvPicPr>
            <a:picLocks noChangeAspect="1"/>
          </p:cNvPicPr>
          <p:nvPr/>
        </p:nvPicPr>
        <p:blipFill>
          <a:blip r:embed="rId5"/>
          <a:srcRect l="22581" t="11504" r="23656"/>
          <a:stretch/>
        </p:blipFill>
        <p:spPr>
          <a:xfrm>
            <a:off x="11464725" y="2525390"/>
            <a:ext cx="3789575" cy="373655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jamesedition.com/8b2f81ffa410a8df081cdd23cdd9b93491a3bb7b.jpg"/>
          <p:cNvPicPr>
            <a:picLocks noChangeAspect="1"/>
          </p:cNvPicPr>
          <p:nvPr/>
        </p:nvPicPr>
        <p:blipFill>
          <a:blip r:embed="rId3"/>
          <a:srcRect t="12500" b="125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497D">
                  <a:alpha val="95000"/>
                </a:srgbClr>
              </a:gs>
              <a:gs pos="50000">
                <a:srgbClr val="1F497D">
                  <a:alpha val="90000"/>
                </a:srgbClr>
              </a:gs>
              <a:gs pos="100000">
                <a:srgbClr val="1F497D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1320800" y="349250"/>
            <a:ext cx="2463800" cy="660400"/>
          </a:xfrm>
          <a:custGeom>
            <a:avLst/>
            <a:gdLst/>
            <a:ahLst/>
            <a:cxnLst/>
            <a:rect l="l" t="t" r="r" b="b"/>
            <a:pathLst>
              <a:path w="2463800" h="660400">
                <a:moveTo>
                  <a:pt x="50798" y="0"/>
                </a:moveTo>
                <a:lnTo>
                  <a:pt x="2413002" y="0"/>
                </a:lnTo>
                <a:cubicBezTo>
                  <a:pt x="2441057" y="0"/>
                  <a:pt x="2463800" y="22743"/>
                  <a:pt x="2463800" y="50798"/>
                </a:cubicBezTo>
                <a:lnTo>
                  <a:pt x="2463800" y="609602"/>
                </a:lnTo>
                <a:cubicBezTo>
                  <a:pt x="2463800" y="637657"/>
                  <a:pt x="2441057" y="660400"/>
                  <a:pt x="24130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1320800" y="349250"/>
            <a:ext cx="2578100" cy="660400"/>
          </a:xfrm>
          <a:prstGeom prst="rect">
            <a:avLst/>
          </a:prstGeom>
          <a:noFill/>
          <a:ln/>
        </p:spPr>
        <p:txBody>
          <a:bodyPr wrap="square" lIns="406400" tIns="152400" rIns="406400" bIns="15240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20800" y="1212850"/>
            <a:ext cx="1391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 ImmoPredictTN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20800" y="2279650"/>
            <a:ext cx="1625600" cy="0"/>
          </a:xfrm>
          <a:custGeom>
            <a:avLst/>
            <a:gdLst/>
            <a:ahLst/>
            <a:cxnLst/>
            <a:rect l="l" t="t" r="r" b="b"/>
            <a:pathLst>
              <a:path w="1625600">
                <a:moveTo>
                  <a:pt x="0" y="0"/>
                </a:moveTo>
                <a:lnTo>
                  <a:pt x="1625600" y="0"/>
                </a:lnTo>
                <a:lnTo>
                  <a:pt x="16256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1320800" y="2584450"/>
            <a:ext cx="6654800" cy="2336800"/>
          </a:xfrm>
          <a:custGeom>
            <a:avLst/>
            <a:gdLst/>
            <a:ahLst/>
            <a:cxnLst/>
            <a:rect l="l" t="t" r="r" b="b"/>
            <a:pathLst>
              <a:path w="6654800" h="2336800">
                <a:moveTo>
                  <a:pt x="101604" y="0"/>
                </a:moveTo>
                <a:lnTo>
                  <a:pt x="6553196" y="0"/>
                </a:lnTo>
                <a:cubicBezTo>
                  <a:pt x="6609310" y="0"/>
                  <a:pt x="6654800" y="45490"/>
                  <a:pt x="6654800" y="101604"/>
                </a:cubicBezTo>
                <a:lnTo>
                  <a:pt x="6654800" y="2235196"/>
                </a:lnTo>
                <a:cubicBezTo>
                  <a:pt x="6654800" y="2291310"/>
                  <a:pt x="6609310" y="2336800"/>
                  <a:pt x="65531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625600" y="2851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203450" y="2838450"/>
            <a:ext cx="2501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Atteints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17650" y="3752850"/>
            <a:ext cx="626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2000" dirty="0">
                <a:solidFill>
                  <a:schemeClr val="bg2"/>
                </a:solidFill>
              </a:rPr>
              <a:t>Le système </a:t>
            </a:r>
            <a:r>
              <a:rPr lang="fr-FR" sz="2000" dirty="0" err="1">
                <a:solidFill>
                  <a:schemeClr val="bg2"/>
                </a:solidFill>
              </a:rPr>
              <a:t>ImmoPredictTN</a:t>
            </a:r>
            <a:r>
              <a:rPr lang="fr-FR" sz="2000" dirty="0">
                <a:solidFill>
                  <a:schemeClr val="bg2"/>
                </a:solidFill>
              </a:rPr>
              <a:t> fournit une prédiction fiable et automatisée des prix immobiliers en Tunisie, avec le modèle </a:t>
            </a:r>
            <a:r>
              <a:rPr lang="fr-FR" sz="2000" dirty="0" err="1">
                <a:solidFill>
                  <a:schemeClr val="bg2"/>
                </a:solidFill>
              </a:rPr>
              <a:t>XGBoost</a:t>
            </a:r>
            <a:r>
              <a:rPr lang="fr-FR" sz="2000" dirty="0">
                <a:solidFill>
                  <a:schemeClr val="bg2"/>
                </a:solidFill>
              </a:rPr>
              <a:t> offrant les meilleures performances.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80400" y="2584450"/>
            <a:ext cx="6654800" cy="2336800"/>
          </a:xfrm>
          <a:custGeom>
            <a:avLst/>
            <a:gdLst/>
            <a:ahLst/>
            <a:cxnLst/>
            <a:rect l="l" t="t" r="r" b="b"/>
            <a:pathLst>
              <a:path w="6654800" h="2336800">
                <a:moveTo>
                  <a:pt x="101604" y="0"/>
                </a:moveTo>
                <a:lnTo>
                  <a:pt x="6553196" y="0"/>
                </a:lnTo>
                <a:cubicBezTo>
                  <a:pt x="6609310" y="0"/>
                  <a:pt x="6654800" y="45490"/>
                  <a:pt x="6654800" y="101604"/>
                </a:cubicBezTo>
                <a:lnTo>
                  <a:pt x="6654800" y="2235196"/>
                </a:lnTo>
                <a:cubicBezTo>
                  <a:pt x="6654800" y="2291310"/>
                  <a:pt x="6609310" y="2336800"/>
                  <a:pt x="65531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8585200" y="2851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9163050" y="2838450"/>
            <a:ext cx="189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34400" y="3397250"/>
            <a:ext cx="626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☁️ AWS Cloud</a:t>
            </a: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Déploiement cloud natif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34400" y="3854450"/>
            <a:ext cx="626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⚡ Hyperparamètres</a:t>
            </a: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Optimisation AutoML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34400" y="4311650"/>
            <a:ext cx="626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🌍 Expansion Maghreb</a:t>
            </a: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Maroc, Algérie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320800" y="5226050"/>
            <a:ext cx="13614400" cy="1993900"/>
          </a:xfrm>
          <a:custGeom>
            <a:avLst/>
            <a:gdLst/>
            <a:ahLst/>
            <a:cxnLst/>
            <a:rect l="l" t="t" r="r" b="b"/>
            <a:pathLst>
              <a:path w="13614400" h="1993900">
                <a:moveTo>
                  <a:pt x="101609" y="0"/>
                </a:moveTo>
                <a:lnTo>
                  <a:pt x="13512791" y="0"/>
                </a:lnTo>
                <a:cubicBezTo>
                  <a:pt x="13568908" y="0"/>
                  <a:pt x="13614400" y="45492"/>
                  <a:pt x="13614400" y="101609"/>
                </a:cubicBezTo>
                <a:lnTo>
                  <a:pt x="13614400" y="1892291"/>
                </a:lnTo>
                <a:cubicBezTo>
                  <a:pt x="13614400" y="1948408"/>
                  <a:pt x="13568908" y="1993900"/>
                  <a:pt x="13512791" y="1993900"/>
                </a:cubicBezTo>
                <a:lnTo>
                  <a:pt x="101609" y="1993900"/>
                </a:lnTo>
                <a:cubicBezTo>
                  <a:pt x="45492" y="1993900"/>
                  <a:pt x="0" y="1948408"/>
                  <a:pt x="0" y="18922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1625600" y="5530850"/>
            <a:ext cx="131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Contribution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625600" y="6089650"/>
            <a:ext cx="13131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Premier système IA tunisien</a:t>
            </a:r>
            <a:r>
              <a:rPr lang="en-US" sz="20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prédiction immobilière accessible au public, combinant recherche académique et applications pratiques pour révolutionner le marché.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48895" y="7524750"/>
            <a:ext cx="5359400" cy="1270000"/>
          </a:xfrm>
          <a:custGeom>
            <a:avLst/>
            <a:gdLst/>
            <a:ahLst/>
            <a:cxnLst/>
            <a:rect l="l" t="t" r="r" b="b"/>
            <a:pathLst>
              <a:path w="5359400" h="1270000">
                <a:moveTo>
                  <a:pt x="101600" y="0"/>
                </a:moveTo>
                <a:lnTo>
                  <a:pt x="5257800" y="0"/>
                </a:lnTo>
                <a:cubicBezTo>
                  <a:pt x="5313875" y="0"/>
                  <a:pt x="5359400" y="45525"/>
                  <a:pt x="5359400" y="101600"/>
                </a:cubicBezTo>
                <a:lnTo>
                  <a:pt x="5359400" y="1168400"/>
                </a:lnTo>
                <a:cubicBezTo>
                  <a:pt x="5359400" y="1224475"/>
                  <a:pt x="5313875" y="1270000"/>
                  <a:pt x="5257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5861645" y="772795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 pour votre attention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93395" y="8235950"/>
            <a:ext cx="447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2493</Words>
  <Application>Microsoft Office PowerPoint</Application>
  <PresentationFormat>Personnalisé</PresentationFormat>
  <Paragraphs>533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8" baseType="lpstr">
      <vt:lpstr>Hedvig Letters Sans</vt:lpstr>
      <vt:lpstr>Quattrocento Sans</vt:lpstr>
      <vt:lpstr>Liter</vt:lpstr>
      <vt:lpstr>Arial</vt:lpstr>
      <vt:lpstr>微软雅黑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ImmoPredictTN - Système IA de Prédiction des Prix Immobiliers en Tunisie</dc:title>
  <dc:subject>ImmoPredictTN - Système IA de Prédiction des Prix Immobiliers en Tunisie</dc:subject>
  <dc:creator>Kimi</dc:creator>
  <cp:lastModifiedBy>Omar Ayesh</cp:lastModifiedBy>
  <cp:revision>4</cp:revision>
  <dcterms:created xsi:type="dcterms:W3CDTF">2025-12-30T12:46:22Z</dcterms:created>
  <dcterms:modified xsi:type="dcterms:W3CDTF">2025-12-30T21:43:46Z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{"Label":"ImmoPredictTN - Système IA de Prédiction des Prix Immobiliers en Tunisie","ContentProducer":"001191110108MACG2KBH8F10000","ProduceID":"19b6ee42-daa2-8ca4-8000-0000b61f79b6","ReservedCode1":"","ContentPropagator":"001191110108MACG2KBH8F20000","PropagateID":"19b6ee42-daa2-8ca4-8000-0000b61f79b6","ReservedCode2":""}</vt:lpwstr>
  </property>
</Properties>
</file>